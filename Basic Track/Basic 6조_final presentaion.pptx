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9986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44" y="-120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notesMaster" Target="notesMasters/notesMaster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1.xlsx"  /></Relationships>
</file>

<file path=ppt/charts/_rels/chart2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2.xlsx"  /></Relationships>
</file>

<file path=ppt/charts/_rels/chart3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3.xlsx"  /></Relationships>
</file>

<file path=ppt/charts/_rels/chart4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4.xlsx"  /></Relationships>
</file>

<file path=ppt/charts/_rels/chart5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5.xlsx"  /></Relationships>
</file>

<file path=ppt/charts/_rels/chart6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6.xlsx" 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RMSLE</c:v>
                </c:pt>
              </c:strCache>
            </c:strRef>
          </c:tx>
          <c:spPr>
            <a:ln w="38100" cap="flat">
              <a:solidFill>
                <a:srgbClr val="0F948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F9488"/>
              </a:solidFill>
              <a:ln w="9525" cap="flat">
                <a:solidFill>
                  <a:srgbClr val="0F9488"/>
                </a:solidFill>
                <a:prstDash val="solid"/>
                <a:round/>
              </a:ln>
              <a:effectLst/>
            </c:spPr>
          </c:marker>
          <c:dLbls>
            <c:numFmt formatCode="0.0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C2A38"/>
                    </a:solidFill>
                    <a:latin typeface="Noto Sans Mono CJK KR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HGBR tuning</c:v>
                </c:pt>
                <c:pt idx="2">
                  <c:v>Target Enc.</c:v>
                </c:pt>
                <c:pt idx="3">
                  <c:v>External</c:v>
                </c:pt>
                <c:pt idx="4">
                  <c:v>Ensemble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0.149919</c:v>
                </c:pt>
                <c:pt idx="1">
                  <c:v>0.14982799999999999</c:v>
                </c:pt>
                <c:pt idx="2">
                  <c:v>0.14776500000000001</c:v>
                </c:pt>
                <c:pt idx="3">
                  <c:v>0.14760699999999999</c:v>
                </c:pt>
                <c:pt idx="4">
                  <c:v>0.14752899999999999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72-4D45-BDDF-8BEDFEB46C4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A8B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5029999999999999"/>
          <c:min val="0.14699999999999999"/>
        </c:scaling>
        <c:delete val="0"/>
        <c:axPos val="l"/>
        <c:majorGridlines>
          <c:spPr>
            <a:ln w="6350" cap="flat">
              <a:solidFill>
                <a:srgbClr val="E8EEF1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67A8B"/>
                </a:solidFill>
                <a:latin typeface="Noto Sans Mono CJK KR"/>
              </a:defRPr>
            </a:pPr>
            <a:endParaRPr lang="en-US"/>
          </a:p>
        </c:txPr>
        <c:crossAx val="2094734554"/>
        <c:crosses val="autoZero"/>
        <c:crossBetween val="between"/>
        <c:majorUnit val="1E-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빈도</c:v>
                </c:pt>
              </c:strCache>
            </c:strRef>
          </c:tx>
          <c:spPr>
            <a:solidFill>
              <a:srgbClr val="0F9488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3-5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15+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7</c:v>
                </c:pt>
                <c:pt idx="2">
                  <c:v>12</c:v>
                </c:pt>
                <c:pt idx="3">
                  <c:v>19</c:v>
                </c:pt>
                <c:pt idx="4">
                  <c:v>22</c:v>
                </c:pt>
                <c:pt idx="5">
                  <c:v>18</c:v>
                </c:pt>
                <c:pt idx="6">
                  <c:v>12</c:v>
                </c:pt>
                <c:pt idx="7">
                  <c:v>7</c:v>
                </c:pt>
                <c:pt idx="8">
                  <c:v>5</c:v>
                </c:pt>
                <c:pt idx="9">
                  <c:v>3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D0-4930-B6A9-1C4D1BDF1D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67A8B"/>
                </a:solidFill>
                <a:latin typeface="Noto Sans Mono CJK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RMSLE mean</c:v>
                </c:pt>
              </c:strCache>
            </c:strRef>
          </c:tx>
          <c:spPr>
            <a:solidFill>
              <a:srgbClr val="0F9488"/>
            </a:solidFill>
            <a:effectLst/>
          </c:spPr>
          <c:invertIfNegative val="0"/>
          <c:dLbls>
            <c:numFmt formatCode="0.0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Noto Sans Mono CJK KR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HGBR + log</c:v>
                </c:pt>
                <c:pt idx="1">
                  <c:v>HGBR</c:v>
                </c:pt>
                <c:pt idx="2">
                  <c:v>RandomForest</c:v>
                </c:pt>
                <c:pt idx="3">
                  <c:v>Ridge + log</c:v>
                </c:pt>
                <c:pt idx="4">
                  <c:v>Ridge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0.14991699999999999</c:v>
                </c:pt>
                <c:pt idx="1">
                  <c:v>0.15062300000000001</c:v>
                </c:pt>
                <c:pt idx="2">
                  <c:v>0.15120900000000001</c:v>
                </c:pt>
                <c:pt idx="3">
                  <c:v>0.15851699999999999</c:v>
                </c:pt>
                <c:pt idx="4">
                  <c:v>0.15998999999999999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80-4EBE-8737-C1239FE15AF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C2A38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6300000000000001"/>
          <c:min val="0.14499999999999999"/>
        </c:scaling>
        <c:delete val="0"/>
        <c:axPos val="b"/>
        <c:majorGridlines>
          <c:spPr>
            <a:ln w="6350" cap="flat">
              <a:solidFill>
                <a:srgbClr val="E8EEF1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7A8B"/>
                </a:solidFill>
                <a:latin typeface="Noto Sans Mono CJK KR"/>
              </a:defRPr>
            </a:pPr>
            <a:endParaRPr lang="en-US"/>
          </a:p>
        </c:txPr>
        <c:crossAx val="2094734554"/>
        <c:crosses val="autoZero"/>
        <c:crossBetween val="between"/>
        <c:majorUnit val="5.0000000000000001E-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RMSLE mean</c:v>
                </c:pt>
              </c:strCache>
            </c:strRef>
          </c:tx>
          <c:spPr>
            <a:solidFill>
              <a:srgbClr val="0F9488"/>
            </a:solidFill>
            <a:effectLst/>
          </c:spPr>
          <c:invertIfNegative val="0"/>
          <c:dLbls>
            <c:numFmt formatCode="0.0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Noto Sans Mono CJK KR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leaf45_clip</c:v>
                </c:pt>
                <c:pt idx="1">
                  <c:v>leaf45</c:v>
                </c:pt>
                <c:pt idx="2">
                  <c:v>v1_baseline</c:v>
                </c:pt>
                <c:pt idx="3">
                  <c:v>lr0035_iter650</c:v>
                </c:pt>
                <c:pt idx="4">
                  <c:v>clip_005_995</c:v>
                </c:pt>
                <c:pt idx="5">
                  <c:v>v2_baseline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0.14982599999999999</c:v>
                </c:pt>
                <c:pt idx="1">
                  <c:v>0.14987500000000001</c:v>
                </c:pt>
                <c:pt idx="2">
                  <c:v>0.14991699999999999</c:v>
                </c:pt>
                <c:pt idx="3">
                  <c:v>0.149947</c:v>
                </c:pt>
                <c:pt idx="4">
                  <c:v>0.14998700000000001</c:v>
                </c:pt>
                <c:pt idx="5">
                  <c:v>0.150008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AB-4A56-AD06-FD99AF91F73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C2A38"/>
                </a:solidFill>
                <a:latin typeface="Noto Sans Mono CJK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502"/>
          <c:min val="0.14960000000000001"/>
        </c:scaling>
        <c:delete val="0"/>
        <c:axPos val="b"/>
        <c:majorGridlines>
          <c:spPr>
            <a:ln w="6350" cap="flat">
              <a:solidFill>
                <a:srgbClr val="E8EEF1"/>
              </a:solidFill>
              <a:prstDash val="solid"/>
              <a:round/>
            </a:ln>
          </c:spPr>
        </c:majorGridlines>
        <c:numFmt formatCode="0.00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67A8B"/>
                </a:solidFill>
                <a:latin typeface="Noto Sans Mono CJK KR"/>
              </a:defRPr>
            </a:pPr>
            <a:endParaRPr lang="en-US"/>
          </a:p>
        </c:txPr>
        <c:crossAx val="2094734554"/>
        <c:crosses val="autoZero"/>
        <c:crossBetween val="between"/>
        <c:majorUnit val="2.0000000000000001E-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RMSLE</c:v>
                </c:pt>
              </c:strCache>
            </c:strRef>
          </c:tx>
          <c:spPr>
            <a:solidFill>
              <a:srgbClr val="0F9488"/>
            </a:solidFill>
            <a:effectLst/>
          </c:spPr>
          <c:invertIfNegative val="0"/>
          <c:dLbls>
            <c:numFmt formatCode="0.0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C2A38"/>
                    </a:solidFill>
                    <a:latin typeface="Noto Sans Mono CJK K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LGBM</c:v>
                </c:pt>
                <c:pt idx="1">
                  <c:v>XGBoost</c:v>
                </c:pt>
                <c:pt idx="2">
                  <c:v>CatBoost</c:v>
                </c:pt>
                <c:pt idx="3">
                  <c:v>equal_linear</c:v>
                </c:pt>
                <c:pt idx="4">
                  <c:v>equal_log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0.14760699999999999</c:v>
                </c:pt>
                <c:pt idx="1">
                  <c:v>0.14790300000000001</c:v>
                </c:pt>
                <c:pt idx="2">
                  <c:v>0.14777299999999999</c:v>
                </c:pt>
                <c:pt idx="3">
                  <c:v>0.14752899999999999</c:v>
                </c:pt>
                <c:pt idx="4">
                  <c:v>0.14752999999999999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BE-4508-9836-EE1A45E561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C2A38"/>
                </a:solidFill>
                <a:latin typeface="Noto Sans Mono CJK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4810000000000001"/>
          <c:min val="0.14729999999999999"/>
        </c:scaling>
        <c:delete val="0"/>
        <c:axPos val="l"/>
        <c:majorGridlines>
          <c:spPr>
            <a:ln w="6350" cap="flat">
              <a:solidFill>
                <a:srgbClr val="E8EEF1"/>
              </a:solidFill>
              <a:prstDash val="solid"/>
              <a:round/>
            </a:ln>
          </c:spPr>
        </c:majorGridlines>
        <c:numFmt formatCode="0.0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67A8B"/>
                </a:solidFill>
                <a:latin typeface="Noto Sans Mono CJK KR"/>
              </a:defRPr>
            </a:pPr>
            <a:endParaRPr lang="en-US"/>
          </a:p>
        </c:txPr>
        <c:crossAx val="2094734554"/>
        <c:crosses val="autoZero"/>
        <c:crossBetween val="between"/>
        <c:majorUnit val="2.0000000000000001E-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RMSLE</c:v>
                </c:pt>
              </c:strCache>
            </c:strRef>
          </c:tx>
          <c:spPr>
            <a:ln w="44450" cap="flat">
              <a:solidFill>
                <a:srgbClr val="0F9488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0F9488"/>
              </a:solidFill>
              <a:ln w="9525" cap="flat">
                <a:solidFill>
                  <a:srgbClr val="0F9488"/>
                </a:solidFill>
                <a:prstDash val="solid"/>
                <a:round/>
              </a:ln>
              <a:effectLst/>
            </c:spPr>
          </c:marker>
          <c:dLbls>
            <c:numFmt formatCode="0.0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C2A38"/>
                    </a:solidFill>
                    <a:latin typeface="Noto Sans Mono CJK KR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HGBR tuning</c:v>
                </c:pt>
                <c:pt idx="2">
                  <c:v>Target Encoding</c:v>
                </c:pt>
                <c:pt idx="3">
                  <c:v>External Data</c:v>
                </c:pt>
                <c:pt idx="4">
                  <c:v>Ensemble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0.149919</c:v>
                </c:pt>
                <c:pt idx="1">
                  <c:v>0.14982799999999999</c:v>
                </c:pt>
                <c:pt idx="2">
                  <c:v>0.14776500000000001</c:v>
                </c:pt>
                <c:pt idx="3">
                  <c:v>0.14760699999999999</c:v>
                </c:pt>
                <c:pt idx="4">
                  <c:v>0.14752899999999999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56-4018-9833-4B532F80EAD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C2A38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5029999999999999"/>
          <c:min val="0.14699999999999999"/>
        </c:scaling>
        <c:delete val="0"/>
        <c:axPos val="l"/>
        <c:majorGridlines>
          <c:spPr>
            <a:ln w="6350" cap="flat">
              <a:solidFill>
                <a:srgbClr val="E8EEF1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67A8B"/>
                </a:solidFill>
                <a:latin typeface="Noto Sans Mono CJK KR"/>
              </a:defRPr>
            </a:pPr>
            <a:endParaRPr lang="en-US"/>
          </a:p>
        </c:txPr>
        <c:crossAx val="2094734554"/>
        <c:crosses val="autoZero"/>
        <c:crossBetween val="between"/>
        <c:majorUnit val="1E-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0869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chart" Target="../charts/char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chart" Target="../charts/char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chart" Target="../charts/chart3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chart" Target="../charts/chart4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chart" Target="../charts/chart5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chart" Target="../charts/chart6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4210812"/>
            <a:ext cx="365760" cy="365760"/>
          </a:xfrm>
          <a:prstGeom prst="rect">
            <a:avLst/>
          </a:prstGeom>
          <a:solidFill>
            <a:srgbClr val="16344C"/>
          </a:solidFill>
          <a:ln w="12700">
            <a:solidFill>
              <a:srgbClr val="1634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556248" y="3881628"/>
            <a:ext cx="365760" cy="694944"/>
          </a:xfrm>
          <a:prstGeom prst="rect">
            <a:avLst/>
          </a:prstGeom>
          <a:solidFill>
            <a:srgbClr val="16344C"/>
          </a:solidFill>
          <a:ln w="12700">
            <a:solidFill>
              <a:srgbClr val="1634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123176" y="3552444"/>
            <a:ext cx="365760" cy="1024128"/>
          </a:xfrm>
          <a:prstGeom prst="rect">
            <a:avLst/>
          </a:prstGeom>
          <a:solidFill>
            <a:srgbClr val="0F9488"/>
          </a:solidFill>
          <a:ln w="12700">
            <a:solidFill>
              <a:srgbClr val="1634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90104" y="3223260"/>
            <a:ext cx="365760" cy="1353312"/>
          </a:xfrm>
          <a:prstGeom prst="rect">
            <a:avLst/>
          </a:prstGeom>
          <a:solidFill>
            <a:srgbClr val="0F9488"/>
          </a:solidFill>
          <a:ln w="12700">
            <a:solidFill>
              <a:srgbClr val="1634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57032" y="2894076"/>
            <a:ext cx="365760" cy="1682496"/>
          </a:xfrm>
          <a:prstGeom prst="rect">
            <a:avLst/>
          </a:prstGeom>
          <a:solidFill>
            <a:srgbClr val="0F9488"/>
          </a:solidFill>
          <a:ln w="12700">
            <a:solidFill>
              <a:srgbClr val="1634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502920" cy="118872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2252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KAGGLE PLAYGROUND SERIES S4E4  ·  최종 발표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" y="157276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EC4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RMSLE 최적화와 최종 제출 후보 정리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4160520" cy="676656"/>
          </a:xfrm>
          <a:prstGeom prst="rect">
            <a:avLst/>
          </a:prstGeom>
          <a:solidFill>
            <a:srgbClr val="16344C"/>
          </a:solidFill>
          <a:ln w="12700">
            <a:solidFill>
              <a:srgbClr val="0B6F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6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OOF RMSLE  </a:t>
            </a:r>
            <a:r>
              <a:rPr lang="en-US" sz="1400" dirty="0">
                <a:solidFill>
                  <a:srgbClr val="8FA6B4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0.149828</a:t>
            </a:r>
            <a:r>
              <a:rPr lang="en-US" sz="1200" b="1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→  </a:t>
            </a:r>
            <a:r>
              <a:rPr lang="en-US" sz="1700" b="1" dirty="0">
                <a:solidFill>
                  <a:srgbClr val="63E0C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0.147529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418" y="4234053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e8698"/>
                </a:solidFill>
                <a:latin typeface="Noto Sans Mono CJK KR"/>
                <a:ea typeface="Noto Sans Mono CJK KR"/>
                <a:cs typeface="Noto Sans Mono CJK KR"/>
              </a:rPr>
              <a:t>[</a:t>
            </a:r>
            <a:r>
              <a:rPr lang="ko-KR" altLang="en-US" sz="1050">
                <a:solidFill>
                  <a:srgbClr val="6e8698"/>
                </a:solidFill>
                <a:latin typeface="Noto Sans Mono CJK KR"/>
                <a:ea typeface="Noto Sans Mono CJK KR"/>
                <a:cs typeface="Noto Sans Mono CJK KR"/>
              </a:rPr>
              <a:t>발표자 </a:t>
            </a:r>
            <a:r>
              <a:rPr lang="en-US" altLang="ko-KR" sz="1050">
                <a:solidFill>
                  <a:srgbClr val="6e8698"/>
                </a:solidFill>
                <a:latin typeface="Noto Sans Mono CJK KR"/>
                <a:ea typeface="Noto Sans Mono CJK KR"/>
                <a:cs typeface="Noto Sans Mono CJK KR"/>
              </a:rPr>
              <a:t>:</a:t>
            </a:r>
            <a:r>
              <a:rPr lang="ko-KR" altLang="en-US" sz="1050">
                <a:solidFill>
                  <a:srgbClr val="6e8698"/>
                </a:solidFill>
                <a:latin typeface="Noto Sans Mono CJK KR"/>
                <a:ea typeface="Noto Sans Mono CJK KR"/>
                <a:cs typeface="Noto Sans Mono CJK KR"/>
              </a:rPr>
              <a:t> 정효림</a:t>
            </a:r>
            <a:r>
              <a:rPr lang="en-US" sz="1050">
                <a:solidFill>
                  <a:srgbClr val="6e8698"/>
                </a:solidFill>
                <a:latin typeface="Noto Sans Mono CJK KR"/>
                <a:ea typeface="Noto Sans Mono CJK KR"/>
                <a:cs typeface="Noto Sans Mono CJK KR"/>
              </a:rPr>
              <a:t>]   ·   [</a:t>
            </a:r>
            <a:r>
              <a:rPr lang="en-US" altLang="ko-KR" sz="1050">
                <a:solidFill>
                  <a:srgbClr val="6e8698"/>
                </a:solidFill>
                <a:latin typeface="Noto Sans Mono CJK KR"/>
                <a:ea typeface="Noto Sans Mono CJK KR"/>
                <a:cs typeface="Noto Sans Mono CJK KR"/>
              </a:rPr>
              <a:t>Basic Track 6</a:t>
            </a:r>
            <a:r>
              <a:rPr lang="ko-KR" altLang="en-US" sz="1050">
                <a:solidFill>
                  <a:srgbClr val="6e8698"/>
                </a:solidFill>
                <a:latin typeface="Noto Sans Mono CJK KR"/>
                <a:ea typeface="Noto Sans Mono CJK KR"/>
                <a:cs typeface="Noto Sans Mono CJK KR"/>
              </a:rPr>
              <a:t>조</a:t>
            </a:r>
            <a:r>
              <a:rPr lang="en-US" sz="1050">
                <a:solidFill>
                  <a:srgbClr val="6e8698"/>
                </a:solidFill>
                <a:latin typeface="Noto Sans Mono CJK KR"/>
                <a:ea typeface="Noto Sans Mono CJK KR"/>
                <a:cs typeface="Noto Sans Mono CJK KR"/>
              </a:rPr>
              <a:t>]</a:t>
            </a:r>
            <a:r>
              <a:rPr lang="ko-KR" altLang="en-US" sz="1050">
                <a:solidFill>
                  <a:srgbClr val="6e8698"/>
                </a:solidFill>
                <a:latin typeface="Noto Sans Mono CJK KR"/>
                <a:ea typeface="Noto Sans Mono CJK KR"/>
                <a:cs typeface="Noto Sans Mono CJK KR"/>
              </a:rPr>
              <a:t> </a:t>
            </a:r>
            <a:endParaRPr lang="ko-KR" altLang="en-US" sz="1050">
              <a:solidFill>
                <a:srgbClr val="6e8698"/>
              </a:solidFill>
              <a:latin typeface="Noto Sans Mono CJK KR"/>
              <a:ea typeface="Noto Sans Mono CJK KR"/>
              <a:cs typeface="Noto Sans Mono CJK KR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E76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768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01 / 15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결과 한눈에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HGBR 한계를 넘어 OOF 0.147대로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703320" cy="2148840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OOF RMSLE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1828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0.147529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731520" y="2761488"/>
            <a:ext cx="3246120" cy="0"/>
          </a:xfrm>
          <a:prstGeom prst="rect">
            <a:avLst/>
          </a:prstGeom>
          <a:noFill/>
          <a:ln w="12700">
            <a:solidFill>
              <a:srgbClr val="1634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28529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A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후보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054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submission_v5_boosting_ensemble.csv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3730752"/>
            <a:ext cx="1161288" cy="914400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3803904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HGBR best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4360" y="40050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0.149828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33425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튜닝만으로는 한계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755648" y="3730752"/>
            <a:ext cx="1161288" cy="914400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47088" y="3803904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큰 개선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847088" y="40050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Encoding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47088" y="433425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전환점이 된 구간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008376" y="3730752"/>
            <a:ext cx="1161288" cy="914400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099816" y="3803904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Kaggle score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099816" y="40050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400" b="1">
                <a:solidFill>
                  <a:srgbClr val="0b6f66"/>
                </a:solidFill>
                <a:latin typeface="Noto Sans CJK KR"/>
                <a:ea typeface="Noto Sans CJK KR"/>
                <a:cs typeface="Noto Sans CJK KR"/>
              </a:rPr>
              <a:t>330</a:t>
            </a:r>
            <a:endParaRPr lang="en-US" altLang="ko-KR" sz="1400" b="1">
              <a:solidFill>
                <a:srgbClr val="0b6f66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099816" y="433425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현재는 OOF 기준 평가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2628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 개선 흐름  ·  OOF RMSLE</a:t>
            </a:r>
            <a:endParaRPr lang="en-US" sz="10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297680" y="1627632"/>
          <a:ext cx="45262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 22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02 / 15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 · 평가지표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RMSLE에 맞춘 학습 전제 고정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91440" cy="457200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78308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Kaggle Playground S4E4 — Abalone Rings 회귀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91440" cy="457200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3232" y="20848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783080" y="20848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크기 · 무게 피처 + </a:t>
            </a:r>
            <a:r>
              <a:rPr lang="en-US" sz="1100" dirty="0" err="1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범주형</a:t>
            </a:r>
            <a:r>
              <a:rPr lang="en-US" sz="11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11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88336"/>
            <a:ext cx="91440" cy="457200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13232" y="26883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타깃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83080" y="26883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Rings   (Age = Rings + 1.5)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91440" cy="457200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13232" y="3291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평가지표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8308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RMSLE — 비율 오차에 민감한 지표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986784"/>
            <a:ext cx="4480560" cy="713232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6656" y="4078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원칙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6656" y="427939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E0C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log1p(Rings)</a:t>
            </a:r>
            <a:r>
              <a:rPr lang="en-US" sz="950" dirty="0">
                <a:solidFill>
                  <a:srgbClr val="B9C9D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학습  ·  </a:t>
            </a:r>
            <a:r>
              <a:rPr lang="en-US" sz="950" dirty="0">
                <a:solidFill>
                  <a:srgbClr val="63E0C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expm1</a:t>
            </a:r>
            <a:r>
              <a:rPr lang="en-US" sz="950" dirty="0">
                <a:solidFill>
                  <a:srgbClr val="B9C9D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복원  ·  </a:t>
            </a:r>
            <a:r>
              <a:rPr lang="en-US" sz="950" dirty="0">
                <a:solidFill>
                  <a:srgbClr val="63E0C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np.clip(pred, 0, None)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RMSLE 민감도 — 같은 오차 2, 다른 페널티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1755648"/>
            <a:ext cx="3520440" cy="914400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212080" y="1755648"/>
            <a:ext cx="91440" cy="914400"/>
          </a:xfrm>
          <a:prstGeom prst="rect">
            <a:avLst/>
          </a:prstGeom>
          <a:solidFill>
            <a:srgbClr val="E89C36"/>
          </a:solidFill>
          <a:ln w="12700">
            <a:solidFill>
              <a:srgbClr val="E89C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13248" y="1865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실제값 2  /  예측값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13248" y="2139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C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큰 RMSLE 페널티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13248" y="23774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실제값 구간 — 비율 오차가 큼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12080" y="2834640"/>
            <a:ext cx="3520440" cy="914400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212080" y="2834640"/>
            <a:ext cx="91440" cy="914400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13248" y="2944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실제값 20  /  예측값 22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13248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RMSLE 페널티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13248" y="34564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큰 실제값 구간 — 비율 오차가 작음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12080" y="40233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 log target 학습과 음수 clipping이 모든 모델의 기본 전제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03 / 15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· 프로젝트 구조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재현 가능한 디렉토리 흐름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261872" y="1716786"/>
            <a:ext cx="151790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61872" y="1716786"/>
            <a:ext cx="1517904" cy="91440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53312" y="191795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data/raw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35024" y="226542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Kaggle CSV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35024" y="270433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보존, 미수정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88920" y="2425446"/>
            <a:ext cx="146304" cy="0"/>
          </a:xfrm>
          <a:prstGeom prst="line">
            <a:avLst/>
          </a:prstGeom>
          <a:noFill/>
          <a:ln w="22225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944368" y="1716786"/>
            <a:ext cx="151790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944368" y="1716786"/>
            <a:ext cx="1517904" cy="91440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35808" y="191795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notebooks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26542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01_eda → 08_ensemble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17520" y="270433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 단위로 분리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471416" y="2425446"/>
            <a:ext cx="146304" cy="0"/>
          </a:xfrm>
          <a:prstGeom prst="line">
            <a:avLst/>
          </a:prstGeom>
          <a:noFill/>
          <a:ln w="22225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26864" y="1716786"/>
            <a:ext cx="151790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26864" y="1716786"/>
            <a:ext cx="1517904" cy="91440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18304" y="191795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data/proceed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0016" y="226542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v1 / v2 feature set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00016" y="270433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OOF · test prediction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53912" y="2425446"/>
            <a:ext cx="146304" cy="0"/>
          </a:xfrm>
          <a:prstGeom prst="line">
            <a:avLst/>
          </a:prstGeom>
          <a:noFill/>
          <a:ln w="22225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309360" y="1716786"/>
            <a:ext cx="151790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309360" y="1716786"/>
            <a:ext cx="1517904" cy="91440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0" y="191795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submissions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82512" y="226542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후보 CSV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82512" y="270433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v2 ~ v5 후보 관리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02920" y="3611880"/>
            <a:ext cx="8138160" cy="1005840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77240" y="3858768"/>
            <a:ext cx="182880" cy="1828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69848" y="3776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불변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69848" y="40507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데이터는 수정하지 않음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74720" y="3858768"/>
            <a:ext cx="182880" cy="1828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767328" y="3776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 산출물 재사용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767328" y="40507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feature / prediction은 proceed에 적재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72200" y="3858768"/>
            <a:ext cx="182880" cy="1828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464808" y="3776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코드·제출·문서 분리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64808" y="40507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추적과 재현성 확보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04 / 15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탐색적 데이터 분석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EDA가 만든 모델링 가설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Rings 분포 — 오른쪽 꼬리를 가진 count형 타깃</a:t>
            </a:r>
            <a:endParaRPr lang="en-US" sz="9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664208"/>
          <a:ext cx="4434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069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EDA는 log target · ratio feature · target encoding 후보를 만들었다.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0" y="1371600"/>
            <a:ext cx="3657600" cy="3246120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30368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모델링으로 이어진 관찰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30368" y="1883664"/>
            <a:ext cx="274320" cy="274320"/>
          </a:xfrm>
          <a:prstGeom prst="rect">
            <a:avLst/>
          </a:prstGeom>
          <a:solidFill>
            <a:srgbClr val="0F94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50992" y="18470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결측치 · 중복 없음 → 정제 비용 낮음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30368" y="2409444"/>
            <a:ext cx="274320" cy="274320"/>
          </a:xfrm>
          <a:prstGeom prst="rect">
            <a:avLst/>
          </a:prstGeom>
          <a:solidFill>
            <a:srgbClr val="0F94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50992" y="23728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Rings는 오른쪽 꼬리 → log target 학습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230368" y="2935224"/>
            <a:ext cx="274320" cy="274320"/>
          </a:xfrm>
          <a:prstGeom prst="rect">
            <a:avLst/>
          </a:prstGeom>
          <a:solidFill>
            <a:srgbClr val="0F94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50992" y="28986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Shell_weight · Height · Diameter 등 강한 신호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230368" y="3461004"/>
            <a:ext cx="274320" cy="274320"/>
          </a:xfrm>
          <a:prstGeom prst="rect">
            <a:avLst/>
          </a:prstGeom>
          <a:solidFill>
            <a:srgbClr val="0F94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50992" y="34244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Sex별 분포 차이 → one-hot + target encoding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230368" y="3986784"/>
            <a:ext cx="274320" cy="274320"/>
          </a:xfrm>
          <a:prstGeom prst="rect">
            <a:avLst/>
          </a:prstGeom>
          <a:solidFill>
            <a:srgbClr val="0F948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50992" y="39502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train/test drift 작음, 모델 선택엔 test 미사용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05 / 15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설계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개선을 해석 가능하게 만드는 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5-fold StratifiedKFold  (Rings quantile bin 기준)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383280" cy="384048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676656" cy="384048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931920" y="1691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Fold 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185416"/>
            <a:ext cx="3383280" cy="384048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79576" y="2185416"/>
            <a:ext cx="676656" cy="384048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931920" y="218541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Fold 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2679192"/>
            <a:ext cx="3383280" cy="384048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856232" y="2679192"/>
            <a:ext cx="676656" cy="384048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931920" y="26791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Fold 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3172968"/>
            <a:ext cx="3383280" cy="384048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532888" y="3172968"/>
            <a:ext cx="676656" cy="384048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931920" y="31729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Fold 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3666744"/>
            <a:ext cx="3383280" cy="384048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209544" y="3666744"/>
            <a:ext cx="676656" cy="384048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931920" y="36667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Fold 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4178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train split</a:t>
            </a:r>
            <a:r>
              <a:rPr lang="en-US" sz="800" dirty="0">
                <a:solidFill>
                  <a:srgbClr val="000000"/>
                </a:solidFill>
              </a:rPr>
              <a:t>      </a:t>
            </a:r>
            <a:r>
              <a:rPr lang="en-US" sz="80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■ validation split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0" y="1691640"/>
            <a:ext cx="3657600" cy="1243584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21208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E0C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test 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3D2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선택에 미사용 — drift 확인과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3D2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예측에만 사용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3127248"/>
            <a:ext cx="91440" cy="42062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230368" y="312724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선택 기준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31272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CV RMSLE mean / std + OOF RMSLE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0" y="3666744"/>
            <a:ext cx="91440" cy="42062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230368" y="3666744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fold 내부 통계만 적용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36667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validation에는 train 통계를 적용만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0" y="4206240"/>
            <a:ext cx="91440" cy="42062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230368" y="4206240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encoding 분리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42062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누수 위험 → 별도 OOF-safe 구현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06 / 15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 파이프라인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01부터 08까지, 질문 단위의 노트북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30936" y="16642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" y="206654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eda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30936" y="23774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데이터·metric 이해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32304" y="2157984"/>
            <a:ext cx="146304" cy="0"/>
          </a:xfrm>
          <a:prstGeom prst="line">
            <a:avLst/>
          </a:prstGeom>
          <a:noFill/>
          <a:ln w="2032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587752" y="1554480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15768" y="16642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15768" y="206654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feature_engineering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15768" y="23774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v1 feature dataset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17136" y="2157984"/>
            <a:ext cx="146304" cy="0"/>
          </a:xfrm>
          <a:prstGeom prst="line">
            <a:avLst/>
          </a:prstGeom>
          <a:noFill/>
          <a:ln w="2032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72584" y="1554480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00600" y="16642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00600" y="206654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baseline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23774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기준선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01968" y="2157984"/>
            <a:ext cx="146304" cy="0"/>
          </a:xfrm>
          <a:prstGeom prst="line">
            <a:avLst/>
          </a:prstGeom>
          <a:noFill/>
          <a:ln w="2032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757416" y="1554480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85432" y="16642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85432" y="206654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modeling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85432" y="23774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HGBR 후보 탐색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3072384"/>
            <a:ext cx="1920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30936" y="31821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0936" y="35844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submission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0936" y="389534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검증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32304" y="3675888"/>
            <a:ext cx="146304" cy="0"/>
          </a:xfrm>
          <a:prstGeom prst="line">
            <a:avLst/>
          </a:prstGeom>
          <a:noFill/>
          <a:ln w="2032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587752" y="3072384"/>
            <a:ext cx="1920240" cy="1207008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715768" y="31821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715768" y="35844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target_encoding_lgbm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15768" y="389534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C2C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전환점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17136" y="3675888"/>
            <a:ext cx="146304" cy="0"/>
          </a:xfrm>
          <a:prstGeom prst="line">
            <a:avLst/>
          </a:prstGeom>
          <a:noFill/>
          <a:ln w="2032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672584" y="3072384"/>
            <a:ext cx="1920240" cy="1207008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00600" y="31821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00600" y="35844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external_data_lgbm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00600" y="389534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C2C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UCI 외부 데이터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601968" y="3675888"/>
            <a:ext cx="146304" cy="0"/>
          </a:xfrm>
          <a:prstGeom prst="line">
            <a:avLst/>
          </a:prstGeom>
          <a:noFill/>
          <a:ln w="2032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757416" y="3072384"/>
            <a:ext cx="1920240" cy="1207008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885432" y="31821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85432" y="35844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boosting_ensemble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85432" y="389534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C2C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후보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948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01–05  </a:t>
            </a:r>
            <a:r>
              <a:rPr lang="en-US" sz="9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파이프라인</a:t>
            </a:r>
            <a:r>
              <a:rPr lang="en-US" sz="900" b="1" dirty="0">
                <a:solidFill>
                  <a:srgbClr val="0E2233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        06–08  </a:t>
            </a:r>
            <a:r>
              <a:rPr lang="en-US" sz="9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성능 개선 라인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07 / 15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출발점: 같은 fold, 같은 RMSLE로 비교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CV RMSLE mean  ·  6개 모델 비교 (Dummy median 제외)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691640"/>
          <a:ext cx="5166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463040"/>
            <a:ext cx="2926080" cy="1554480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0" y="15910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best baseline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0" y="18105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HistGradientBoosting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log target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0" y="2487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6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OOF RMSLE   </a:t>
            </a:r>
            <a:r>
              <a:rPr lang="en-US" sz="1300" b="1" dirty="0">
                <a:solidFill>
                  <a:srgbClr val="63E0C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0.149919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3200400"/>
            <a:ext cx="2926080" cy="475488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07024" y="3200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CV RMSLE mean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0" y="32004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6F6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0.149917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3767328"/>
            <a:ext cx="2926080" cy="475488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907024" y="37673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CV RMSLE std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0" y="376732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6F6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0.000889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4407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이후 모든 개선의 기준선이 되는 값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08 / 15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HGBR 튜닝의 한계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feature·tuning 개선폭은 약 0.0001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HGBR modeling 후보  ·  CV RMSLE mean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691640"/>
          <a:ext cx="5212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481328"/>
            <a:ext cx="2880360" cy="502920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0" y="14813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6F6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v1 feature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0" y="150876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17개 피처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5806440" y="2084832"/>
            <a:ext cx="2880360" cy="502920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943600" y="20848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6F6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v2 feature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858000" y="211226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39개 — shape ratio · log 피처 추가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5806440" y="2779776"/>
            <a:ext cx="2880360" cy="914400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961888" y="28895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E0C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best  ·  v2_hgb_log_leaf45_clip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961888" y="31272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6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OOF RMSLE  </a:t>
            </a:r>
            <a:r>
              <a:rPr lang="en-US" sz="150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0.149828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61888" y="34747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9C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 대비 개선폭 ≈ 0.0001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806440" y="3840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CV std ≈ 0.0009 — 이 방향만으로는 큰 전환이 어렵다고 판단,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Encoding으로 방향 전환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09 / 15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63E0CF"/>
          </a:solidFill>
          <a:ln w="12700">
            <a:solidFill>
              <a:srgbClr val="63E0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86968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전환점  ·  가장 큰 성능 개선 구간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Encoding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105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2C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v2_hgb_log_leaf45_clip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2029968"/>
            <a:ext cx="3167355" cy="347472"/>
          </a:xfrm>
          <a:prstGeom prst="rect">
            <a:avLst/>
          </a:prstGeom>
          <a:solidFill>
            <a:srgbClr val="16344C"/>
          </a:solidFill>
          <a:ln w="12700">
            <a:solidFill>
              <a:srgbClr val="1634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036035" y="2029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B4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0.149828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151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2C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v2_lgbm_log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2500537" cy="347472"/>
          </a:xfrm>
          <a:prstGeom prst="rect">
            <a:avLst/>
          </a:prstGeom>
          <a:solidFill>
            <a:srgbClr val="0B6F66"/>
          </a:solidFill>
          <a:ln w="12700">
            <a:solidFill>
              <a:srgbClr val="0B6F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369217" y="2834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B4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0.149206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4198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2C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v2_te_lgbm_log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3639312"/>
            <a:ext cx="955706" cy="347472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824386" y="36393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E0C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0.147765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986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target encoding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0" y="1737360"/>
            <a:ext cx="3154680" cy="2788920"/>
          </a:xfrm>
          <a:prstGeom prst="rect">
            <a:avLst/>
          </a:prstGeom>
          <a:solidFill>
            <a:srgbClr val="16344C"/>
          </a:solidFill>
          <a:ln w="12700">
            <a:solidFill>
              <a:srgbClr val="0B6F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687568" y="1865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추가된 target encoding 피처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52160" y="2157984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D5E2E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·  Sweight_avg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D5E2E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·  Height_avg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D5E2E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·  Weight_avg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D5E2E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·  Viscera_weight_avg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D5E2E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·  Sex_avg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87568" y="3456432"/>
            <a:ext cx="2743200" cy="0"/>
          </a:xfrm>
          <a:prstGeom prst="line">
            <a:avLst/>
          </a:prstGeom>
          <a:noFill/>
          <a:ln w="12700">
            <a:solidFill>
              <a:srgbClr val="0B6F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687568" y="35295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6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LGBM + log target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87568" y="37307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0.147765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687568" y="42245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C3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HGBR best 대비  −0.002063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E76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768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10 / 15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누수 방지 설계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Fold-safe Target Encoding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/ 검증 경로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2286000" cy="749808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12648" y="175564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fold train split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2648" y="20116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mapping 학습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834640" y="2039112"/>
            <a:ext cx="502920" cy="0"/>
          </a:xfrm>
          <a:prstGeom prst="line">
            <a:avLst/>
          </a:prstGeom>
          <a:noFill/>
          <a:ln w="2540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383280" y="1664208"/>
            <a:ext cx="2286000" cy="749808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93008" y="175564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mapping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93008" y="20116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3D2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통계 산출물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715000" y="2039112"/>
            <a:ext cx="502920" cy="0"/>
          </a:xfrm>
          <a:prstGeom prst="line">
            <a:avLst/>
          </a:prstGeom>
          <a:noFill/>
          <a:ln w="2540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63640" y="1664208"/>
            <a:ext cx="2377440" cy="749808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73368" y="175564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validation split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73368" y="20116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mapping 적용만 수행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452360" y="2414016"/>
            <a:ext cx="0" cy="50292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26280" y="2962656"/>
            <a:ext cx="29260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383280" y="30358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✕  validation split → mapping 학습 경로는 금지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456432"/>
            <a:ext cx="8138160" cy="713232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6656" y="345643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예측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83080" y="3456432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train으로 mapping refit</a:t>
            </a:r>
            <a:r>
              <a:rPr lang="en-US" sz="900" b="1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→   </a:t>
            </a:r>
            <a:r>
              <a:rPr lang="en-US" sz="9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test에 적용</a:t>
            </a:r>
            <a:r>
              <a:rPr lang="en-US" sz="900" dirty="0">
                <a:solidFill>
                  <a:srgbClr val="9FB6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·   미매칭 값은 fallback mean 처리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27939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B6F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 fold train split만으로 mapping을 만들어 validation target 정보가 통계에 섞이지 않게 분리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11 / 15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데이터 결합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UCI Abalone 원본으로 학습 보강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331720" cy="841248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fold train split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Kaggle 학습 데이터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2331720" cy="841248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UCI external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3D2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Abalone 4,177건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3D2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v2 feature schema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880360" y="1975104"/>
            <a:ext cx="640080" cy="416052"/>
          </a:xfrm>
          <a:prstGeom prst="line">
            <a:avLst/>
          </a:prstGeom>
          <a:noFill/>
          <a:ln w="2540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 flipV="1">
            <a:off x="2880360" y="2542032"/>
            <a:ext cx="640080" cy="420624"/>
          </a:xfrm>
          <a:prstGeom prst="line">
            <a:avLst/>
          </a:prstGeom>
          <a:noFill/>
          <a:ln w="25400">
            <a:solidFill>
              <a:srgbClr val="0F948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11880" y="2011680"/>
            <a:ext cx="2194560" cy="914400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749040" y="2157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combined train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450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DF2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fold train + 외부 데이터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355080" y="2011680"/>
            <a:ext cx="2286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9C36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92240" y="21579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validation split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450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Kaggle fold </a:t>
            </a:r>
            <a:r>
              <a:rPr lang="en-US" sz="800" dirty="0" err="1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validation으로만</a:t>
            </a: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점수 계산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06440" y="2468880"/>
            <a:ext cx="502920" cy="0"/>
          </a:xfrm>
          <a:prstGeom prst="line">
            <a:avLst/>
          </a:prstGeom>
          <a:noFill/>
          <a:ln w="22225">
            <a:solidFill>
              <a:srgbClr val="E89C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40580" y="2962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9C3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데이터 미결합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611880"/>
            <a:ext cx="8138160" cy="960120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OOF RMSLE  </a:t>
            </a:r>
            <a:r>
              <a:rPr lang="en-US" sz="1900" b="1" dirty="0">
                <a:solidFill>
                  <a:srgbClr val="0B6F6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0.147607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840480"/>
            <a:ext cx="0" cy="50292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474720" y="36118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데이터는 fold train에만 추가 — 개선폭 ≈ 0.00016, </a:t>
            </a:r>
            <a:r>
              <a:rPr lang="en-US" sz="900" dirty="0" err="1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작지만</a:t>
            </a:r>
            <a:r>
              <a:rPr lang="en-US" sz="9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00" dirty="0" err="1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r>
              <a:rPr lang="en-US" sz="900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보강 효과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12 / 15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BOOSTING ENSEMBLE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모델보다 낮은 OOF를 만든 단순 평균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모델 vs 1:1:1 앙상블  ·  OOF RMSLE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691640"/>
          <a:ext cx="52120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463040"/>
            <a:ext cx="2834640" cy="1371600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  <a:effectLst>
            <a:outerShdw blurRad="88900" dist="38100" dir="8100000" algn="bl" rotWithShape="0">
              <a:srgbClr val="0E223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98464" y="1591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E0C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최종 후보  ·  equal_linear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80176" y="179222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0.147529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5998464" y="2395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6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LGBM · XGBoost · CatBoost 단순 평균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852160" y="2999232"/>
            <a:ext cx="2834640" cy="420624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89320" y="29992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6F6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equal_linear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269480" y="29992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0.147529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52160" y="3502152"/>
            <a:ext cx="2834640" cy="420624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989320" y="35021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6F6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equal_log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269480" y="35021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0.147530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52160" y="4005072"/>
            <a:ext cx="2834640" cy="420624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989320" y="40050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6F6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최종 제출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269480" y="40050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submission_v5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852160" y="44988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i="1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 평균도 거의 동일 — 가중치 튜닝보다 모델 다양성이 핵심.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13 / 15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49808" y="4206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성능 개선 흐름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피처와 검증 설계가 모델 선택만큼 중요했다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17320"/>
          <a:ext cx="58064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148840" y="2143795"/>
            <a:ext cx="1691640" cy="457200"/>
          </a:xfrm>
          <a:prstGeom prst="rect">
            <a:avLst/>
          </a:prstGeom>
          <a:solidFill>
            <a:srgbClr val="E89C36"/>
          </a:solidFill>
          <a:ln w="12700">
            <a:solidFill>
              <a:srgbClr val="E89C3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4"/>
          <p:cNvSpPr/>
          <p:nvPr/>
        </p:nvSpPr>
        <p:spPr>
          <a:xfrm>
            <a:off x="2148840" y="21431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</a:t>
            </a:r>
            <a:r>
              <a:rPr lang="en-US" sz="1600" b="1" dirty="0"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큰 </a:t>
            </a:r>
            <a:r>
              <a:rPr lang="en-US" sz="1600" b="1" dirty="0" err="1"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낙폭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46520" y="1417320"/>
            <a:ext cx="2240280" cy="3200400"/>
          </a:xfrm>
          <a:prstGeom prst="rect">
            <a:avLst/>
          </a:prstGeom>
          <a:solidFill>
            <a:srgbClr val="EFF4F6"/>
          </a:solidFill>
          <a:ln w="12700">
            <a:solidFill>
              <a:srgbClr val="D7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601968" y="1536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단계별 OOF RMSLE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01968" y="1865376"/>
            <a:ext cx="73152" cy="402336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748272" y="18653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748272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0.149919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01968" y="2377440"/>
            <a:ext cx="73152" cy="402336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748272" y="23774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HGBR tuning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48272" y="2542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0.149828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01968" y="2889504"/>
            <a:ext cx="73152" cy="402336"/>
          </a:xfrm>
          <a:prstGeom prst="rect">
            <a:avLst/>
          </a:prstGeom>
          <a:solidFill>
            <a:srgbClr val="E89C36"/>
          </a:solidFill>
          <a:ln w="12700">
            <a:solidFill>
              <a:srgbClr val="E89C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748272" y="2889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Encoding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748272" y="30540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F6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0.147765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01968" y="3401568"/>
            <a:ext cx="73152" cy="402336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748272" y="3401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 Data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748272" y="35661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8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0.147607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01968" y="3913632"/>
            <a:ext cx="73152" cy="402336"/>
          </a:xfrm>
          <a:prstGeom prst="rect">
            <a:avLst/>
          </a:prstGeom>
          <a:solidFill>
            <a:srgbClr val="E89C36"/>
          </a:solidFill>
          <a:ln w="12700">
            <a:solidFill>
              <a:srgbClr val="E89C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748272" y="39136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Ensemble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748272" y="40782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F6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0.147529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01968" y="43708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6F66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0.149919  →  0.147529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7A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8B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14 / 15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63E0CF"/>
          </a:solidFill>
          <a:ln w="12700">
            <a:solidFill>
              <a:srgbClr val="63E0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86968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  ·  CONCLUSION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메시지와 다음 작업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2542032" cy="1481328"/>
          </a:xfrm>
          <a:prstGeom prst="rect">
            <a:avLst/>
          </a:prstGeom>
          <a:solidFill>
            <a:srgbClr val="16344C"/>
          </a:solidFill>
          <a:ln w="12700">
            <a:solidFill>
              <a:srgbClr val="0B6F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04672" y="1645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04825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RMSLE에 맞춘 전제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3591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2C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 target 학습 + 음수 clipping을 모든 모델에 유지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55848" y="1536192"/>
            <a:ext cx="2542032" cy="1481328"/>
          </a:xfrm>
          <a:prstGeom prst="rect">
            <a:avLst/>
          </a:prstGeom>
          <a:solidFill>
            <a:srgbClr val="16344C"/>
          </a:solidFill>
          <a:ln w="12700">
            <a:solidFill>
              <a:srgbClr val="0B6F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20440" y="1645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204825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OOF-safe 검증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20440" y="23591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2C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fold·metric·OOF 기준 고정으로 작은 개선을 해석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71616" y="1536192"/>
            <a:ext cx="2542032" cy="1481328"/>
          </a:xfrm>
          <a:prstGeom prst="rect">
            <a:avLst/>
          </a:prstGeom>
          <a:solidFill>
            <a:srgbClr val="16344C"/>
          </a:solidFill>
          <a:ln w="12700">
            <a:solidFill>
              <a:srgbClr val="0B6F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36208" y="1645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94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36208" y="204825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Encoding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23591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2C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HGBR 튜닝이 아닌 fold-safe TE가 핵심 전환점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5074920" cy="1078992"/>
          </a:xfrm>
          <a:prstGeom prst="rect">
            <a:avLst/>
          </a:prstGeom>
          <a:solidFill>
            <a:srgbClr val="0A1B29"/>
          </a:solidFill>
          <a:ln w="12700">
            <a:solidFill>
              <a:srgbClr val="1634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E0C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작업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62102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C3D2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 public / private score 기록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C3D2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 TE smoothing · Optuna 튜닝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3D2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 tail calibration — CV와 LB gap 동시 점검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97880" y="3246120"/>
            <a:ext cx="2743200" cy="1078992"/>
          </a:xfrm>
          <a:prstGeom prst="rect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897880" y="3346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897880" y="3803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F2E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최종 OOF RMSLE  </a:t>
            </a:r>
            <a:r>
              <a:rPr lang="en-US" sz="1000" b="1" dirty="0">
                <a:solidFill>
                  <a:schemeClr val="bg1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0.147529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E76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Abalone Regression  ·  OOF RMSLE 0.147529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589520" y="47594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768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15 / 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943</ep:Words>
  <ep:PresentationFormat>화면 슬라이드 쇼(16:9)</ep:PresentationFormat>
  <ep:Paragraphs>388</ep:Paragraphs>
  <ep:Slides>15</ep:Slides>
  <ep:Notes>15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2026-05-22T05:51:59.000</dcterms:created>
  <dc:creator>Abalone Regression</dc:creator>
  <cp:lastModifiedBy>hyoli</cp:lastModifiedBy>
  <dcterms:modified xsi:type="dcterms:W3CDTF">2026-05-23T11:23:42.292</dcterms:modified>
  <cp:revision>8</cp:revision>
  <dc:subject>PptxGenJS Presentation</dc:subject>
  <dc:title>Abalone Regression — RMSLE 최적화와 최종 제출 후보 정리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