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8" r:id="rId3"/>
    <p:sldId id="265" r:id="rId4"/>
    <p:sldId id="266" r:id="rId5"/>
    <p:sldId id="267" r:id="rId6"/>
    <p:sldId id="268" r:id="rId7"/>
    <p:sldId id="261" r:id="rId8"/>
    <p:sldId id="262" r:id="rId9"/>
    <p:sldId id="272" r:id="rId10"/>
    <p:sldId id="270" r:id="rId11"/>
    <p:sldId id="271" r:id="rId12"/>
    <p:sldId id="260" r:id="rId13"/>
  </p:sldIdLst>
  <p:sldSz cx="9144000" cy="5143500" type="screen16x9"/>
  <p:notesSz cx="6858000" cy="9144000"/>
  <p:embeddedFontLst>
    <p:embeddedFont>
      <p:font typeface="Nanum Gothic" panose="020B0600000101010101" charset="-127"/>
      <p:regular r:id="rId15"/>
      <p:bold r:id="rId16"/>
    </p:embeddedFont>
    <p:embeddedFont>
      <p:font typeface="NanumGothicExtraBold" pitchFamily="2" charset="-127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525" autoAdjust="0"/>
  </p:normalViewPr>
  <p:slideViewPr>
    <p:cSldViewPr snapToGrid="0">
      <p:cViewPr varScale="1">
        <p:scale>
          <a:sx n="71" d="100"/>
          <a:sy n="71" d="100"/>
        </p:scale>
        <p:origin x="52" y="10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9B57C2D2-E435-31B2-7C8F-F3487975F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>
            <a:extLst>
              <a:ext uri="{FF2B5EF4-FFF2-40B4-BE49-F238E27FC236}">
                <a16:creationId xmlns:a16="http://schemas.microsoft.com/office/drawing/2014/main" id="{15A1CE17-D1FD-9D99-65BB-6DCFFEB58A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>
            <a:extLst>
              <a:ext uri="{FF2B5EF4-FFF2-40B4-BE49-F238E27FC236}">
                <a16:creationId xmlns:a16="http://schemas.microsoft.com/office/drawing/2014/main" id="{1EAFBF9E-4D03-3FE8-0580-FCEBF335FA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7677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F23EDFCD-6716-CD1B-F76E-9948CF24C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>
            <a:extLst>
              <a:ext uri="{FF2B5EF4-FFF2-40B4-BE49-F238E27FC236}">
                <a16:creationId xmlns:a16="http://schemas.microsoft.com/office/drawing/2014/main" id="{66CAAB90-0A2C-C828-B9D3-8A35791DA8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>
            <a:extLst>
              <a:ext uri="{FF2B5EF4-FFF2-40B4-BE49-F238E27FC236}">
                <a16:creationId xmlns:a16="http://schemas.microsoft.com/office/drawing/2014/main" id="{48FC79E3-32A1-8279-7D98-41C59B3F87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605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13506C96-7E55-98A1-C438-FA42D1A71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>
            <a:extLst>
              <a:ext uri="{FF2B5EF4-FFF2-40B4-BE49-F238E27FC236}">
                <a16:creationId xmlns:a16="http://schemas.microsoft.com/office/drawing/2014/main" id="{634C2FBE-EE94-5F87-9ED6-347D1E9A52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>
            <a:extLst>
              <a:ext uri="{FF2B5EF4-FFF2-40B4-BE49-F238E27FC236}">
                <a16:creationId xmlns:a16="http://schemas.microsoft.com/office/drawing/2014/main" id="{016E1072-4F24-290D-9C6F-2DF7E40071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3421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ECF63B34-B8F8-9932-43C7-99FFCB59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>
            <a:extLst>
              <a:ext uri="{FF2B5EF4-FFF2-40B4-BE49-F238E27FC236}">
                <a16:creationId xmlns:a16="http://schemas.microsoft.com/office/drawing/2014/main" id="{ED11D8DB-B3E6-0F3E-21B7-CB87D16142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>
            <a:extLst>
              <a:ext uri="{FF2B5EF4-FFF2-40B4-BE49-F238E27FC236}">
                <a16:creationId xmlns:a16="http://schemas.microsoft.com/office/drawing/2014/main" id="{F37C5C28-650B-220A-0207-CEB0C23A02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8998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422381CE-210C-8D55-6610-75A6E6EC3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>
            <a:extLst>
              <a:ext uri="{FF2B5EF4-FFF2-40B4-BE49-F238E27FC236}">
                <a16:creationId xmlns:a16="http://schemas.microsoft.com/office/drawing/2014/main" id="{52AD5875-1F21-5CB6-64FC-AC08AF860F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>
            <a:extLst>
              <a:ext uri="{FF2B5EF4-FFF2-40B4-BE49-F238E27FC236}">
                <a16:creationId xmlns:a16="http://schemas.microsoft.com/office/drawing/2014/main" id="{E006198F-FF9F-C64A-47CF-5C41858A54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2756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1F18F7BE-3AC1-CABA-0AB6-DE5AFAB20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>
            <a:extLst>
              <a:ext uri="{FF2B5EF4-FFF2-40B4-BE49-F238E27FC236}">
                <a16:creationId xmlns:a16="http://schemas.microsoft.com/office/drawing/2014/main" id="{5669A51F-B99E-723D-8650-5B7ABDBE2B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>
            <a:extLst>
              <a:ext uri="{FF2B5EF4-FFF2-40B4-BE49-F238E27FC236}">
                <a16:creationId xmlns:a16="http://schemas.microsoft.com/office/drawing/2014/main" id="{4975079D-A8A6-9978-A380-731CB795C0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662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291781E5-35C1-DBEE-A49B-E996E8FB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>
            <a:extLst>
              <a:ext uri="{FF2B5EF4-FFF2-40B4-BE49-F238E27FC236}">
                <a16:creationId xmlns:a16="http://schemas.microsoft.com/office/drawing/2014/main" id="{1DF797CE-46E3-A0FE-8CC0-5DC4FA778D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>
            <a:extLst>
              <a:ext uri="{FF2B5EF4-FFF2-40B4-BE49-F238E27FC236}">
                <a16:creationId xmlns:a16="http://schemas.microsoft.com/office/drawing/2014/main" id="{639B7419-CAB6-11D2-42B2-3FBD513E75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46455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74BF2B56-6F30-8C20-CCAA-05170893E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>
            <a:extLst>
              <a:ext uri="{FF2B5EF4-FFF2-40B4-BE49-F238E27FC236}">
                <a16:creationId xmlns:a16="http://schemas.microsoft.com/office/drawing/2014/main" id="{58F81F36-6A35-31A0-2F67-14AEE33403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>
            <a:extLst>
              <a:ext uri="{FF2B5EF4-FFF2-40B4-BE49-F238E27FC236}">
                <a16:creationId xmlns:a16="http://schemas.microsoft.com/office/drawing/2014/main" id="{D912AAAD-61D1-7318-B79A-67C3BE21A5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0228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524CD592-EFBB-9F09-6BEE-C2B8D8334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>
            <a:extLst>
              <a:ext uri="{FF2B5EF4-FFF2-40B4-BE49-F238E27FC236}">
                <a16:creationId xmlns:a16="http://schemas.microsoft.com/office/drawing/2014/main" id="{C4FB99C2-3D6C-A44F-DE71-AEE8833C06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>
            <a:extLst>
              <a:ext uri="{FF2B5EF4-FFF2-40B4-BE49-F238E27FC236}">
                <a16:creationId xmlns:a16="http://schemas.microsoft.com/office/drawing/2014/main" id="{F5F1CAAF-8DF7-6C25-C445-EA74FCFA1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8934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76d74496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76d74496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0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" name="Google Shape;49;p10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10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0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/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8기 활동 소개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 b="1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9기 활동 안내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정기세션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Github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Basic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Advanced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스터디 소개</a:t>
            </a:r>
            <a:endParaRPr sz="800" b="1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AI 세미나 소개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장학금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</a:rPr>
              <a:t>Basic 5</a:t>
            </a:r>
            <a:r>
              <a:rPr lang="ko-KR" altLang="en-US" sz="2500" b="1" dirty="0">
                <a:solidFill>
                  <a:srgbClr val="19264B"/>
                </a:solidFill>
              </a:rPr>
              <a:t>조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2025.0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26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19264B"/>
                </a:solidFill>
              </a:rPr>
              <a:t>신정민</a:t>
            </a:r>
            <a:r>
              <a:rPr lang="en-US" altLang="ko-KR" sz="1100" dirty="0">
                <a:solidFill>
                  <a:srgbClr val="19264B"/>
                </a:solidFill>
              </a:rPr>
              <a:t>, </a:t>
            </a:r>
            <a:r>
              <a:rPr lang="ko-KR" altLang="en-US" sz="1100" dirty="0" err="1">
                <a:solidFill>
                  <a:srgbClr val="19264B"/>
                </a:solidFill>
              </a:rPr>
              <a:t>조해웅</a:t>
            </a:r>
            <a:r>
              <a:rPr lang="en-US" altLang="ko-KR" sz="1100" dirty="0">
                <a:solidFill>
                  <a:srgbClr val="19264B"/>
                </a:solidFill>
              </a:rPr>
              <a:t>, </a:t>
            </a:r>
            <a:r>
              <a:rPr lang="ko-KR" altLang="en-US" sz="1100" dirty="0">
                <a:solidFill>
                  <a:srgbClr val="19264B"/>
                </a:solidFill>
              </a:rPr>
              <a:t>노승현</a:t>
            </a:r>
            <a:r>
              <a:rPr lang="en-US" altLang="ko-KR" sz="1100" dirty="0">
                <a:solidFill>
                  <a:srgbClr val="19264B"/>
                </a:solidFill>
              </a:rPr>
              <a:t>, </a:t>
            </a:r>
            <a:r>
              <a:rPr lang="ko-KR" altLang="en-US" sz="1100" dirty="0" err="1">
                <a:solidFill>
                  <a:srgbClr val="19264B"/>
                </a:solidFill>
              </a:rPr>
              <a:t>김승범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주제 및 데이터 선정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" name="Google Shape;84;p15">
            <a:extLst>
              <a:ext uri="{FF2B5EF4-FFF2-40B4-BE49-F238E27FC236}">
                <a16:creationId xmlns:a16="http://schemas.microsoft.com/office/drawing/2014/main" id="{74A0E3F9-A9D4-3DC4-1C1A-778874143C65}"/>
              </a:ext>
            </a:extLst>
          </p:cNvPr>
          <p:cNvSpPr txBox="1"/>
          <p:nvPr/>
        </p:nvSpPr>
        <p:spPr>
          <a:xfrm>
            <a:off x="1408974" y="845454"/>
            <a:ext cx="7457119" cy="3051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주제 </a:t>
            </a:r>
            <a:r>
              <a:rPr lang="en-US" altLang="ko-KR" sz="18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: </a:t>
            </a:r>
            <a:r>
              <a:rPr lang="ko-KR" altLang="en-US" sz="18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대한 수입규제 조기 경보 탐지 모델 제작</a:t>
            </a:r>
            <a:endParaRPr lang="en-US" altLang="ko-KR" sz="1800" b="1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보호무역주의 강화로</a:t>
            </a:r>
            <a:r>
              <a:rPr lang="en-US" altLang="ko-KR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, </a:t>
            </a:r>
            <a:r>
              <a:rPr lang="ko-KR" altLang="en-US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반덤핑 제소가 역대 최다</a:t>
            </a:r>
            <a:endParaRPr lang="en-US" altLang="ko-KR" sz="18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그러나</a:t>
            </a:r>
            <a:r>
              <a:rPr lang="en-US" altLang="ko-KR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, </a:t>
            </a:r>
            <a:r>
              <a:rPr lang="ko-KR" altLang="en-US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현재는 기업이 자체 모델을 제작하거나</a:t>
            </a:r>
            <a:r>
              <a:rPr lang="en-US" altLang="ko-KR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, KOTRA</a:t>
            </a:r>
            <a:r>
              <a:rPr lang="ko-KR" altLang="en-US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반기 리포트로 사후 대응을 하는 것에 머물러 있음</a:t>
            </a:r>
            <a:r>
              <a:rPr lang="en-US" altLang="ko-KR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.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18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데이터 </a:t>
            </a:r>
            <a:r>
              <a:rPr lang="en-US" altLang="ko-KR" sz="18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: KOTRA </a:t>
            </a:r>
            <a:r>
              <a:rPr lang="ko-KR" altLang="en-US" sz="18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수입 규제 </a:t>
            </a:r>
            <a:r>
              <a:rPr lang="en-US" altLang="ko-KR" sz="18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DB + </a:t>
            </a:r>
            <a:r>
              <a:rPr lang="ko-KR" altLang="en-US" sz="18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관세청 수출입 통계</a:t>
            </a:r>
            <a:endParaRPr lang="en-US" altLang="ko-KR" sz="1800" b="1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HS 72</a:t>
            </a:r>
            <a:r>
              <a:rPr lang="ko-KR" altLang="en-US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류</a:t>
            </a:r>
            <a:r>
              <a:rPr lang="en-US" altLang="ko-KR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(</a:t>
            </a:r>
            <a:r>
              <a:rPr lang="ko-KR" altLang="en-US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철강</a:t>
            </a:r>
            <a:r>
              <a:rPr lang="en-US" altLang="ko-KR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) </a:t>
            </a:r>
            <a:r>
              <a:rPr lang="ko-KR" altLang="en-US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품목 </a:t>
            </a:r>
            <a:r>
              <a:rPr lang="en-US" altLang="ko-KR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4</a:t>
            </a:r>
            <a:r>
              <a:rPr lang="ko-KR" altLang="en-US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코드 기준</a:t>
            </a:r>
            <a:endParaRPr lang="en-US" altLang="ko-KR" sz="18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EU</a:t>
            </a:r>
            <a:r>
              <a:rPr lang="en-US" altLang="ko-KR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·USA·</a:t>
            </a:r>
            <a:r>
              <a:rPr lang="ko-KR" altLang="en-US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캐나다</a:t>
            </a:r>
            <a:r>
              <a:rPr lang="en-US" altLang="ko-KR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·</a:t>
            </a:r>
            <a:r>
              <a:rPr lang="ko-KR" altLang="en-US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영국</a:t>
            </a:r>
            <a:r>
              <a:rPr lang="en-US" altLang="ko-KR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·</a:t>
            </a:r>
            <a:r>
              <a:rPr lang="ko-KR" altLang="en-US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태국</a:t>
            </a:r>
            <a:r>
              <a:rPr lang="en-US" altLang="ko-KR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·</a:t>
            </a:r>
            <a:r>
              <a:rPr lang="ko-KR" altLang="en-US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중국</a:t>
            </a:r>
            <a:r>
              <a:rPr lang="en-US" altLang="ko-KR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·</a:t>
            </a:r>
            <a:r>
              <a:rPr lang="ko-KR" altLang="en-US" sz="18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인도 기준</a:t>
            </a:r>
            <a:endParaRPr lang="en-US" sz="18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2DDD27A-A183-2939-F68F-FBDF01368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EB1BA384-716B-F088-2BCD-F19135F5097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546E8259-CDD9-54A4-F38C-67DDA1F71639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>
            <a:extLst>
              <a:ext uri="{FF2B5EF4-FFF2-40B4-BE49-F238E27FC236}">
                <a16:creationId xmlns:a16="http://schemas.microsoft.com/office/drawing/2014/main" id="{FF96B354-551B-6328-C03B-67738666B9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>
            <a:extLst>
              <a:ext uri="{FF2B5EF4-FFF2-40B4-BE49-F238E27FC236}">
                <a16:creationId xmlns:a16="http://schemas.microsoft.com/office/drawing/2014/main" id="{9AB4FD36-8AB5-4FCD-9C96-6905F4DC3DBC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데이터를 통해 얻어야 하는 질문과 답변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" name="Google Shape;84;p15">
            <a:extLst>
              <a:ext uri="{FF2B5EF4-FFF2-40B4-BE49-F238E27FC236}">
                <a16:creationId xmlns:a16="http://schemas.microsoft.com/office/drawing/2014/main" id="{81F36FD0-F10B-FF3D-7E72-E85C374D36A5}"/>
              </a:ext>
            </a:extLst>
          </p:cNvPr>
          <p:cNvSpPr txBox="1"/>
          <p:nvPr/>
        </p:nvSpPr>
        <p:spPr>
          <a:xfrm>
            <a:off x="1408974" y="845454"/>
            <a:ext cx="7457119" cy="230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Q1.</a:t>
            </a:r>
            <a:r>
              <a:rPr lang="ko-KR" altLang="en-US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제소 직전 수출 데이터에 어떤 패턴이 있었나</a:t>
            </a:r>
            <a:r>
              <a:rPr lang="en-US" altLang="ko-KR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?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단가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·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물량 변화율 </a:t>
            </a:r>
            <a:r>
              <a:rPr lang="ko-KR" altLang="en-US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임계값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도출</a:t>
            </a:r>
            <a:endParaRPr lang="en-US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Q2. </a:t>
            </a:r>
            <a:r>
              <a:rPr lang="ko-KR" altLang="en-US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어느 나라가 주요 </a:t>
            </a:r>
            <a:r>
              <a:rPr lang="ko-KR" altLang="en-US" sz="1500" b="1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제소국인가</a:t>
            </a:r>
            <a:r>
              <a:rPr lang="en-US" altLang="ko-KR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?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모니터링 우선순위 결정</a:t>
            </a:r>
            <a:endParaRPr lang="en-US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Q3. </a:t>
            </a:r>
            <a:r>
              <a:rPr lang="ko-KR" altLang="en-US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지금</a:t>
            </a:r>
            <a:r>
              <a:rPr lang="en-US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</a:t>
            </a:r>
            <a:r>
              <a:rPr lang="ko-KR" altLang="en-US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현재 위험 신호가 있는가</a:t>
            </a:r>
            <a:r>
              <a:rPr lang="en-US" altLang="ko-KR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?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현재 데이터에 모델 적용 → 미완성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372767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803A4B2C-EEF4-2CAC-7B92-97708BA5A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B1911217-BFBE-A87D-29EA-D4951354000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8A2A463C-9F80-8DDD-0F16-5CFF7CA3683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>
            <a:extLst>
              <a:ext uri="{FF2B5EF4-FFF2-40B4-BE49-F238E27FC236}">
                <a16:creationId xmlns:a16="http://schemas.microsoft.com/office/drawing/2014/main" id="{63194C37-192C-8FC4-EF4C-E398E02F615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>
            <a:extLst>
              <a:ext uri="{FF2B5EF4-FFF2-40B4-BE49-F238E27FC236}">
                <a16:creationId xmlns:a16="http://schemas.microsoft.com/office/drawing/2014/main" id="{CF1A0BDE-5876-C451-761A-76F908B6D846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데이터 </a:t>
            </a:r>
            <a:r>
              <a:rPr lang="ko-KR" altLang="en-US" sz="2000" dirty="0" err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전처리</a:t>
            </a: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 </a:t>
            </a:r>
            <a:r>
              <a:rPr lang="en-US" altLang="ko-KR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- KOTRA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" name="Google Shape;84;p15">
            <a:extLst>
              <a:ext uri="{FF2B5EF4-FFF2-40B4-BE49-F238E27FC236}">
                <a16:creationId xmlns:a16="http://schemas.microsoft.com/office/drawing/2014/main" id="{6501E8AA-B3A3-3CE1-4DA2-BC0614434658}"/>
              </a:ext>
            </a:extLst>
          </p:cNvPr>
          <p:cNvSpPr txBox="1"/>
          <p:nvPr/>
        </p:nvSpPr>
        <p:spPr>
          <a:xfrm>
            <a:off x="1408974" y="845454"/>
            <a:ext cx="7457119" cy="2042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불필요 규제상태 제거 → 관세청 데이터로 얻을 수 없는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“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우회 수출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”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제거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규제시행국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EU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회원국 통합 →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EU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는 보통 국가가 아닌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, EU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단위로 규제 </a:t>
            </a:r>
            <a:r>
              <a:rPr lang="ko-KR" altLang="en-US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매겨짐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HS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코드 칼럼 정제 →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72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류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4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단위만 남기고 제거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규제 대상국 정리 → 불필요한 행 삭제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,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한 컬럼에 한 국가만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,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이름 통일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한국 대상 여부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int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값 변경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날짜 시계열 처리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컬럼 정리</a:t>
            </a:r>
            <a:endParaRPr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5FCF94-89AB-80AF-3F70-1E0007AEA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62" y="2888291"/>
            <a:ext cx="6651812" cy="105236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94D0E09-92E4-6AD2-B8D4-CA83A9CCF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949" y="3940654"/>
            <a:ext cx="4790217" cy="105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838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48C9E7C2-E4C5-9499-B050-8DD8727F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0BC142B1-02C2-ABD9-DCDA-4321CB27F1B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1C6DC1C4-2345-03D9-1721-3A8D92CA1D5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>
            <a:extLst>
              <a:ext uri="{FF2B5EF4-FFF2-40B4-BE49-F238E27FC236}">
                <a16:creationId xmlns:a16="http://schemas.microsoft.com/office/drawing/2014/main" id="{8C16A670-69C0-D209-27E6-A96ECEA0A42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>
            <a:extLst>
              <a:ext uri="{FF2B5EF4-FFF2-40B4-BE49-F238E27FC236}">
                <a16:creationId xmlns:a16="http://schemas.microsoft.com/office/drawing/2014/main" id="{5F6864D5-FD5D-5CAB-8E2D-2B7CF4246593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데이터 </a:t>
            </a:r>
            <a:r>
              <a:rPr lang="ko-KR" altLang="en-US" sz="2000" dirty="0" err="1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전처리</a:t>
            </a: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 </a:t>
            </a:r>
            <a:r>
              <a:rPr lang="en-US" altLang="ko-KR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- </a:t>
            </a: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관세청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" name="Google Shape;84;p15">
            <a:extLst>
              <a:ext uri="{FF2B5EF4-FFF2-40B4-BE49-F238E27FC236}">
                <a16:creationId xmlns:a16="http://schemas.microsoft.com/office/drawing/2014/main" id="{EBC06F23-33DF-EC61-3892-894084044965}"/>
              </a:ext>
            </a:extLst>
          </p:cNvPr>
          <p:cNvSpPr txBox="1"/>
          <p:nvPr/>
        </p:nvSpPr>
        <p:spPr>
          <a:xfrm>
            <a:off x="1408974" y="845454"/>
            <a:ext cx="7457119" cy="2042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KOTRA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기준 상위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5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개국 및 관련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2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개국 데이터 수집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국가명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통일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날짜 정리 → 규제 발생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3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개월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, 6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개월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12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개월 전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HS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코드 문자열 통일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en-US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unit_price</a:t>
            </a:r>
            <a:r>
              <a:rPr 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결측 제거 → 수출이 없으면 단기 및 변화율 계산 불가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변화율 컬럼 결측 확인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Import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컬럼 제거 → 수출 값만 필요</a:t>
            </a:r>
            <a:endParaRPr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B57563-944D-3890-69CF-235D2E985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62" y="2885197"/>
            <a:ext cx="6829591" cy="108334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0A914A4-9FC2-F4EC-DF54-C71A20935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950" y="3938639"/>
            <a:ext cx="4803579" cy="108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097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0728A779-C97D-C031-6007-F20AF7462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580D75C7-94A3-F39F-9725-F0024F5C8C1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7DE22B5A-6650-3254-B640-7BF70EAC3E7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>
            <a:extLst>
              <a:ext uri="{FF2B5EF4-FFF2-40B4-BE49-F238E27FC236}">
                <a16:creationId xmlns:a16="http://schemas.microsoft.com/office/drawing/2014/main" id="{E6DE69D2-4B9D-EE70-FA61-14D3A827958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>
            <a:extLst>
              <a:ext uri="{FF2B5EF4-FFF2-40B4-BE49-F238E27FC236}">
                <a16:creationId xmlns:a16="http://schemas.microsoft.com/office/drawing/2014/main" id="{4CF898D0-1FCB-2DEE-5725-4FF7332ED163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데이터 병합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" name="Google Shape;84;p15">
            <a:extLst>
              <a:ext uri="{FF2B5EF4-FFF2-40B4-BE49-F238E27FC236}">
                <a16:creationId xmlns:a16="http://schemas.microsoft.com/office/drawing/2014/main" id="{8C7D7310-7E0A-E87A-A5A0-8A913D8764E8}"/>
              </a:ext>
            </a:extLst>
          </p:cNvPr>
          <p:cNvSpPr txBox="1"/>
          <p:nvPr/>
        </p:nvSpPr>
        <p:spPr>
          <a:xfrm>
            <a:off x="1408974" y="845454"/>
            <a:ext cx="7457119" cy="2573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병합 키</a:t>
            </a:r>
            <a:endParaRPr lang="en-US" altLang="ko-KR" sz="1500" b="1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KOTRA : </a:t>
            </a:r>
            <a:r>
              <a:rPr lang="de-DE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imposing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_country * hs_4digit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*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</a:t>
            </a:r>
            <a:r>
              <a:rPr lang="de-DE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start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_</a:t>
            </a:r>
            <a:r>
              <a:rPr lang="en-US" altLang="ko-KR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ym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관세청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: country * </a:t>
            </a:r>
            <a:r>
              <a:rPr lang="en-US" altLang="ko-KR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hs_code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* </a:t>
            </a:r>
            <a:r>
              <a:rPr lang="en-US" altLang="ko-KR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year_month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KOTRA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필터링 → 관세청 데이터에 있는 국가와 날짜만 포함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윈도우 병합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변화율 재계산 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lvl="0">
              <a:lnSpc>
                <a:spcPct val="115000"/>
              </a:lnSpc>
            </a:pP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  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→ </a:t>
            </a:r>
            <a:r>
              <a:rPr lang="en-US" altLang="ko-KR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case_id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별로 특정 시점의 평균 단가와 평균 물량을 피벗 테이블로 만듦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lvl="0">
              <a:lnSpc>
                <a:spcPct val="115000"/>
              </a:lnSpc>
            </a:pP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  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→ 기준 시점 대비 과거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3, 6, 12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개월 전과의 가격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/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물량 변화율 계산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088319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588908DF-6266-C008-8821-392F11C80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959057DD-A88E-CE35-276E-B2217B174DD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DE809544-52FC-22A4-F67A-1BFA6F965B9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>
            <a:extLst>
              <a:ext uri="{FF2B5EF4-FFF2-40B4-BE49-F238E27FC236}">
                <a16:creationId xmlns:a16="http://schemas.microsoft.com/office/drawing/2014/main" id="{246C7ACA-5363-BE3E-E188-E09A3C0D37B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>
            <a:extLst>
              <a:ext uri="{FF2B5EF4-FFF2-40B4-BE49-F238E27FC236}">
                <a16:creationId xmlns:a16="http://schemas.microsoft.com/office/drawing/2014/main" id="{262792A0-64EE-0E95-8665-B701E359D3F8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피처 엔지니어링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" name="Google Shape;84;p15">
            <a:extLst>
              <a:ext uri="{FF2B5EF4-FFF2-40B4-BE49-F238E27FC236}">
                <a16:creationId xmlns:a16="http://schemas.microsoft.com/office/drawing/2014/main" id="{7B0EB5FF-D5CB-0BCF-826D-F9ECD0BCC7BE}"/>
              </a:ext>
            </a:extLst>
          </p:cNvPr>
          <p:cNvSpPr txBox="1"/>
          <p:nvPr/>
        </p:nvSpPr>
        <p:spPr>
          <a:xfrm>
            <a:off x="1408974" y="845454"/>
            <a:ext cx="7457119" cy="177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컬럼 인코딩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en-US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duration_months</a:t>
            </a:r>
            <a:r>
              <a:rPr 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계산 → </a:t>
            </a:r>
            <a:r>
              <a:rPr lang="en-US" altLang="ko-KR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end_date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결측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-1(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조사중 자체가 </a:t>
            </a:r>
            <a:r>
              <a:rPr lang="ko-KR" altLang="en-US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의미있는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정보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)</a:t>
            </a: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en-US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dump_signal</a:t>
            </a:r>
            <a:r>
              <a:rPr 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생성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(price=-5, vol=-10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→ </a:t>
            </a:r>
            <a:r>
              <a:rPr lang="ko-KR" altLang="en-US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포착률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40%, </a:t>
            </a:r>
            <a:r>
              <a:rPr lang="ko-KR" altLang="en-US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오탐률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11%)</a:t>
            </a:r>
          </a:p>
          <a:p>
            <a:pPr lvl="0">
              <a:lnSpc>
                <a:spcPct val="115000"/>
              </a:lnSpc>
            </a:pP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  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→ 중앙 값과 </a:t>
            </a:r>
            <a:r>
              <a:rPr lang="ko-KR" altLang="en-US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분위수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비교를 통해 </a:t>
            </a:r>
            <a:r>
              <a:rPr lang="ko-KR" altLang="en-US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임계값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판단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lvl="0">
              <a:lnSpc>
                <a:spcPct val="115000"/>
              </a:lnSpc>
            </a:pPr>
            <a:r>
              <a:rPr 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  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→ </a:t>
            </a:r>
            <a:r>
              <a:rPr lang="ko-KR" altLang="en-US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임계값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조합을 비교하며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Recall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은 높으면서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FPR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은 낮은 </a:t>
            </a:r>
            <a:r>
              <a:rPr lang="ko-KR" altLang="en-US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임계값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선택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>
              <a:lnSpc>
                <a:spcPct val="115000"/>
              </a:lnSpc>
              <a:buAutoNum type="arabicPeriod" startAt="4"/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불필요한 컬럼 및 변화율 </a:t>
            </a:r>
            <a:r>
              <a:rPr lang="ko-KR" altLang="en-US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결측행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제거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C48A1-0DA9-12C7-27B8-A9EA8C2B3CE6}"/>
              </a:ext>
            </a:extLst>
          </p:cNvPr>
          <p:cNvSpPr txBox="1"/>
          <p:nvPr/>
        </p:nvSpPr>
        <p:spPr>
          <a:xfrm>
            <a:off x="1408974" y="2969702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de-DE" altLang="ko-KR" b="0" i="0" dirty="0">
                <a:effectLst/>
                <a:latin typeface="menlo"/>
              </a:rPr>
              <a:t>is_korea_target </a:t>
            </a:r>
            <a:r>
              <a:rPr lang="ko-KR" altLang="en-US" b="0" i="0" dirty="0">
                <a:effectLst/>
                <a:latin typeface="menlo"/>
              </a:rPr>
              <a:t>분포</a:t>
            </a:r>
            <a:r>
              <a:rPr lang="en-US" altLang="ko-KR" b="0" i="0" dirty="0">
                <a:effectLst/>
                <a:latin typeface="menlo"/>
              </a:rPr>
              <a:t>:</a:t>
            </a:r>
          </a:p>
          <a:p>
            <a:pPr algn="l" latinLnBrk="1">
              <a:buNone/>
            </a:pPr>
            <a:r>
              <a:rPr lang="de-DE" altLang="ko-KR" b="0" i="0" dirty="0">
                <a:effectLst/>
                <a:latin typeface="menlo"/>
              </a:rPr>
              <a:t>is_korea_target</a:t>
            </a:r>
          </a:p>
          <a:p>
            <a:pPr algn="l" latinLnBrk="1">
              <a:buNone/>
            </a:pPr>
            <a:r>
              <a:rPr lang="de-DE" altLang="ko-KR" b="0" i="0" dirty="0">
                <a:effectLst/>
                <a:latin typeface="menlo"/>
              </a:rPr>
              <a:t>1    26024</a:t>
            </a:r>
          </a:p>
          <a:p>
            <a:pPr algn="l" latinLnBrk="1">
              <a:buNone/>
            </a:pPr>
            <a:r>
              <a:rPr lang="de-DE" altLang="ko-KR" b="0" i="0" dirty="0">
                <a:effectLst/>
                <a:latin typeface="menlo"/>
              </a:rPr>
              <a:t>0    23068</a:t>
            </a:r>
          </a:p>
          <a:p>
            <a:pPr algn="l" latinLnBrk="1">
              <a:buNone/>
            </a:pPr>
            <a:r>
              <a:rPr lang="de-DE" altLang="ko-KR" b="0" i="0" dirty="0">
                <a:effectLst/>
                <a:latin typeface="menlo"/>
              </a:rPr>
              <a:t>Name: count, dtype: int64</a:t>
            </a:r>
          </a:p>
          <a:p>
            <a:pPr algn="l" latinLnBrk="1">
              <a:buNone/>
            </a:pPr>
            <a:r>
              <a:rPr lang="ko-KR" altLang="en-US" b="0" i="0" dirty="0">
                <a:effectLst/>
                <a:latin typeface="menlo"/>
              </a:rPr>
              <a:t>클래스 비율 </a:t>
            </a:r>
            <a:r>
              <a:rPr lang="en-US" altLang="ko-KR" b="0" i="0" dirty="0">
                <a:effectLst/>
                <a:latin typeface="menlo"/>
              </a:rPr>
              <a:t>1:0.9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DCCEC5-77D1-B7DF-B5BD-7DE749C17B9B}"/>
              </a:ext>
            </a:extLst>
          </p:cNvPr>
          <p:cNvGrpSpPr/>
          <p:nvPr/>
        </p:nvGrpSpPr>
        <p:grpSpPr>
          <a:xfrm>
            <a:off x="3772127" y="2761923"/>
            <a:ext cx="5093966" cy="1953513"/>
            <a:chOff x="3898662" y="2770887"/>
            <a:chExt cx="4906692" cy="179684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2DD0E92-310F-4827-E24A-A6762E5EB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98675" y="2770887"/>
              <a:ext cx="4906679" cy="78105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A54FA1D-6BAE-B04F-3890-12919B0DE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98662" y="3305033"/>
              <a:ext cx="4906679" cy="891437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9F348D6-32D7-C146-F660-99C0A0F2C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30397"/>
            <a:stretch>
              <a:fillRect/>
            </a:stretch>
          </p:blipFill>
          <p:spPr>
            <a:xfrm>
              <a:off x="3898662" y="3938896"/>
              <a:ext cx="4906679" cy="6288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047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2300DF8E-8586-B3F9-21AB-36AEB8E5E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399D7146-E3B4-6395-90C8-7DBE5CFB9D38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94A08DDC-6262-568A-C30C-447CC67646D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>
            <a:extLst>
              <a:ext uri="{FF2B5EF4-FFF2-40B4-BE49-F238E27FC236}">
                <a16:creationId xmlns:a16="http://schemas.microsoft.com/office/drawing/2014/main" id="{F6C06F9E-EDCD-22D1-7B83-6374AF404B4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>
            <a:extLst>
              <a:ext uri="{FF2B5EF4-FFF2-40B4-BE49-F238E27FC236}">
                <a16:creationId xmlns:a16="http://schemas.microsoft.com/office/drawing/2014/main" id="{5F0C0B22-FBB6-AA6F-5B3E-7F531F0B4AAD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ML</a:t>
            </a: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 학습 </a:t>
            </a:r>
            <a:r>
              <a:rPr lang="en-US" altLang="ko-KR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– </a:t>
            </a: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데이터 분할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" name="Google Shape;84;p15">
            <a:extLst>
              <a:ext uri="{FF2B5EF4-FFF2-40B4-BE49-F238E27FC236}">
                <a16:creationId xmlns:a16="http://schemas.microsoft.com/office/drawing/2014/main" id="{736B0F8F-D74F-09E6-447F-8AC5FE15A3C1}"/>
              </a:ext>
            </a:extLst>
          </p:cNvPr>
          <p:cNvSpPr txBox="1"/>
          <p:nvPr/>
        </p:nvSpPr>
        <p:spPr>
          <a:xfrm>
            <a:off x="1408974" y="845454"/>
            <a:ext cx="7457119" cy="310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데이터 분할 기본 아이디어</a:t>
            </a:r>
            <a:r>
              <a:rPr lang="en-US" altLang="ko-KR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(</a:t>
            </a:r>
            <a:r>
              <a:rPr lang="ko-KR" altLang="en-US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가설</a:t>
            </a:r>
            <a:r>
              <a:rPr lang="en-US" altLang="ko-KR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)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시간 기준 분할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: Train(2010-2019) / Validation(2020-2025)</a:t>
            </a:r>
          </a:p>
          <a:p>
            <a:pPr lvl="1">
              <a:lnSpc>
                <a:spcPct val="115000"/>
              </a:lnSpc>
            </a:pPr>
            <a:r>
              <a:rPr 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   -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랜덤 분할 시 미래를 보고 과거를 예측하는 문제가 발생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lvl="1">
              <a:lnSpc>
                <a:spcPct val="115000"/>
              </a:lnSpc>
            </a:pPr>
            <a:r>
              <a:rPr 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   - 2020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년이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Train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과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Validation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비율이 가장 균등함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lvl="1">
              <a:lnSpc>
                <a:spcPct val="115000"/>
              </a:lnSpc>
            </a:pP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1" indent="-342900">
              <a:lnSpc>
                <a:spcPct val="115000"/>
              </a:lnSpc>
              <a:buAutoNum type="arabicPeriod" startAt="2"/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문제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lvl="1">
              <a:lnSpc>
                <a:spcPct val="115000"/>
              </a:lnSpc>
            </a:pPr>
            <a:r>
              <a:rPr 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   - Train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=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한국 피소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(1) 75%, </a:t>
            </a:r>
            <a:r>
              <a:rPr lang="ko-KR" altLang="en-US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비피소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(0)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25%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로 한국 피소가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3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배 가량 많음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lvl="1">
              <a:lnSpc>
                <a:spcPct val="115000"/>
              </a:lnSpc>
            </a:pPr>
            <a:r>
              <a:rPr 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   - Validation = (1) 30%, (0) 70%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로 </a:t>
            </a:r>
            <a:r>
              <a:rPr lang="ko-KR" altLang="en-US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비피소가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2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배 많음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lvl="1">
              <a:lnSpc>
                <a:spcPct val="115000"/>
              </a:lnSpc>
            </a:pPr>
            <a:endParaRPr lang="en-US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1" indent="-342900">
              <a:lnSpc>
                <a:spcPct val="115000"/>
              </a:lnSpc>
              <a:buAutoNum type="arabicPeriod" startAt="3"/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해결책 → 아직 실험 중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lvl="1">
              <a:lnSpc>
                <a:spcPct val="115000"/>
              </a:lnSpc>
            </a:pPr>
            <a:r>
              <a:rPr 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   - </a:t>
            </a:r>
            <a:r>
              <a:rPr lang="en-US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class_weight</a:t>
            </a:r>
            <a:r>
              <a:rPr 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= ‘balanced’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적용 </a:t>
            </a:r>
            <a:endParaRPr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F03278-1CA0-6826-C553-553CAD3E5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375" y="3194068"/>
            <a:ext cx="2150546" cy="151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897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F2FAE353-B31C-80BC-FF4D-99C7F5B1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19BC5398-D347-6B79-B313-5ED679EFA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087" y="1866448"/>
            <a:ext cx="2251077" cy="1250371"/>
          </a:xfrm>
          <a:prstGeom prst="rect">
            <a:avLst/>
          </a:prstGeom>
        </p:spPr>
      </p:pic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6A6B5994-0837-C6A9-CC16-B402AFCA9D1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8F8FA00C-9D3E-8384-7B63-0A8CAB8E243E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>
            <a:extLst>
              <a:ext uri="{FF2B5EF4-FFF2-40B4-BE49-F238E27FC236}">
                <a16:creationId xmlns:a16="http://schemas.microsoft.com/office/drawing/2014/main" id="{0515C06E-5BA3-BB6F-319D-3FF9A7B6DC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>
            <a:extLst>
              <a:ext uri="{FF2B5EF4-FFF2-40B4-BE49-F238E27FC236}">
                <a16:creationId xmlns:a16="http://schemas.microsoft.com/office/drawing/2014/main" id="{B35F3126-A880-8169-E1D4-B2940B1768C3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ML</a:t>
            </a: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 학습 </a:t>
            </a:r>
            <a:r>
              <a:rPr lang="en-US" altLang="ko-KR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– RF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BEFE39-0043-574E-607E-77D26ACD59AF}"/>
              </a:ext>
            </a:extLst>
          </p:cNvPr>
          <p:cNvSpPr/>
          <p:nvPr/>
        </p:nvSpPr>
        <p:spPr>
          <a:xfrm>
            <a:off x="1352871" y="1247443"/>
            <a:ext cx="2433638" cy="3408621"/>
          </a:xfrm>
          <a:prstGeom prst="rect">
            <a:avLst/>
          </a:prstGeom>
          <a:noFill/>
          <a:ln>
            <a:solidFill>
              <a:srgbClr val="192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F18D01-FB33-221B-A365-24D96A8A6F23}"/>
              </a:ext>
            </a:extLst>
          </p:cNvPr>
          <p:cNvSpPr/>
          <p:nvPr/>
        </p:nvSpPr>
        <p:spPr>
          <a:xfrm>
            <a:off x="3938909" y="1247442"/>
            <a:ext cx="2433638" cy="3408621"/>
          </a:xfrm>
          <a:prstGeom prst="rect">
            <a:avLst/>
          </a:prstGeom>
          <a:noFill/>
          <a:ln>
            <a:solidFill>
              <a:srgbClr val="192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F01E08-0A9B-7E91-8C0B-A9ED1A106D90}"/>
              </a:ext>
            </a:extLst>
          </p:cNvPr>
          <p:cNvSpPr/>
          <p:nvPr/>
        </p:nvSpPr>
        <p:spPr>
          <a:xfrm>
            <a:off x="6524947" y="1247442"/>
            <a:ext cx="2433638" cy="3408621"/>
          </a:xfrm>
          <a:prstGeom prst="rect">
            <a:avLst/>
          </a:prstGeom>
          <a:noFill/>
          <a:ln>
            <a:solidFill>
              <a:srgbClr val="192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352414F-FA13-78E1-CD52-6EFDDCFCA861}"/>
              </a:ext>
            </a:extLst>
          </p:cNvPr>
          <p:cNvCxnSpPr/>
          <p:nvPr/>
        </p:nvCxnSpPr>
        <p:spPr>
          <a:xfrm>
            <a:off x="1550752" y="1786536"/>
            <a:ext cx="2023583" cy="0"/>
          </a:xfrm>
          <a:prstGeom prst="line">
            <a:avLst/>
          </a:prstGeom>
          <a:ln w="12700">
            <a:solidFill>
              <a:srgbClr val="1926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380BD4C-3330-7955-F17B-04D31BB59948}"/>
              </a:ext>
            </a:extLst>
          </p:cNvPr>
          <p:cNvCxnSpPr/>
          <p:nvPr/>
        </p:nvCxnSpPr>
        <p:spPr>
          <a:xfrm>
            <a:off x="4147009" y="1786536"/>
            <a:ext cx="2023583" cy="0"/>
          </a:xfrm>
          <a:prstGeom prst="line">
            <a:avLst/>
          </a:prstGeom>
          <a:ln w="12700">
            <a:solidFill>
              <a:srgbClr val="1926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DE870CE-6845-B591-EAA1-3793E29A5302}"/>
              </a:ext>
            </a:extLst>
          </p:cNvPr>
          <p:cNvCxnSpPr>
            <a:cxnSpLocks/>
          </p:cNvCxnSpPr>
          <p:nvPr/>
        </p:nvCxnSpPr>
        <p:spPr>
          <a:xfrm>
            <a:off x="6731184" y="1786536"/>
            <a:ext cx="2023583" cy="0"/>
          </a:xfrm>
          <a:prstGeom prst="line">
            <a:avLst/>
          </a:prstGeom>
          <a:ln w="12700">
            <a:solidFill>
              <a:srgbClr val="1926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8AD9CCA-8F5A-BA87-219F-69461E7E7B66}"/>
              </a:ext>
            </a:extLst>
          </p:cNvPr>
          <p:cNvSpPr txBox="1"/>
          <p:nvPr/>
        </p:nvSpPr>
        <p:spPr>
          <a:xfrm>
            <a:off x="1904283" y="1417204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가중치 조정</a:t>
            </a:r>
            <a:endParaRPr lang="en-US" altLang="ko-KR" sz="1800" b="1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DCE26A-F338-902A-1F96-6BCB29CA3050}"/>
              </a:ext>
            </a:extLst>
          </p:cNvPr>
          <p:cNvSpPr txBox="1"/>
          <p:nvPr/>
        </p:nvSpPr>
        <p:spPr>
          <a:xfrm>
            <a:off x="4034270" y="1419205"/>
            <a:ext cx="2242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Threshold(0.5) </a:t>
            </a:r>
            <a:r>
              <a:rPr lang="ko-KR" altLang="en-US" sz="18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조정</a:t>
            </a:r>
            <a:endParaRPr lang="en-US" altLang="ko-KR" sz="1800" b="1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07661B-3806-45ED-32F8-A2D7526697F4}"/>
              </a:ext>
            </a:extLst>
          </p:cNvPr>
          <p:cNvSpPr txBox="1"/>
          <p:nvPr/>
        </p:nvSpPr>
        <p:spPr>
          <a:xfrm>
            <a:off x="6726042" y="1417204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Feature Selection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3FEF032-86F3-B718-738B-3DF12A9E58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7430" y="1888382"/>
            <a:ext cx="2256595" cy="1078003"/>
          </a:xfrm>
          <a:prstGeom prst="rect">
            <a:avLst/>
          </a:prstGeom>
        </p:spPr>
      </p:pic>
      <p:sp>
        <p:nvSpPr>
          <p:cNvPr id="17" name="Google Shape;84;p15">
            <a:extLst>
              <a:ext uri="{FF2B5EF4-FFF2-40B4-BE49-F238E27FC236}">
                <a16:creationId xmlns:a16="http://schemas.microsoft.com/office/drawing/2014/main" id="{234F2B4F-6032-533E-5DA0-21FA97B199F4}"/>
              </a:ext>
            </a:extLst>
          </p:cNvPr>
          <p:cNvSpPr txBox="1"/>
          <p:nvPr/>
        </p:nvSpPr>
        <p:spPr>
          <a:xfrm>
            <a:off x="3932867" y="3180898"/>
            <a:ext cx="2433638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lnSpc>
                <a:spcPct val="115000"/>
              </a:lnSpc>
              <a:buFontTx/>
              <a:buChar char="-"/>
            </a:pPr>
            <a:r>
              <a:rPr 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Recall, Precision, F1 </a:t>
            </a: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고려 최고 </a:t>
            </a:r>
            <a:endParaRPr lang="en-US" altLang="ko-KR" sz="12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lvl="0">
              <a:lnSpc>
                <a:spcPct val="115000"/>
              </a:lnSpc>
            </a:pP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   </a:t>
            </a:r>
            <a:r>
              <a:rPr lang="en-US" altLang="ko-KR" sz="12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Threshold</a:t>
            </a:r>
            <a:r>
              <a:rPr lang="ko-KR" altLang="en-US" sz="12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인 </a:t>
            </a:r>
            <a:r>
              <a:rPr lang="en-US" altLang="ko-KR" sz="12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0.15</a:t>
            </a:r>
            <a:r>
              <a:rPr lang="ko-KR" altLang="en-US" sz="12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로</a:t>
            </a:r>
            <a:r>
              <a:rPr lang="en-US" altLang="ko-KR" sz="12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</a:t>
            </a:r>
            <a:r>
              <a:rPr lang="ko-KR" altLang="en-US" sz="12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결정</a:t>
            </a:r>
            <a:endParaRPr lang="en-US" altLang="ko-KR" sz="1200" b="1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171450" lvl="0" indent="-171450">
              <a:lnSpc>
                <a:spcPct val="115000"/>
              </a:lnSpc>
              <a:buFontTx/>
              <a:buChar char="-"/>
            </a:pP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Threshold </a:t>
            </a: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변화로 성능 상승</a:t>
            </a:r>
            <a:endParaRPr lang="en-US" altLang="ko-KR" sz="12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lvl="0">
              <a:lnSpc>
                <a:spcPct val="115000"/>
              </a:lnSpc>
            </a:pP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   Recall 0.17  </a:t>
            </a: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→ </a:t>
            </a: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0.77</a:t>
            </a:r>
          </a:p>
          <a:p>
            <a:pPr marL="171450" lvl="0" indent="-171450">
              <a:lnSpc>
                <a:spcPct val="115000"/>
              </a:lnSpc>
              <a:buFontTx/>
              <a:buChar char="-"/>
            </a:pP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피소 샘플 확률이 낮게 산출되어 </a:t>
            </a:r>
            <a:endParaRPr lang="en-US" altLang="ko-KR" sz="12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lvl="0">
              <a:lnSpc>
                <a:spcPct val="115000"/>
              </a:lnSpc>
            </a:pP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   Threshold </a:t>
            </a: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하향 조정 필요</a:t>
            </a:r>
            <a:endParaRPr lang="en-US" altLang="ko-KR" sz="12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EC77BCF-17B6-000C-F712-DB55D37634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5893" y="1855290"/>
            <a:ext cx="1852385" cy="1116742"/>
          </a:xfrm>
          <a:prstGeom prst="rect">
            <a:avLst/>
          </a:prstGeom>
        </p:spPr>
      </p:pic>
      <p:sp>
        <p:nvSpPr>
          <p:cNvPr id="22" name="Google Shape;84;p15">
            <a:extLst>
              <a:ext uri="{FF2B5EF4-FFF2-40B4-BE49-F238E27FC236}">
                <a16:creationId xmlns:a16="http://schemas.microsoft.com/office/drawing/2014/main" id="{1187484C-3D31-6851-3156-C132C0C09542}"/>
              </a:ext>
            </a:extLst>
          </p:cNvPr>
          <p:cNvSpPr txBox="1"/>
          <p:nvPr/>
        </p:nvSpPr>
        <p:spPr>
          <a:xfrm>
            <a:off x="1408974" y="845454"/>
            <a:ext cx="7457119" cy="45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목표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: Recall &gt; 0.70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최우선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,  Precision / AUC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추가 검토</a:t>
            </a:r>
            <a:endParaRPr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</p:txBody>
      </p:sp>
      <p:sp>
        <p:nvSpPr>
          <p:cNvPr id="25" name="Google Shape;84;p15">
            <a:extLst>
              <a:ext uri="{FF2B5EF4-FFF2-40B4-BE49-F238E27FC236}">
                <a16:creationId xmlns:a16="http://schemas.microsoft.com/office/drawing/2014/main" id="{C88B452A-6086-F58F-471E-B5DCB0232EB9}"/>
              </a:ext>
            </a:extLst>
          </p:cNvPr>
          <p:cNvSpPr txBox="1"/>
          <p:nvPr/>
        </p:nvSpPr>
        <p:spPr>
          <a:xfrm>
            <a:off x="1340787" y="3178474"/>
            <a:ext cx="2433638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lnSpc>
                <a:spcPct val="115000"/>
              </a:lnSpc>
              <a:buFontTx/>
              <a:buChar char="-"/>
            </a:pP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피소 샘플에 가중치 높일수록</a:t>
            </a:r>
            <a:endParaRPr lang="en-US" altLang="ko-KR" sz="12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lvl="0">
              <a:lnSpc>
                <a:spcPct val="115000"/>
              </a:lnSpc>
            </a:pPr>
            <a:r>
              <a:rPr 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   Recall</a:t>
            </a: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은 유지</a:t>
            </a: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, AUC</a:t>
            </a: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는 감소</a:t>
            </a:r>
            <a:endParaRPr lang="en-US" altLang="ko-KR" sz="12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171450" lvl="0" indent="-171450">
              <a:lnSpc>
                <a:spcPct val="115000"/>
              </a:lnSpc>
              <a:buFontTx/>
              <a:buChar char="-"/>
            </a:pP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가중치 조정은 역효과 판단</a:t>
            </a: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. </a:t>
            </a:r>
          </a:p>
          <a:p>
            <a:pPr lvl="0">
              <a:lnSpc>
                <a:spcPct val="115000"/>
              </a:lnSpc>
            </a:pP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   </a:t>
            </a:r>
            <a:r>
              <a:rPr lang="ko-KR" altLang="en-US" sz="12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최초 설정인 </a:t>
            </a:r>
            <a:r>
              <a:rPr lang="en-US" altLang="ko-KR" sz="12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‘balanced’ </a:t>
            </a:r>
            <a:r>
              <a:rPr lang="ko-KR" altLang="en-US" sz="12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결정</a:t>
            </a:r>
            <a:endParaRPr lang="en-US" altLang="ko-KR" sz="1200" b="1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171450" lvl="0" indent="-171450">
              <a:lnSpc>
                <a:spcPct val="115000"/>
              </a:lnSpc>
              <a:buFontTx/>
              <a:buChar char="-"/>
            </a:pP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가중치는 </a:t>
            </a: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Train </a:t>
            </a: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데이터 적용</a:t>
            </a:r>
            <a:endParaRPr lang="en-US" altLang="ko-KR" sz="12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lvl="0">
              <a:lnSpc>
                <a:spcPct val="115000"/>
              </a:lnSpc>
            </a:pP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   (Train</a:t>
            </a: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은 </a:t>
            </a: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75% </a:t>
            </a: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피소 샘플</a:t>
            </a: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)</a:t>
            </a:r>
          </a:p>
        </p:txBody>
      </p:sp>
      <p:sp>
        <p:nvSpPr>
          <p:cNvPr id="26" name="Google Shape;84;p15">
            <a:extLst>
              <a:ext uri="{FF2B5EF4-FFF2-40B4-BE49-F238E27FC236}">
                <a16:creationId xmlns:a16="http://schemas.microsoft.com/office/drawing/2014/main" id="{1BE61295-04BF-6B30-7E62-EAFFDC903045}"/>
              </a:ext>
            </a:extLst>
          </p:cNvPr>
          <p:cNvSpPr txBox="1"/>
          <p:nvPr/>
        </p:nvSpPr>
        <p:spPr>
          <a:xfrm>
            <a:off x="6512863" y="3178474"/>
            <a:ext cx="2433638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71450">
              <a:lnSpc>
                <a:spcPct val="115000"/>
              </a:lnSpc>
              <a:buFontTx/>
              <a:buChar char="-"/>
            </a:pPr>
            <a:r>
              <a:rPr lang="ko-KR" altLang="en-US" sz="12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</a:rPr>
              <a:t>중요도 하위 </a:t>
            </a:r>
            <a:r>
              <a:rPr lang="en-US" altLang="ko-KR" sz="12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</a:rPr>
              <a:t>2</a:t>
            </a:r>
            <a:r>
              <a:rPr lang="ko-KR" altLang="en-US" sz="12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</a:rPr>
              <a:t>개 피처 제거 </a:t>
            </a: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</a:rPr>
              <a:t>시 최고 </a:t>
            </a: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</a:rPr>
              <a:t>Recall / AUC </a:t>
            </a: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</a:rPr>
              <a:t>도출</a:t>
            </a:r>
            <a:endParaRPr lang="en-US" altLang="ko-KR" sz="12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</a:endParaRPr>
          </a:p>
          <a:p>
            <a:pPr marL="171450" lvl="0" indent="-171450">
              <a:lnSpc>
                <a:spcPct val="115000"/>
              </a:lnSpc>
              <a:buFontTx/>
              <a:buChar char="-"/>
            </a:pP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</a:rPr>
              <a:t>Recall</a:t>
            </a: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</a:rPr>
              <a:t> </a:t>
            </a: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</a:rPr>
              <a:t>0.77 </a:t>
            </a: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→ </a:t>
            </a: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0.92</a:t>
            </a:r>
            <a:endParaRPr lang="en-US" altLang="ko-KR" sz="12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</a:endParaRPr>
          </a:p>
          <a:p>
            <a:pPr lvl="0">
              <a:lnSpc>
                <a:spcPct val="115000"/>
              </a:lnSpc>
            </a:pP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</a:rPr>
              <a:t>    (4</a:t>
            </a: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</a:rPr>
              <a:t>개</a:t>
            </a: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</a:rPr>
              <a:t>, 6</a:t>
            </a: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</a:rPr>
              <a:t>개 제외 시 성능 감소</a:t>
            </a: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</a:rPr>
              <a:t>)</a:t>
            </a:r>
          </a:p>
          <a:p>
            <a:pPr marL="171450" lvl="0" indent="-171450">
              <a:lnSpc>
                <a:spcPct val="115000"/>
              </a:lnSpc>
              <a:buFontTx/>
              <a:buChar char="-"/>
            </a:pP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</a:rPr>
              <a:t>하위</a:t>
            </a: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</a:rPr>
              <a:t> 2</a:t>
            </a:r>
            <a:r>
              <a:rPr lang="ko-KR" altLang="en-US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</a:rPr>
              <a:t>개 피처는 분산이 너무 높거나 골고루 퍼져 있어 영향</a:t>
            </a:r>
            <a:r>
              <a:rPr lang="en-US" altLang="ko-KR" sz="12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</a:rPr>
              <a:t>x</a:t>
            </a: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585E1D47-C123-2DEE-5545-1C236BCF5E4E}"/>
              </a:ext>
            </a:extLst>
          </p:cNvPr>
          <p:cNvSpPr/>
          <p:nvPr/>
        </p:nvSpPr>
        <p:spPr>
          <a:xfrm>
            <a:off x="1352871" y="4735758"/>
            <a:ext cx="614609" cy="319228"/>
          </a:xfrm>
          <a:prstGeom prst="rightArrow">
            <a:avLst/>
          </a:prstGeom>
          <a:solidFill>
            <a:srgbClr val="1926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Google Shape;84;p15">
            <a:extLst>
              <a:ext uri="{FF2B5EF4-FFF2-40B4-BE49-F238E27FC236}">
                <a16:creationId xmlns:a16="http://schemas.microsoft.com/office/drawing/2014/main" id="{56A9F908-3C4E-7615-BC5C-4A837D38E238}"/>
              </a:ext>
            </a:extLst>
          </p:cNvPr>
          <p:cNvSpPr txBox="1"/>
          <p:nvPr/>
        </p:nvSpPr>
        <p:spPr>
          <a:xfrm>
            <a:off x="1967479" y="4661477"/>
            <a:ext cx="6722025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16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최종 조합 결과 → </a:t>
            </a:r>
            <a:r>
              <a:rPr lang="en-US" sz="16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Recall : 0.92  Precision : 0.48  AUC : 0.712</a:t>
            </a:r>
            <a:endParaRPr sz="16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476B417-79AD-CB4B-8F30-059E21E88F0E}"/>
              </a:ext>
            </a:extLst>
          </p:cNvPr>
          <p:cNvSpPr/>
          <p:nvPr/>
        </p:nvSpPr>
        <p:spPr>
          <a:xfrm>
            <a:off x="6652087" y="1885207"/>
            <a:ext cx="809201" cy="16766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306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B15C4770-F429-7B40-6627-94B1EBC4F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F907A665-B113-B460-7A80-0910E352B219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666927AC-C5C6-63CB-89E5-13BD0E5074C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>
            <a:extLst>
              <a:ext uri="{FF2B5EF4-FFF2-40B4-BE49-F238E27FC236}">
                <a16:creationId xmlns:a16="http://schemas.microsoft.com/office/drawing/2014/main" id="{C107203A-818A-0C9F-D24B-0023C38722E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>
            <a:extLst>
              <a:ext uri="{FF2B5EF4-FFF2-40B4-BE49-F238E27FC236}">
                <a16:creationId xmlns:a16="http://schemas.microsoft.com/office/drawing/2014/main" id="{C79FFE9D-DD95-6D1A-8CF5-6041DABBFDE4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ML</a:t>
            </a: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 학습 </a:t>
            </a:r>
            <a:r>
              <a:rPr lang="en-US" altLang="ko-KR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– LGBM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" name="Google Shape;84;p15">
            <a:extLst>
              <a:ext uri="{FF2B5EF4-FFF2-40B4-BE49-F238E27FC236}">
                <a16:creationId xmlns:a16="http://schemas.microsoft.com/office/drawing/2014/main" id="{AEDD8BED-F6DC-D730-8C64-9F3B07A05689}"/>
              </a:ext>
            </a:extLst>
          </p:cNvPr>
          <p:cNvSpPr txBox="1"/>
          <p:nvPr/>
        </p:nvSpPr>
        <p:spPr>
          <a:xfrm>
            <a:off x="1408974" y="845454"/>
            <a:ext cx="7457119" cy="71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de-DE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Rank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Averaging</a:t>
            </a: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Valid Threshold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2A0581-0CCF-4D70-0BD9-A08E97D9C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62" y="1771517"/>
            <a:ext cx="5843137" cy="280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18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8B3AB5E5-CF18-626B-3057-2DB682D61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ECEBF0CB-3E6D-67DC-3BDD-A9CAB16AB6CA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>
            <a:extLst>
              <a:ext uri="{FF2B5EF4-FFF2-40B4-BE49-F238E27FC236}">
                <a16:creationId xmlns:a16="http://schemas.microsoft.com/office/drawing/2014/main" id="{D57B663F-9A57-9815-5B77-9353F039AB5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>
            <a:extLst>
              <a:ext uri="{FF2B5EF4-FFF2-40B4-BE49-F238E27FC236}">
                <a16:creationId xmlns:a16="http://schemas.microsoft.com/office/drawing/2014/main" id="{5A094726-EF0F-E8AE-812D-FCF236F38C4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>
            <a:extLst>
              <a:ext uri="{FF2B5EF4-FFF2-40B4-BE49-F238E27FC236}">
                <a16:creationId xmlns:a16="http://schemas.microsoft.com/office/drawing/2014/main" id="{34F4F0E8-8EF3-790D-06AE-B7691D21F6F7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추후 단계 </a:t>
            </a:r>
            <a:r>
              <a:rPr lang="en-US" altLang="ko-KR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– </a:t>
            </a: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백테스트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" name="Google Shape;84;p15">
            <a:extLst>
              <a:ext uri="{FF2B5EF4-FFF2-40B4-BE49-F238E27FC236}">
                <a16:creationId xmlns:a16="http://schemas.microsoft.com/office/drawing/2014/main" id="{60EEA651-A59F-4F24-E6A2-966148553C9B}"/>
              </a:ext>
            </a:extLst>
          </p:cNvPr>
          <p:cNvSpPr txBox="1"/>
          <p:nvPr/>
        </p:nvSpPr>
        <p:spPr>
          <a:xfrm>
            <a:off x="1408974" y="845454"/>
            <a:ext cx="7457119" cy="2042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ML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모델 선택 후 실제로 반덤핑 발생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T-12 ~ T-1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시점의 리스크 스코어를 계산해서 경보의 역할로 기능하는 지를 검증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lvl="0">
              <a:lnSpc>
                <a:spcPct val="115000"/>
              </a:lnSpc>
            </a:pP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lvl="0">
              <a:lnSpc>
                <a:spcPct val="115000"/>
              </a:lnSpc>
            </a:pPr>
            <a:r>
              <a:rPr lang="en-US" altLang="ko-KR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Test </a:t>
            </a:r>
            <a:r>
              <a:rPr lang="ko-KR" altLang="en-US" sz="1500" b="1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데이터 고민</a:t>
            </a:r>
            <a:endParaRPr lang="en-US" altLang="ko-KR" sz="1500" b="1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WHO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반덤핑 이력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DB 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데이터 사용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GAN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으로 데이터 분포를 유지한 채 합성 데이터 만들어서 사용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  <a:p>
            <a:pPr marL="342900" lvl="0" indent="-342900">
              <a:lnSpc>
                <a:spcPct val="115000"/>
              </a:lnSpc>
              <a:buAutoNum type="arabicPeriod"/>
            </a:pP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Validation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을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Test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와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Validation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으로 나눠서 </a:t>
            </a:r>
            <a:r>
              <a:rPr lang="ko-KR" altLang="en-US" sz="1500" dirty="0" err="1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재학습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 후 </a:t>
            </a:r>
            <a:r>
              <a:rPr lang="en-US" altLang="ko-KR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Test</a:t>
            </a:r>
            <a:r>
              <a:rPr lang="ko-KR" altLang="en-US" sz="1500" dirty="0">
                <a:solidFill>
                  <a:srgbClr val="19264B"/>
                </a:solidFill>
                <a:latin typeface="Nanum Gothic" panose="020B0600000101010101" charset="-127"/>
                <a:ea typeface="Nanum Gothic" panose="020B0600000101010101" charset="-127"/>
                <a:cs typeface="NanumGothicExtraBold"/>
                <a:sym typeface="NanumGothicExtraBold"/>
              </a:rPr>
              <a:t>로 활용</a:t>
            </a:r>
            <a:endParaRPr lang="en-US" altLang="ko-KR" sz="1500" dirty="0">
              <a:solidFill>
                <a:srgbClr val="19264B"/>
              </a:solidFill>
              <a:latin typeface="Nanum Gothic" panose="020B0600000101010101" charset="-127"/>
              <a:ea typeface="Nanum Gothic" panose="020B0600000101010101" charset="-127"/>
              <a:cs typeface="NanumGothicExtraBold"/>
              <a:sym typeface="NanumGothic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08129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2082300" y="2110050"/>
            <a:ext cx="497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744</Words>
  <Application>Microsoft Office PowerPoint</Application>
  <PresentationFormat>화면 슬라이드 쇼(16:9)</PresentationFormat>
  <Paragraphs>106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Nanum Gothic</vt:lpstr>
      <vt:lpstr>menlo</vt:lpstr>
      <vt:lpstr>NanumGothicExtraBold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Jungmin Shin</cp:lastModifiedBy>
  <cp:revision>4</cp:revision>
  <dcterms:modified xsi:type="dcterms:W3CDTF">2026-05-26T05:59:56Z</dcterms:modified>
</cp:coreProperties>
</file>