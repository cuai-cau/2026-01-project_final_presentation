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autoCompressPictures="0">
  <p:sldMasterIdLst>
    <p:sldMasterId id="2147483659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Comments="0">
  <p:normalViewPr snapVertSplitter="1">
    <p:restoredLeft sz="12579"/>
    <p:restoredTop sz="90000"/>
  </p:normalViewPr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59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presProps" Target="presProps.xml"  /><Relationship Id="rId14" Type="http://schemas.openxmlformats.org/officeDocument/2006/relationships/viewProps" Target="viewProps.xml"  /><Relationship Id="rId15" Type="http://schemas.openxmlformats.org/officeDocument/2006/relationships/theme" Target="theme/theme1.xml"  /><Relationship Id="rId16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82" name="Google Shape;82;p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91" name="Google Shape;91;p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00" name="Google Shape;100;p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17" name="Google Shape;117;p4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37" name="Google Shape;137;p5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48" name="Google Shape;148;p6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64" name="Google Shape;164;p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78" name="Google Shape;178;p8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e4a1d10428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93" name="Google Shape;193;g3e4a1d10428_0_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07" name="Google Shape;207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.xml"  /><Relationship Id="rId3" Type="http://schemas.openxmlformats.org/officeDocument/2006/relationships/image" Target="../media/image1.png"  /><Relationship Id="rId4" Type="http://schemas.openxmlformats.org/officeDocument/2006/relationships/image" Target="../media/image2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3.png"  /><Relationship Id="rId4" Type="http://schemas.openxmlformats.org/officeDocument/2006/relationships/image" Target="../media/image4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3.xml"  /><Relationship Id="rId3" Type="http://schemas.openxmlformats.org/officeDocument/2006/relationships/image" Target="../media/image1.png"  /><Relationship Id="rId4" Type="http://schemas.openxmlformats.org/officeDocument/2006/relationships/image" Target="../media/image5.png"  /><Relationship Id="rId5" Type="http://schemas.openxmlformats.org/officeDocument/2006/relationships/image" Target="../media/image6.png"  /><Relationship Id="rId6" Type="http://schemas.openxmlformats.org/officeDocument/2006/relationships/image" Target="../media/image7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3.png"  /><Relationship Id="rId4" Type="http://schemas.openxmlformats.org/officeDocument/2006/relationships/image" Target="../media/image8.png"  /><Relationship Id="rId5" Type="http://schemas.openxmlformats.org/officeDocument/2006/relationships/image" Target="../media/image9.png"  /><Relationship Id="rId6" Type="http://schemas.openxmlformats.org/officeDocument/2006/relationships/image" Target="../media/image10.png"  /><Relationship Id="rId7" Type="http://schemas.openxmlformats.org/officeDocument/2006/relationships/image" Target="../media/image11.png"  /><Relationship Id="rId8" Type="http://schemas.openxmlformats.org/officeDocument/2006/relationships/image" Target="../media/image12.png"  /><Relationship Id="rId9" Type="http://schemas.openxmlformats.org/officeDocument/2006/relationships/image" Target="../media/image13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3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6.xml"  /><Relationship Id="rId3" Type="http://schemas.openxmlformats.org/officeDocument/2006/relationships/image" Target="../media/image1.png"  /><Relationship Id="rId4" Type="http://schemas.openxmlformats.org/officeDocument/2006/relationships/image" Target="../media/image14.png"  /><Relationship Id="rId5" Type="http://schemas.openxmlformats.org/officeDocument/2006/relationships/image" Target="../media/image15.png"  /><Relationship Id="rId6" Type="http://schemas.openxmlformats.org/officeDocument/2006/relationships/image" Target="../media/image16.png"  /><Relationship Id="rId7" Type="http://schemas.openxmlformats.org/officeDocument/2006/relationships/image" Target="../media/image17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7.xml"  /><Relationship Id="rId3" Type="http://schemas.openxmlformats.org/officeDocument/2006/relationships/image" Target="../media/image1.png"  /><Relationship Id="rId4" Type="http://schemas.openxmlformats.org/officeDocument/2006/relationships/image" Target="../media/image18.png"  /><Relationship Id="rId5" Type="http://schemas.openxmlformats.org/officeDocument/2006/relationships/image" Target="../media/image7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3.png"  /><Relationship Id="rId4" Type="http://schemas.openxmlformats.org/officeDocument/2006/relationships/image" Target="../media/image19.png"  /><Relationship Id="rId5" Type="http://schemas.openxmlformats.org/officeDocument/2006/relationships/image" Target="../media/image20.png"  /><Relationship Id="rId6" Type="http://schemas.openxmlformats.org/officeDocument/2006/relationships/image" Target="../media/image21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3.png"  /><Relationship Id="rId4" Type="http://schemas.openxmlformats.org/officeDocument/2006/relationships/image" Target="../media/image19.png"  /><Relationship Id="rId5" Type="http://schemas.openxmlformats.org/officeDocument/2006/relationships/image" Target="../media/image20.png"  /><Relationship Id="rId6" Type="http://schemas.openxmlformats.org/officeDocument/2006/relationships/image" Target="../media/image22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0.xml"  /><Relationship Id="rId3" Type="http://schemas.openxmlformats.org/officeDocument/2006/relationships/image" Target="../media/image1.png"  /><Relationship Id="rId4" Type="http://schemas.openxmlformats.org/officeDocument/2006/relationships/image" Target="../media/image23.png"  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Predicting F1 Pit Stops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1466850"/>
            <a:ext cx="11049000" cy="426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Kaggle Playground Series 머신러닝 프로젝트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2369790"/>
            <a:ext cx="11049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6310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E10600"/>
                </a:solidFill>
                <a:latin typeface="Noto Sans KR"/>
                <a:ea typeface="Noto Sans KR"/>
                <a:cs typeface="Noto Sans KR"/>
                <a:sym typeface="Noto Sans KR"/>
              </a:rPr>
              <a:t>Basic 4조 : 이경환, 강태혁, 인선우</a:t>
            </a:r>
            <a:endParaRPr/>
          </a:p>
        </p:txBody>
      </p:sp>
      <p:pic>
        <p:nvPicPr>
          <p:cNvPr descr="image.png" id="88" name="Google Shape;88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60961" y="2407890"/>
            <a:ext cx="163115" cy="209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/>
          <p:nvPr/>
        </p:nvPicPr>
        <p:blipFill rotWithShape="1">
          <a:blip r:embed="rId4">
            <a:alphaModFix/>
          </a:blip>
          <a:srcRect/>
          <a:stretch>
            <a:fillRect/>
          </a:stretch>
        </p:blipFill>
        <p:spPr>
          <a:xfrm>
            <a:off x="5873650" y="1217265"/>
            <a:ext cx="444549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1595437" y="2453878"/>
            <a:ext cx="9001125" cy="12799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600" b="0" i="0" u="none" strike="noStrike" cap="none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"Overfitting의 해결법은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600" b="1" i="0" u="none" strike="noStrike" cap="none">
                <a:solidFill>
                  <a:srgbClr val="00ff41"/>
                </a:solidFill>
                <a:latin typeface="Noto Sans KR"/>
                <a:ea typeface="Noto Sans KR"/>
                <a:cs typeface="Noto Sans KR"/>
                <a:sym typeface="Noto Sans KR"/>
              </a:rPr>
              <a:t>데이터를 늘리는 것이다.</a:t>
            </a:r>
            <a:r>
              <a:rPr lang="en-US" sz="3600" b="0" i="0" u="none" strike="noStrike" cap="none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"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1809750" y="4113162"/>
            <a:ext cx="8572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1" u="none" strike="noStrike" cap="none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— Prof. Andrew Ng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1809750" y="4760862"/>
            <a:ext cx="8572500" cy="6703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50" b="0" i="0" u="none" strike="noStrike" cap="non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데이터와 자원이 충분하다면, 모델을 복잡하게 설계하여 성능을 극한으로 끌어올려도 무방합니다.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2" name="Google Shape;10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2109043"/>
            <a:ext cx="533400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571500" y="2375743"/>
            <a:ext cx="5600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10600"/>
                </a:solidFill>
                <a:latin typeface="Noto Sans KR"/>
                <a:ea typeface="Noto Sans KR"/>
                <a:cs typeface="Noto Sans KR"/>
                <a:sym typeface="Noto Sans KR"/>
              </a:rPr>
              <a:t>Predicting Pit Stops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571500" y="2871043"/>
            <a:ext cx="5334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다음 랩에서 F1 드라이버가 피트인 할 것인지를 예측하는 이진 분류 태스크입니다.</a:t>
            </a:r>
            <a:endParaRPr/>
          </a:p>
        </p:txBody>
      </p:sp>
      <p:pic>
        <p:nvPicPr>
          <p:cNvPr descr="image.png" id="106" name="Google Shape;10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96025" y="2118568"/>
            <a:ext cx="5314950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952500" y="3766393"/>
            <a:ext cx="4953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데이터 규모:</a:t>
            </a:r>
            <a:r>
              <a:rPr b="0" i="0" lang="en-US" sz="1650" u="none" cap="none" strike="noStrike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 약 400,000개 샘플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952500" y="4290268"/>
            <a:ext cx="4953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클래스 불균형:</a:t>
            </a:r>
            <a:r>
              <a:rPr b="0" i="0" lang="en-US" sz="1650" u="none" cap="none" strike="noStrike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 True(1) : False(4) 비율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952500" y="4814143"/>
            <a:ext cx="4953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주요 변수:</a:t>
            </a:r>
            <a:r>
              <a:rPr b="0" i="0" lang="en-US" sz="1650" u="none" cap="none" strike="noStrike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 랩 타임, 타이어 상태, 스틴트 번호 등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762000" y="903535"/>
            <a:ext cx="114014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TASK &amp; DATA OVERVIEW</a:t>
            </a:r>
            <a:endParaRPr/>
          </a:p>
        </p:txBody>
      </p:sp>
      <p:sp>
        <p:nvSpPr>
          <p:cNvPr id="111" name="Google Shape;111;p15"/>
          <p:cNvSpPr/>
          <p:nvPr/>
        </p:nvSpPr>
        <p:spPr>
          <a:xfrm>
            <a:off x="571500" y="903535"/>
            <a:ext cx="57150" cy="4572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12" name="Google Shape;112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861643"/>
            <a:ext cx="103733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3" name="Google Shape;113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385518"/>
            <a:ext cx="103733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909393"/>
            <a:ext cx="103733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6" descr="image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 descr="image.png"/>
          <p:cNvPicPr/>
          <p:nvPr/>
        </p:nvPicPr>
        <p:blipFill rotWithShape="1">
          <a:blip r:embed="rId4">
            <a:alphaModFix/>
          </a:blip>
          <a:srcRect/>
          <a:stretch>
            <a:fillRect/>
          </a:stretch>
        </p:blipFill>
        <p:spPr>
          <a:xfrm>
            <a:off x="571500" y="2166193"/>
            <a:ext cx="3492549" cy="281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 descr="image.png"/>
          <p:cNvPicPr/>
          <p:nvPr/>
        </p:nvPicPr>
        <p:blipFill rotWithShape="1">
          <a:blip r:embed="rId5">
            <a:alphaModFix/>
          </a:blip>
          <a:srcRect/>
          <a:stretch>
            <a:fillRect/>
          </a:stretch>
        </p:blipFill>
        <p:spPr>
          <a:xfrm>
            <a:off x="4349799" y="2166193"/>
            <a:ext cx="3492549" cy="281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6" descr="image.png"/>
          <p:cNvPicPr/>
          <p:nvPr/>
        </p:nvPicPr>
        <p:blipFill rotWithShape="1">
          <a:blip r:embed="rId6">
            <a:alphaModFix/>
          </a:blip>
          <a:srcRect/>
          <a:stretch>
            <a:fillRect/>
          </a:stretch>
        </p:blipFill>
        <p:spPr>
          <a:xfrm>
            <a:off x="8128099" y="2166193"/>
            <a:ext cx="3492549" cy="28194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571500" y="5366593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500" b="1" i="0" u="none" strike="noStrike" cap="non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결과 결합: 세 모델의 예측치를 확률 기반 </a:t>
            </a:r>
            <a:r>
              <a:rPr lang="en-US" sz="1500" b="1" i="0" u="none" strike="noStrike" cap="none">
                <a:solidFill>
                  <a:srgbClr val="00ff41"/>
                </a:solidFill>
                <a:latin typeface="Noto Sans KR"/>
                <a:ea typeface="Noto Sans KR"/>
                <a:cs typeface="Noto Sans KR"/>
                <a:sym typeface="Noto Sans KR"/>
              </a:rPr>
              <a:t>Soft Voting</a:t>
            </a:r>
            <a:r>
              <a:rPr lang="en-US" sz="1500" b="1" i="0" u="none" strike="noStrike" cap="non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 앙상블 적용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834230" y="3318718"/>
            <a:ext cx="2967089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e10600"/>
                </a:solidFill>
                <a:latin typeface="Noto Sans KR"/>
                <a:ea typeface="Noto Sans KR"/>
                <a:cs typeface="Noto Sans KR"/>
                <a:sym typeface="Noto Sans KR"/>
              </a:rPr>
              <a:t>CatBoost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904875" y="3814018"/>
            <a:ext cx="2825799" cy="3388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4612529" y="3318718"/>
            <a:ext cx="2967089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e10600"/>
                </a:solidFill>
                <a:latin typeface="Noto Sans KR"/>
                <a:ea typeface="Noto Sans KR"/>
                <a:cs typeface="Noto Sans KR"/>
                <a:sym typeface="Noto Sans KR"/>
              </a:rPr>
              <a:t>XGBoost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4683174" y="3814018"/>
            <a:ext cx="2825799" cy="3388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8390829" y="3318718"/>
            <a:ext cx="2967089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e10600"/>
                </a:solidFill>
                <a:latin typeface="Noto Sans KR"/>
                <a:ea typeface="Noto Sans KR"/>
                <a:cs typeface="Noto Sans KR"/>
                <a:sym typeface="Noto Sans KR"/>
              </a:rPr>
              <a:t>LightGBM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8461474" y="3814018"/>
            <a:ext cx="2825799" cy="3388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30" name="Google Shape;130;p16" descr="image.png"/>
          <p:cNvPicPr/>
          <p:nvPr/>
        </p:nvPicPr>
        <p:blipFill rotWithShape="1">
          <a:blip r:embed="rId7">
            <a:alphaModFix/>
          </a:blip>
          <a:srcRect/>
          <a:stretch>
            <a:fillRect/>
          </a:stretch>
        </p:blipFill>
        <p:spPr>
          <a:xfrm>
            <a:off x="2132409" y="2537668"/>
            <a:ext cx="370582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/>
          <p:nvPr/>
        </p:nvPicPr>
        <p:blipFill rotWithShape="1">
          <a:blip r:embed="rId8">
            <a:alphaModFix/>
          </a:blip>
          <a:srcRect/>
          <a:stretch>
            <a:fillRect/>
          </a:stretch>
        </p:blipFill>
        <p:spPr>
          <a:xfrm>
            <a:off x="5910708" y="2537668"/>
            <a:ext cx="370582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/>
          <p:nvPr/>
        </p:nvPicPr>
        <p:blipFill rotWithShape="1">
          <a:blip r:embed="rId9">
            <a:alphaModFix/>
          </a:blip>
          <a:srcRect/>
          <a:stretch>
            <a:fillRect/>
          </a:stretch>
        </p:blipFill>
        <p:spPr>
          <a:xfrm>
            <a:off x="9689008" y="2537668"/>
            <a:ext cx="370582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762000" y="903535"/>
            <a:ext cx="1140142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1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MODELING STRATEGY: THE ENSEMBLE</a:t>
            </a:r>
            <a:endParaRPr/>
          </a:p>
        </p:txBody>
      </p:sp>
      <p:sp>
        <p:nvSpPr>
          <p:cNvPr id="134" name="Google Shape;134;p16"/>
          <p:cNvSpPr/>
          <p:nvPr/>
        </p:nvSpPr>
        <p:spPr>
          <a:xfrm>
            <a:off x="571500" y="903535"/>
            <a:ext cx="57150" cy="4572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17" descr="image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 txBox="1"/>
          <p:nvPr/>
        </p:nvSpPr>
        <p:spPr>
          <a:xfrm>
            <a:off x="571500" y="3166325"/>
            <a:ext cx="5650200" cy="161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0" b="1" i="0" u="none" strike="noStrike" cap="none">
                <a:solidFill>
                  <a:srgbClr val="00ff41"/>
                </a:solidFill>
                <a:latin typeface="Poppins"/>
                <a:ea typeface="Poppins"/>
                <a:cs typeface="Poppins"/>
                <a:sym typeface="Poppins"/>
              </a:rPr>
              <a:t>0.94387</a:t>
            </a:r>
            <a:endParaRPr/>
          </a:p>
        </p:txBody>
      </p:sp>
      <p:sp>
        <p:nvSpPr>
          <p:cNvPr id="141" name="Google Shape;141;p17"/>
          <p:cNvSpPr txBox="1"/>
          <p:nvPr/>
        </p:nvSpPr>
        <p:spPr>
          <a:xfrm>
            <a:off x="937914" y="4595068"/>
            <a:ext cx="482039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Base AUC Score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6491287" y="3318718"/>
            <a:ext cx="500062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e10600"/>
                </a:solidFill>
                <a:latin typeface="Noto Sans KR"/>
                <a:ea typeface="Noto Sans KR"/>
                <a:cs typeface="Noto Sans KR"/>
                <a:sym typeface="Noto Sans KR"/>
              </a:rPr>
              <a:t>준수한 출발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6491287" y="3871168"/>
            <a:ext cx="4896970" cy="72940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500" b="0" i="0" u="none" strike="noStrike" cap="non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앙상블 모델만으로도 0.94 수준의 높은 AUC 스코어를 달성했습니다.</a:t>
            </a:r>
            <a:r>
              <a:rPr lang="ko-KR" altLang="en-US" sz="1500" b="0" i="0" u="none" strike="noStrike" cap="non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 b="0" i="0" u="none" strike="noStrike" cap="non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하지만 더</a:t>
            </a:r>
            <a:r>
              <a:rPr lang="ko-KR" altLang="en-US" sz="1500" b="0" i="0" u="none" strike="noStrike" cap="non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 b="0" i="0" u="none" strike="noStrike" cap="non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성능을 개선할 수 있는 여지를 탐색했습니다.</a:t>
            </a:r>
            <a:endParaRPr lang="en-US" sz="1500" b="0" i="0" u="none" strike="noStrike" cap="none">
              <a:solidFill>
                <a:srgbClr val="cbd5e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44" name="Google Shape;144;p17"/>
          <p:cNvSpPr txBox="1"/>
          <p:nvPr/>
        </p:nvSpPr>
        <p:spPr>
          <a:xfrm>
            <a:off x="762000" y="903535"/>
            <a:ext cx="1140142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1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INITIAL BASELINE PERFORMANCE</a:t>
            </a:r>
            <a:endParaRPr/>
          </a:p>
        </p:txBody>
      </p:sp>
      <p:sp>
        <p:nvSpPr>
          <p:cNvPr id="145" name="Google Shape;145;p17"/>
          <p:cNvSpPr/>
          <p:nvPr/>
        </p:nvSpPr>
        <p:spPr>
          <a:xfrm>
            <a:off x="571500" y="903535"/>
            <a:ext cx="57150" cy="4572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0" name="Google Shape;1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1" name="Google Shape;15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28118"/>
            <a:ext cx="5334000" cy="3371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2" name="Google Shape;152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328118"/>
            <a:ext cx="5334000" cy="3371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Google Shape;153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2025" y="2718643"/>
            <a:ext cx="222349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8"/>
          <p:cNvSpPr txBox="1"/>
          <p:nvPr/>
        </p:nvSpPr>
        <p:spPr>
          <a:xfrm>
            <a:off x="962025" y="3461593"/>
            <a:ext cx="4780597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10600"/>
                </a:solidFill>
                <a:latin typeface="Noto Sans KR"/>
                <a:ea typeface="Noto Sans KR"/>
                <a:cs typeface="Noto Sans KR"/>
                <a:sym typeface="Noto Sans KR"/>
              </a:rPr>
              <a:t>피처 압축 시도</a:t>
            </a:r>
            <a:endParaRPr/>
          </a:p>
        </p:txBody>
      </p:sp>
      <p:sp>
        <p:nvSpPr>
          <p:cNvPr id="155" name="Google Shape;155;p18"/>
          <p:cNvSpPr txBox="1"/>
          <p:nvPr/>
        </p:nvSpPr>
        <p:spPr>
          <a:xfrm>
            <a:off x="962025" y="4014043"/>
            <a:ext cx="45529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타이어 피로도: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 TyreLife, Degradation, Stint를 2개로 압축</a:t>
            </a:r>
            <a:endParaRPr/>
          </a:p>
        </p:txBody>
      </p:sp>
      <p:sp>
        <p:nvSpPr>
          <p:cNvPr id="156" name="Google Shape;156;p18"/>
          <p:cNvSpPr txBox="1"/>
          <p:nvPr/>
        </p:nvSpPr>
        <p:spPr>
          <a:xfrm>
            <a:off x="962025" y="4814143"/>
            <a:ext cx="4552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속도 정보: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 LapTime, LapTime_Delta를 1개로 압축</a:t>
            </a:r>
            <a:endParaRPr/>
          </a:p>
        </p:txBody>
      </p:sp>
      <p:pic>
        <p:nvPicPr>
          <p:cNvPr descr="image.png" id="157" name="Google Shape;157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77025" y="2718643"/>
            <a:ext cx="222349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8"/>
          <p:cNvSpPr txBox="1"/>
          <p:nvPr/>
        </p:nvSpPr>
        <p:spPr>
          <a:xfrm>
            <a:off x="6677025" y="3461593"/>
            <a:ext cx="4780597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10600"/>
                </a:solidFill>
                <a:latin typeface="Noto Sans KR"/>
                <a:ea typeface="Noto Sans KR"/>
                <a:cs typeface="Noto Sans KR"/>
                <a:sym typeface="Noto Sans KR"/>
              </a:rPr>
              <a:t>결과: 성능 하락</a:t>
            </a:r>
            <a:endParaRPr/>
          </a:p>
        </p:txBody>
      </p:sp>
      <p:sp>
        <p:nvSpPr>
          <p:cNvPr id="159" name="Google Shape;159;p18"/>
          <p:cNvSpPr txBox="1"/>
          <p:nvPr/>
        </p:nvSpPr>
        <p:spPr>
          <a:xfrm>
            <a:off x="6677025" y="4014043"/>
            <a:ext cx="45529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AUC score가 </a:t>
            </a:r>
            <a:r>
              <a:rPr b="1" i="0" lang="en-US" sz="1500" u="none" cap="none" strike="noStrik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0.93835</a:t>
            </a:r>
            <a:r>
              <a:rPr b="0" i="0" lang="en-US" sz="1500" u="none" cap="none" strike="noStrik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로 감소했습니다. 차원 축소가 오히려 모델 성능에 독이 된 사례입니다.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762000" y="903535"/>
            <a:ext cx="114014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EXPERIMENT 1: DIMENSION REDUCTION (PCA)</a:t>
            </a: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571500" y="903535"/>
            <a:ext cx="57150" cy="4572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6" name="Google Shape;16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28155"/>
            <a:ext cx="11049000" cy="2771775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9"/>
          <p:cNvSpPr txBox="1"/>
          <p:nvPr/>
        </p:nvSpPr>
        <p:spPr>
          <a:xfrm>
            <a:off x="1333500" y="3161555"/>
            <a:ext cx="9906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정보량의 부족:</a:t>
            </a:r>
            <a:r>
              <a:rPr b="0" i="0" lang="en-US" sz="1650" u="none" cap="none" strike="noStrike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 방대한 데이터(40만 개)에 비해 피처를 압축하며 중요한 비선형 관계가 유실되었습니다.</a:t>
            </a:r>
            <a:endParaRPr/>
          </a:p>
        </p:txBody>
      </p:sp>
      <p:sp>
        <p:nvSpPr>
          <p:cNvPr id="169" name="Google Shape;169;p19"/>
          <p:cNvSpPr txBox="1"/>
          <p:nvPr/>
        </p:nvSpPr>
        <p:spPr>
          <a:xfrm>
            <a:off x="1333500" y="3685430"/>
            <a:ext cx="9906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데이터 풍요의 역설:</a:t>
            </a:r>
            <a:r>
              <a:rPr b="0" i="0" lang="en-US" sz="1650" u="none" cap="none" strike="noStrike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 데이터가 많을 때는 차원 축소보다 오히려 더 많은 피처를 생성하여 복잡성을 높여야 합니다.</a:t>
            </a:r>
            <a:endParaRPr/>
          </a:p>
        </p:txBody>
      </p:sp>
      <p:sp>
        <p:nvSpPr>
          <p:cNvPr id="170" name="Google Shape;170;p19"/>
          <p:cNvSpPr txBox="1"/>
          <p:nvPr/>
        </p:nvSpPr>
        <p:spPr>
          <a:xfrm>
            <a:off x="1333500" y="4495055"/>
            <a:ext cx="9906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전략 수정:</a:t>
            </a:r>
            <a:r>
              <a:rPr b="0" i="0" lang="en-US" sz="1650" u="none" cap="none" strike="noStrike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 단순화(Simple)가 아닌 복잡화(Complexity)로 방향을 전환했습니다.</a:t>
            </a:r>
            <a:endParaRPr/>
          </a:p>
        </p:txBody>
      </p:sp>
      <p:sp>
        <p:nvSpPr>
          <p:cNvPr id="171" name="Google Shape;171;p19"/>
          <p:cNvSpPr txBox="1"/>
          <p:nvPr/>
        </p:nvSpPr>
        <p:spPr>
          <a:xfrm>
            <a:off x="762000" y="903535"/>
            <a:ext cx="114014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WHY DID THE SCORE DROP?</a:t>
            </a:r>
            <a:endParaRPr/>
          </a:p>
        </p:txBody>
      </p:sp>
      <p:sp>
        <p:nvSpPr>
          <p:cNvPr id="172" name="Google Shape;172;p19"/>
          <p:cNvSpPr/>
          <p:nvPr/>
        </p:nvSpPr>
        <p:spPr>
          <a:xfrm>
            <a:off x="571500" y="903535"/>
            <a:ext cx="57150" cy="4572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73" name="Google Shape;173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52500" y="3256805"/>
            <a:ext cx="103733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4" name="Google Shape;17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52500" y="3780680"/>
            <a:ext cx="103733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5" name="Google Shape;175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52500" y="4590305"/>
            <a:ext cx="103733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20" descr="image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0"/>
          <p:cNvSpPr txBox="1"/>
          <p:nvPr/>
        </p:nvSpPr>
        <p:spPr>
          <a:xfrm>
            <a:off x="762000" y="903535"/>
            <a:ext cx="500062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1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EXPERIMENT 2: COMPLEXITY BOOST</a:t>
            </a:r>
            <a:endParaRPr/>
          </a:p>
        </p:txBody>
      </p:sp>
      <p:sp>
        <p:nvSpPr>
          <p:cNvPr id="182" name="Google Shape;182;p20"/>
          <p:cNvSpPr/>
          <p:nvPr/>
        </p:nvSpPr>
        <p:spPr>
          <a:xfrm>
            <a:off x="571500" y="903535"/>
            <a:ext cx="5715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0"/>
          <p:cNvSpPr txBox="1"/>
          <p:nvPr/>
        </p:nvSpPr>
        <p:spPr>
          <a:xfrm>
            <a:off x="571500" y="2198935"/>
            <a:ext cx="520065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e10600"/>
                </a:solidFill>
                <a:latin typeface="Noto Sans KR"/>
                <a:ea typeface="Noto Sans KR"/>
                <a:cs typeface="Noto Sans KR"/>
                <a:sym typeface="Noto Sans KR"/>
              </a:rPr>
              <a:t>Brute Force Feature Engineering</a:t>
            </a:r>
            <a:endParaRPr/>
          </a:p>
        </p:txBody>
      </p:sp>
      <p:sp>
        <p:nvSpPr>
          <p:cNvPr id="184" name="Google Shape;184;p20"/>
          <p:cNvSpPr txBox="1"/>
          <p:nvPr/>
        </p:nvSpPr>
        <p:spPr>
          <a:xfrm>
            <a:off x="571500" y="2694235"/>
            <a:ext cx="4953000" cy="23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500" b="0" i="0" u="none" strike="noStrike" cap="non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데이터가 많으므로 피처를 늘리는 전략을 취했습니다.</a:t>
            </a:r>
            <a:endParaRPr/>
          </a:p>
        </p:txBody>
      </p:sp>
      <p:sp>
        <p:nvSpPr>
          <p:cNvPr id="185" name="Google Shape;185;p20"/>
          <p:cNvSpPr txBox="1"/>
          <p:nvPr/>
        </p:nvSpPr>
        <p:spPr>
          <a:xfrm>
            <a:off x="885825" y="3979960"/>
            <a:ext cx="4572000" cy="254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50" b="0" i="0" u="none" strike="noStrike" cap="none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Polynomial Feature 생성</a:t>
            </a:r>
            <a:endParaRPr/>
          </a:p>
        </p:txBody>
      </p:sp>
      <p:pic>
        <p:nvPicPr>
          <p:cNvPr id="186" name="Google Shape;186;p20" descr="image.png"/>
          <p:cNvPicPr/>
          <p:nvPr/>
        </p:nvPicPr>
        <p:blipFill rotWithShape="1">
          <a:blip r:embed="rId4">
            <a:alphaModFix/>
          </a:blip>
          <a:srcRect/>
          <a:stretch>
            <a:fillRect/>
          </a:stretch>
        </p:blipFill>
        <p:spPr>
          <a:xfrm>
            <a:off x="6707050" y="-2426175"/>
            <a:ext cx="6096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0" descr="image.png"/>
          <p:cNvPicPr/>
          <p:nvPr/>
        </p:nvPicPr>
        <p:blipFill rotWithShape="1">
          <a:blip r:embed="rId5">
            <a:alphaModFix/>
          </a:blip>
          <a:srcRect/>
          <a:stretch>
            <a:fillRect/>
          </a:stretch>
        </p:blipFill>
        <p:spPr>
          <a:xfrm>
            <a:off x="571500" y="4113460"/>
            <a:ext cx="103733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0"/>
          <p:cNvPicPr/>
          <p:nvPr/>
        </p:nvPicPr>
        <p:blipFill rotWithShape="1">
          <a:blip r:embed="rId6">
            <a:alphaModFix/>
          </a:blip>
          <a:stretch>
            <a:fillRect/>
          </a:stretch>
        </p:blipFill>
        <p:spPr>
          <a:xfrm>
            <a:off x="5772150" y="847725"/>
            <a:ext cx="6391275" cy="426585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0"/>
          <p:cNvSpPr txBox="1"/>
          <p:nvPr/>
        </p:nvSpPr>
        <p:spPr>
          <a:xfrm>
            <a:off x="1279575" y="5488550"/>
            <a:ext cx="8281500" cy="6771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"/>
          <p:cNvSpPr/>
          <p:nvPr/>
        </p:nvSpPr>
        <p:spPr>
          <a:xfrm>
            <a:off x="711462" y="5090216"/>
            <a:ext cx="4202430" cy="57721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p>
            <a:pPr algn="l">
              <a:defRPr/>
            </a:pPr>
            <a:r>
              <a:rPr xmlns:mc="http://schemas.openxmlformats.org/markup-compatibility/2006" xmlns:hp="http://schemas.haansoft.com/office/presentation/8.0" sz="3200" b="0" i="0" strike="noStrike" mc:Ignorable="hp" hp:hslEmbossed="0">
                <a:solidFill>
                  <a:srgbClr val="ffffff">
                    <a:alpha val="100000"/>
                  </a:srgbClr>
                </a:solidFill>
                <a:latin typeface="Arial"/>
                <a:ea typeface="Calibri"/>
              </a:rPr>
              <a:t>AUC SCORE 0.94</a:t>
            </a:r>
            <a:r>
              <a:rPr xmlns:mc="http://schemas.openxmlformats.org/markup-compatibility/2006" xmlns:hp="http://schemas.haansoft.com/office/presentation/8.0" lang="en-US" altLang="ko-KR" sz="3200" b="0" i="0" strike="noStrike" mc:Ignorable="hp" hp:hslEmbossed="0">
                <a:solidFill>
                  <a:srgbClr val="ffffff">
                    <a:alpha val="100000"/>
                  </a:srgbClr>
                </a:solidFill>
                <a:latin typeface="Arial"/>
                <a:ea typeface="Calibri"/>
              </a:rPr>
              <a:t>916</a:t>
            </a:r>
            <a:endParaRPr xmlns:mc="http://schemas.openxmlformats.org/markup-compatibility/2006" xmlns:hp="http://schemas.haansoft.com/office/presentation/8.0" lang="en-US" altLang="ko-KR" sz="3200" b="0" i="0" strike="noStrike" mc:Ignorable="hp" hp:hslEmbossed="0">
              <a:solidFill>
                <a:srgbClr val="ffffff">
                  <a:alpha val="100000"/>
                </a:srgbClr>
              </a:solidFill>
              <a:latin typeface="Arial"/>
              <a:ea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21" descr="image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1"/>
          <p:cNvSpPr txBox="1"/>
          <p:nvPr/>
        </p:nvSpPr>
        <p:spPr>
          <a:xfrm>
            <a:off x="762000" y="903535"/>
            <a:ext cx="5000700" cy="95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1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EXPERIMENT </a:t>
            </a:r>
            <a:r>
              <a:rPr lang="en-US" sz="315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r>
              <a:rPr lang="en-US" sz="31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endParaRPr lang="en-US" sz="3150" b="1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31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Find Hyperparameter</a:t>
            </a:r>
            <a:endParaRPr lang="en-US" altLang="ko-KR" sz="3150" b="1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7" name="Google Shape;197;p21"/>
          <p:cNvSpPr/>
          <p:nvPr/>
        </p:nvSpPr>
        <p:spPr>
          <a:xfrm>
            <a:off x="571500" y="903535"/>
            <a:ext cx="573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1"/>
          <p:cNvSpPr txBox="1"/>
          <p:nvPr/>
        </p:nvSpPr>
        <p:spPr>
          <a:xfrm>
            <a:off x="571500" y="2198935"/>
            <a:ext cx="5200800" cy="215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9" name="Google Shape;199;p21"/>
          <p:cNvSpPr txBox="1"/>
          <p:nvPr/>
        </p:nvSpPr>
        <p:spPr>
          <a:xfrm>
            <a:off x="571500" y="2694235"/>
            <a:ext cx="4953000" cy="3537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500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최적의 </a:t>
            </a:r>
            <a:r>
              <a:rPr lang="ko-KR" altLang="en-US" sz="1500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하이퍼 </a:t>
            </a:r>
            <a:r>
              <a:rPr lang="en-US" sz="1500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파라미터 찾기</a:t>
            </a:r>
            <a:endParaRPr lang="en-US" sz="1500">
              <a:solidFill>
                <a:srgbClr val="cbd5e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200" name="Google Shape;200;p21"/>
          <p:cNvSpPr txBox="1"/>
          <p:nvPr/>
        </p:nvSpPr>
        <p:spPr>
          <a:xfrm>
            <a:off x="885825" y="3979960"/>
            <a:ext cx="4572000" cy="254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50">
                <a:solidFill>
                  <a:srgbClr val="f8fafc"/>
                </a:solidFill>
                <a:latin typeface="Noto Sans KR"/>
                <a:ea typeface="Noto Sans KR"/>
                <a:cs typeface="Noto Sans KR"/>
                <a:sym typeface="Noto Sans KR"/>
              </a:rPr>
              <a:t>다양한 학습률과 트리 크기 실험</a:t>
            </a:r>
            <a:endParaRPr/>
          </a:p>
        </p:txBody>
      </p:sp>
      <p:pic>
        <p:nvPicPr>
          <p:cNvPr id="201" name="Google Shape;201;p21" descr="image.png"/>
          <p:cNvPicPr/>
          <p:nvPr/>
        </p:nvPicPr>
        <p:blipFill rotWithShape="1">
          <a:blip r:embed="rId4">
            <a:alphaModFix/>
          </a:blip>
          <a:srcRect/>
          <a:stretch>
            <a:fillRect/>
          </a:stretch>
        </p:blipFill>
        <p:spPr>
          <a:xfrm>
            <a:off x="6707050" y="-2426175"/>
            <a:ext cx="6096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1" descr="image.png"/>
          <p:cNvPicPr/>
          <p:nvPr/>
        </p:nvPicPr>
        <p:blipFill rotWithShape="1">
          <a:blip r:embed="rId5">
            <a:alphaModFix/>
          </a:blip>
          <a:srcRect/>
          <a:stretch>
            <a:fillRect/>
          </a:stretch>
        </p:blipFill>
        <p:spPr>
          <a:xfrm>
            <a:off x="571500" y="4113460"/>
            <a:ext cx="103733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1"/>
          <p:cNvPicPr/>
          <p:nvPr/>
        </p:nvPicPr>
        <p:blipFill rotWithShape="1">
          <a:blip r:embed="rId6">
            <a:alphaModFix/>
          </a:blip>
          <a:stretch>
            <a:fillRect/>
          </a:stretch>
        </p:blipFill>
        <p:spPr>
          <a:xfrm>
            <a:off x="5686250" y="1374926"/>
            <a:ext cx="6096000" cy="3657569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1"/>
          <p:cNvSpPr txBox="1"/>
          <p:nvPr/>
        </p:nvSpPr>
        <p:spPr>
          <a:xfrm>
            <a:off x="628800" y="4741150"/>
            <a:ext cx="4572000" cy="6771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AUC SCORE 0.94916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9" name="Google Shape;209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2"/>
          <p:cNvSpPr txBox="1"/>
          <p:nvPr/>
        </p:nvSpPr>
        <p:spPr>
          <a:xfrm>
            <a:off x="295275" y="1203870"/>
            <a:ext cx="1160145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00FF41"/>
                </a:solidFill>
                <a:latin typeface="Noto Sans KR"/>
                <a:ea typeface="Noto Sans KR"/>
                <a:cs typeface="Noto Sans KR"/>
                <a:sym typeface="Noto Sans KR"/>
              </a:rPr>
              <a:t>Thank You</a:t>
            </a:r>
            <a:endParaRPr/>
          </a:p>
        </p:txBody>
      </p:sp>
      <p:sp>
        <p:nvSpPr>
          <p:cNvPr id="211" name="Google Shape;211;p22"/>
          <p:cNvSpPr txBox="1"/>
          <p:nvPr/>
        </p:nvSpPr>
        <p:spPr>
          <a:xfrm>
            <a:off x="571500" y="227067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F1 Pit Stop Prediction Project - Basic 4조</a:t>
            </a:r>
            <a:endParaRPr/>
          </a:p>
        </p:txBody>
      </p:sp>
      <p:pic>
        <p:nvPicPr>
          <p:cNvPr descr="image.png" id="212" name="Google Shape;212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55926" y="3204120"/>
            <a:ext cx="148232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236</ep:Words>
  <ep:PresentationFormat/>
  <ep:Paragraphs>44</ep:Paragraphs>
  <ep:Slides>10</ep:Slides>
  <ep:Notes>10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ep:HeadingPairs>
  <ep:TitlesOfParts>
    <vt:vector size="11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dick0</cp:lastModifiedBy>
  <dcterms:modified xsi:type="dcterms:W3CDTF">2026-05-26T07:52:33.400</dcterms:modified>
  <cp:revision>1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