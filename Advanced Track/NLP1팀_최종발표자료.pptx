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8" r:id="rId3"/>
    <p:sldId id="272" r:id="rId4"/>
    <p:sldId id="270" r:id="rId5"/>
    <p:sldId id="271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</p:sldIdLst>
  <p:sldSz cx="9144000" cy="5143500" type="screen16x9"/>
  <p:notesSz cx="6858000" cy="9144000"/>
  <p:embeddedFontLst>
    <p:embeddedFont>
      <p:font typeface="Nanum Gothic" pitchFamily="2" charset="-127"/>
      <p:regular r:id="rId17"/>
      <p:bold r:id="rId18"/>
    </p:embeddedFont>
    <p:embeddedFont>
      <p:font typeface="NanumGothicExtraBold" pitchFamily="2" charset="-127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15"/>
    <p:restoredTop sz="94664"/>
  </p:normalViewPr>
  <p:slideViewPr>
    <p:cSldViewPr snapToGrid="0">
      <p:cViewPr varScale="1">
        <p:scale>
          <a:sx n="116" d="100"/>
          <a:sy n="116" d="100"/>
        </p:scale>
        <p:origin x="184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878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NLP 1팀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2025.05.26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팀원 : 박태순 양희원 </a:t>
            </a:r>
            <a:r>
              <a:rPr lang="ko-KR" altLang="en-US" sz="1100" dirty="0">
                <a:solidFill>
                  <a:srgbClr val="19264B"/>
                </a:solidFill>
              </a:rPr>
              <a:t>최서윤 </a:t>
            </a:r>
            <a:r>
              <a:rPr lang="ko-KR" altLang="en-US" sz="1100" dirty="0" err="1">
                <a:solidFill>
                  <a:srgbClr val="19264B"/>
                </a:solidFill>
              </a:rPr>
              <a:t>홍성빈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10" name="TocContent"/>
          <p:cNvSpPr txBox="1"/>
          <p:nvPr/>
        </p:nvSpPr>
        <p:spPr>
          <a:xfrm>
            <a:off x="1408975" y="900000"/>
            <a:ext cx="8000000" cy="3811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sz="1600" b="1" dirty="0">
                <a:solidFill>
                  <a:srgbClr val="2D6DB5"/>
                </a:solidFill>
              </a:rPr>
              <a:t>0</a:t>
            </a:r>
            <a:r>
              <a:rPr lang="en-US" altLang="ko-KR" sz="1600" b="1" dirty="0">
                <a:solidFill>
                  <a:srgbClr val="2D6DB5"/>
                </a:solidFill>
              </a:rPr>
              <a:t>1</a:t>
            </a:r>
            <a:r>
              <a:rPr lang="ko-KR" sz="1600" b="1" dirty="0">
                <a:solidFill>
                  <a:srgbClr val="2D6DB5"/>
                </a:solidFill>
              </a:rPr>
              <a:t>  </a:t>
            </a:r>
            <a:r>
              <a:rPr lang="ko-KR" sz="1500" dirty="0">
                <a:solidFill>
                  <a:srgbClr val="19264B"/>
                </a:solidFill>
              </a:rPr>
              <a:t>프로젝트 전체 개요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sz="1600" b="1" dirty="0">
                <a:solidFill>
                  <a:srgbClr val="2D6DB5"/>
                </a:solidFill>
              </a:rPr>
              <a:t>0</a:t>
            </a:r>
            <a:r>
              <a:rPr lang="en-US" altLang="ko-KR" sz="1600" b="1" dirty="0">
                <a:solidFill>
                  <a:srgbClr val="2D6DB5"/>
                </a:solidFill>
              </a:rPr>
              <a:t>2</a:t>
            </a:r>
            <a:r>
              <a:rPr lang="ko-KR" sz="1600" b="1" dirty="0">
                <a:solidFill>
                  <a:srgbClr val="2D6DB5"/>
                </a:solidFill>
              </a:rPr>
              <a:t>  </a:t>
            </a:r>
            <a:r>
              <a:rPr lang="ko-KR" sz="1500" dirty="0" err="1">
                <a:solidFill>
                  <a:srgbClr val="19264B"/>
                </a:solidFill>
              </a:rPr>
              <a:t>Track</a:t>
            </a:r>
            <a:r>
              <a:rPr lang="ko-KR" sz="1500" dirty="0">
                <a:solidFill>
                  <a:srgbClr val="19264B"/>
                </a:solidFill>
              </a:rPr>
              <a:t> 1 · </a:t>
            </a:r>
            <a:r>
              <a:rPr lang="ko-KR" sz="1500" dirty="0" err="1">
                <a:solidFill>
                  <a:srgbClr val="19264B"/>
                </a:solidFill>
              </a:rPr>
              <a:t>Legal</a:t>
            </a:r>
            <a:r>
              <a:rPr lang="ko-KR" sz="1500" dirty="0">
                <a:solidFill>
                  <a:srgbClr val="19264B"/>
                </a:solidFill>
              </a:rPr>
              <a:t> IR 대회 소개 및 </a:t>
            </a:r>
            <a:r>
              <a:rPr lang="ko-KR" sz="1500" dirty="0" err="1">
                <a:solidFill>
                  <a:srgbClr val="19264B"/>
                </a:solidFill>
              </a:rPr>
              <a:t>Task</a:t>
            </a:r>
            <a:endParaRPr lang="ko-KR" sz="15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sz="1600" b="1" dirty="0">
                <a:solidFill>
                  <a:srgbClr val="2D6DB5"/>
                </a:solidFill>
              </a:rPr>
              <a:t>0</a:t>
            </a:r>
            <a:r>
              <a:rPr lang="en-US" altLang="ko-KR" sz="1600" b="1" dirty="0">
                <a:solidFill>
                  <a:srgbClr val="2D6DB5"/>
                </a:solidFill>
              </a:rPr>
              <a:t>3</a:t>
            </a:r>
            <a:r>
              <a:rPr lang="ko-KR" sz="1600" b="1" dirty="0">
                <a:solidFill>
                  <a:srgbClr val="2D6DB5"/>
                </a:solidFill>
              </a:rPr>
              <a:t>  </a:t>
            </a:r>
            <a:r>
              <a:rPr lang="ko-KR" sz="1500" dirty="0" err="1">
                <a:solidFill>
                  <a:srgbClr val="19264B"/>
                </a:solidFill>
              </a:rPr>
              <a:t>Track</a:t>
            </a:r>
            <a:r>
              <a:rPr lang="ko-KR" sz="1500" dirty="0">
                <a:solidFill>
                  <a:srgbClr val="19264B"/>
                </a:solidFill>
              </a:rPr>
              <a:t> 1 · 접근법: BGE-M3 + </a:t>
            </a:r>
            <a:r>
              <a:rPr lang="ko-KR" sz="1500" dirty="0" err="1">
                <a:solidFill>
                  <a:srgbClr val="19264B"/>
                </a:solidFill>
              </a:rPr>
              <a:t>Reranker</a:t>
            </a:r>
            <a:r>
              <a:rPr lang="ko-KR" sz="1500" dirty="0">
                <a:solidFill>
                  <a:srgbClr val="19264B"/>
                </a:solidFill>
              </a:rPr>
              <a:t> + </a:t>
            </a:r>
            <a:r>
              <a:rPr lang="ko-KR" sz="1500" dirty="0" err="1">
                <a:solidFill>
                  <a:srgbClr val="19264B"/>
                </a:solidFill>
              </a:rPr>
              <a:t>Rule-based</a:t>
            </a:r>
            <a:r>
              <a:rPr lang="ko-KR" sz="1500" dirty="0">
                <a:solidFill>
                  <a:srgbClr val="19264B"/>
                </a:solidFill>
              </a:rPr>
              <a:t> </a:t>
            </a:r>
            <a:r>
              <a:rPr lang="ko-KR" sz="1500" dirty="0" err="1">
                <a:solidFill>
                  <a:srgbClr val="19264B"/>
                </a:solidFill>
              </a:rPr>
              <a:t>Boost</a:t>
            </a:r>
            <a:endParaRPr lang="ko-KR" sz="15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sz="1600" b="1" dirty="0">
                <a:solidFill>
                  <a:srgbClr val="2D6DB5"/>
                </a:solidFill>
              </a:rPr>
              <a:t>0</a:t>
            </a:r>
            <a:r>
              <a:rPr lang="en-US" altLang="ko-KR" sz="1600" b="1" dirty="0">
                <a:solidFill>
                  <a:srgbClr val="2D6DB5"/>
                </a:solidFill>
              </a:rPr>
              <a:t>4</a:t>
            </a:r>
            <a:r>
              <a:rPr lang="ko-KR" sz="1600" b="1" dirty="0">
                <a:solidFill>
                  <a:srgbClr val="2D6DB5"/>
                </a:solidFill>
              </a:rPr>
              <a:t>  </a:t>
            </a:r>
            <a:r>
              <a:rPr lang="ko-KR" sz="1500" dirty="0" err="1">
                <a:solidFill>
                  <a:srgbClr val="19264B"/>
                </a:solidFill>
              </a:rPr>
              <a:t>Track</a:t>
            </a:r>
            <a:r>
              <a:rPr lang="ko-KR" sz="1500" dirty="0">
                <a:solidFill>
                  <a:srgbClr val="19264B"/>
                </a:solidFill>
              </a:rPr>
              <a:t> 1 · 실험 결과 및 한계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sz="1600" b="1" dirty="0">
                <a:solidFill>
                  <a:srgbClr val="2D6DB5"/>
                </a:solidFill>
              </a:rPr>
              <a:t>0</a:t>
            </a:r>
            <a:r>
              <a:rPr lang="en-US" altLang="ko-KR" sz="1600" b="1" dirty="0">
                <a:solidFill>
                  <a:srgbClr val="2D6DB5"/>
                </a:solidFill>
              </a:rPr>
              <a:t>5</a:t>
            </a:r>
            <a:r>
              <a:rPr lang="ko-KR" sz="1600" b="1" dirty="0">
                <a:solidFill>
                  <a:srgbClr val="2D6DB5"/>
                </a:solidFill>
              </a:rPr>
              <a:t>  </a:t>
            </a:r>
            <a:r>
              <a:rPr lang="ko-KR" sz="1500" dirty="0" err="1">
                <a:solidFill>
                  <a:srgbClr val="19264B"/>
                </a:solidFill>
              </a:rPr>
              <a:t>Track</a:t>
            </a:r>
            <a:r>
              <a:rPr lang="ko-KR" sz="1500" dirty="0">
                <a:solidFill>
                  <a:srgbClr val="19264B"/>
                </a:solidFill>
              </a:rPr>
              <a:t> 2 · 뉴스 제목 </a:t>
            </a:r>
            <a:r>
              <a:rPr lang="ko-KR" sz="1500" dirty="0" err="1">
                <a:solidFill>
                  <a:srgbClr val="19264B"/>
                </a:solidFill>
              </a:rPr>
              <a:t>과장·왜곡</a:t>
            </a:r>
            <a:r>
              <a:rPr lang="ko-KR" sz="1500" dirty="0">
                <a:solidFill>
                  <a:srgbClr val="19264B"/>
                </a:solidFill>
              </a:rPr>
              <a:t> 탐지 미니 프로젝트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sz="1600" b="1" dirty="0">
                <a:solidFill>
                  <a:srgbClr val="2D6DB5"/>
                </a:solidFill>
              </a:rPr>
              <a:t>0</a:t>
            </a:r>
            <a:r>
              <a:rPr lang="en-US" altLang="ko-KR" sz="1600" b="1" dirty="0">
                <a:solidFill>
                  <a:srgbClr val="2D6DB5"/>
                </a:solidFill>
              </a:rPr>
              <a:t>6</a:t>
            </a:r>
            <a:r>
              <a:rPr lang="ko-KR" sz="1600" b="1" dirty="0">
                <a:solidFill>
                  <a:srgbClr val="2D6DB5"/>
                </a:solidFill>
              </a:rPr>
              <a:t>  </a:t>
            </a:r>
            <a:r>
              <a:rPr lang="ko-KR" sz="1500" dirty="0" err="1">
                <a:solidFill>
                  <a:srgbClr val="19264B"/>
                </a:solidFill>
              </a:rPr>
              <a:t>Track</a:t>
            </a:r>
            <a:r>
              <a:rPr lang="ko-KR" sz="1500" dirty="0">
                <a:solidFill>
                  <a:srgbClr val="19264B"/>
                </a:solidFill>
              </a:rPr>
              <a:t> 2 · 예비실험 결과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sz="1600" b="1" dirty="0">
                <a:solidFill>
                  <a:srgbClr val="2D6DB5"/>
                </a:solidFill>
              </a:rPr>
              <a:t>0</a:t>
            </a:r>
            <a:r>
              <a:rPr lang="en-US" altLang="ko-KR" sz="1600" b="1" dirty="0">
                <a:solidFill>
                  <a:srgbClr val="2D6DB5"/>
                </a:solidFill>
              </a:rPr>
              <a:t>7</a:t>
            </a:r>
            <a:r>
              <a:rPr lang="ko-KR" sz="1600" b="1" dirty="0">
                <a:solidFill>
                  <a:srgbClr val="2D6DB5"/>
                </a:solidFill>
              </a:rPr>
              <a:t>  </a:t>
            </a:r>
            <a:r>
              <a:rPr lang="ko-KR" sz="1500" dirty="0">
                <a:solidFill>
                  <a:srgbClr val="19264B"/>
                </a:solidFill>
              </a:rPr>
              <a:t>향후 계획 및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NavyBar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WhiteLine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</p:cxnSp>
      <p:pic>
        <p:nvPicPr>
          <p:cNvPr id="203" name="TeamIm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TitleBox"/>
          <p:cNvSpPr txBox="1"/>
          <p:nvPr/>
        </p:nvSpPr>
        <p:spPr>
          <a:xfrm>
            <a:off x="1408975" y="306875"/>
            <a:ext cx="8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19264B"/>
                </a:solidFill>
                <a:latin typeface="NanumGothicExtraBold"/>
                <a:ea typeface="NanumGothicExtraBold"/>
              </a:rPr>
              <a:t>프로젝트 전체 개요</a:t>
            </a:r>
          </a:p>
        </p:txBody>
      </p:sp>
      <p:sp>
        <p:nvSpPr>
          <p:cNvPr id="205" name="ContentBox"/>
          <p:cNvSpPr txBox="1"/>
          <p:nvPr/>
        </p:nvSpPr>
        <p:spPr>
          <a:xfrm>
            <a:off x="1408975" y="900000"/>
            <a:ext cx="8000000" cy="3962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  <a:r>
              <a:rPr lang="ko-KR" sz="1500" b="1" dirty="0" err="1">
                <a:solidFill>
                  <a:srgbClr val="2D6DB5"/>
                </a:solidFill>
              </a:rPr>
              <a:t>Track</a:t>
            </a:r>
            <a:r>
              <a:rPr lang="ko-KR" sz="1500" b="1" dirty="0">
                <a:solidFill>
                  <a:srgbClr val="2D6DB5"/>
                </a:solidFill>
              </a:rPr>
              <a:t> 1  (메인)</a:t>
            </a:r>
          </a:p>
          <a:p>
            <a:pPr marL="0" lvl="0" indent="0" algn="l" rtl="0">
              <a:lnSpc>
                <a:spcPts val="3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350" dirty="0" err="1">
                <a:solidFill>
                  <a:srgbClr val="19264B"/>
                </a:solidFill>
              </a:rPr>
              <a:t>Kaggle</a:t>
            </a:r>
            <a:r>
              <a:rPr lang="ko-KR" sz="1350" dirty="0">
                <a:solidFill>
                  <a:srgbClr val="19264B"/>
                </a:solidFill>
              </a:rPr>
              <a:t> LLM </a:t>
            </a:r>
            <a:r>
              <a:rPr lang="ko-KR" sz="1350" dirty="0" err="1">
                <a:solidFill>
                  <a:srgbClr val="19264B"/>
                </a:solidFill>
              </a:rPr>
              <a:t>Agentic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Legal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Information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Retrieval</a:t>
            </a:r>
            <a:r>
              <a:rPr lang="ko-KR" sz="1350" dirty="0">
                <a:solidFill>
                  <a:srgbClr val="19264B"/>
                </a:solidFill>
              </a:rPr>
              <a:t> 대회 기반</a:t>
            </a: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법률 문서 검색 파이프라인 구축 및 실험</a:t>
            </a: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BGE-M3 </a:t>
            </a:r>
            <a:r>
              <a:rPr lang="ko-KR" sz="1300" dirty="0" err="1">
                <a:solidFill>
                  <a:srgbClr val="19264B"/>
                </a:solidFill>
              </a:rPr>
              <a:t>embedding</a:t>
            </a:r>
            <a:r>
              <a:rPr lang="ko-KR" sz="1300" dirty="0">
                <a:solidFill>
                  <a:srgbClr val="19264B"/>
                </a:solidFill>
              </a:rPr>
              <a:t> + </a:t>
            </a:r>
            <a:r>
              <a:rPr lang="ko-KR" sz="1300" dirty="0" err="1">
                <a:solidFill>
                  <a:srgbClr val="19264B"/>
                </a:solidFill>
              </a:rPr>
              <a:t>MiniLM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reranker</a:t>
            </a:r>
            <a:r>
              <a:rPr lang="ko-KR" sz="1300" dirty="0">
                <a:solidFill>
                  <a:srgbClr val="19264B"/>
                </a:solidFill>
              </a:rPr>
              <a:t> + </a:t>
            </a:r>
            <a:r>
              <a:rPr lang="ko-KR" sz="1300" dirty="0" err="1">
                <a:solidFill>
                  <a:srgbClr val="19264B"/>
                </a:solidFill>
              </a:rPr>
              <a:t>Rule-based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boost</a:t>
            </a:r>
            <a:endParaRPr lang="ko-KR" sz="13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Public </a:t>
            </a:r>
            <a:r>
              <a:rPr lang="ko-KR" sz="1300" dirty="0" err="1">
                <a:solidFill>
                  <a:srgbClr val="19264B"/>
                </a:solidFill>
              </a:rPr>
              <a:t>score</a:t>
            </a:r>
            <a:r>
              <a:rPr lang="ko-KR" sz="1300" dirty="0">
                <a:solidFill>
                  <a:srgbClr val="19264B"/>
                </a:solidFill>
              </a:rPr>
              <a:t> 개선 확인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ts val="3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500" b="1" dirty="0" err="1">
                <a:solidFill>
                  <a:srgbClr val="2D6DB5"/>
                </a:solidFill>
              </a:rPr>
              <a:t>Track</a:t>
            </a:r>
            <a:r>
              <a:rPr lang="ko-KR" sz="1500" b="1" dirty="0">
                <a:solidFill>
                  <a:srgbClr val="2D6DB5"/>
                </a:solidFill>
              </a:rPr>
              <a:t> 2  (미니 프로젝트 / 진행 중)</a:t>
            </a:r>
          </a:p>
          <a:p>
            <a:pPr marL="0" lvl="0" indent="0" algn="l" rtl="0">
              <a:lnSpc>
                <a:spcPts val="3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350" dirty="0">
                <a:solidFill>
                  <a:srgbClr val="19264B"/>
                </a:solidFill>
              </a:rPr>
              <a:t>AI-</a:t>
            </a:r>
            <a:r>
              <a:rPr lang="ko-KR" sz="1350" dirty="0" err="1">
                <a:solidFill>
                  <a:srgbClr val="19264B"/>
                </a:solidFill>
              </a:rPr>
              <a:t>Hub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낚시성</a:t>
            </a:r>
            <a:r>
              <a:rPr lang="ko-KR" sz="1350" dirty="0">
                <a:solidFill>
                  <a:srgbClr val="19264B"/>
                </a:solidFill>
              </a:rPr>
              <a:t> 기사 탐지 데이터 기반 </a:t>
            </a:r>
            <a:r>
              <a:rPr lang="ko-KR" altLang="en-US" sz="1350" dirty="0">
                <a:solidFill>
                  <a:srgbClr val="19264B"/>
                </a:solidFill>
              </a:rPr>
              <a:t>실험</a:t>
            </a:r>
            <a:endParaRPr lang="ko-KR" sz="135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뉴스 제목 </a:t>
            </a:r>
            <a:r>
              <a:rPr lang="ko-KR" sz="1300" dirty="0" err="1">
                <a:solidFill>
                  <a:srgbClr val="19264B"/>
                </a:solidFill>
              </a:rPr>
              <a:t>과장·왜곡</a:t>
            </a:r>
            <a:r>
              <a:rPr lang="ko-KR" sz="1300" dirty="0">
                <a:solidFill>
                  <a:srgbClr val="19264B"/>
                </a:solidFill>
              </a:rPr>
              <a:t> 탐지 설계: 제목 </a:t>
            </a:r>
            <a:r>
              <a:rPr lang="ko-KR" sz="1300" dirty="0" err="1">
                <a:solidFill>
                  <a:srgbClr val="19264B"/>
                </a:solidFill>
              </a:rPr>
              <a:t>vs</a:t>
            </a:r>
            <a:r>
              <a:rPr lang="ko-KR" sz="1300" dirty="0">
                <a:solidFill>
                  <a:srgbClr val="19264B"/>
                </a:solidFill>
              </a:rPr>
              <a:t> 본문 전체 / </a:t>
            </a:r>
            <a:r>
              <a:rPr lang="ko-KR" sz="1300" dirty="0" err="1">
                <a:solidFill>
                  <a:srgbClr val="19264B"/>
                </a:solidFill>
              </a:rPr>
              <a:t>첫문장</a:t>
            </a:r>
            <a:r>
              <a:rPr lang="ko-KR" sz="1300" dirty="0">
                <a:solidFill>
                  <a:srgbClr val="19264B"/>
                </a:solidFill>
              </a:rPr>
              <a:t> / LLM 요약문 비교</a:t>
            </a: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가공패턴유형 11~16 분류 예비실험 진행</a:t>
            </a: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GPU 미확보로 국가대표 LLM 기반 요약 비교 실험은 향후 과제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TeamIm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q1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q2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q3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3" name="WhiteLine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</a:ln>
        </p:spPr>
      </p:cxnSp>
      <p:sp>
        <p:nvSpPr>
          <p:cNvPr id="305" name="SectionTitle"/>
          <p:cNvSpPr txBox="1"/>
          <p:nvPr/>
        </p:nvSpPr>
        <p:spPr>
          <a:xfrm>
            <a:off x="2082300" y="1700000"/>
            <a:ext cx="600000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1">
                <a:solidFill>
                  <a:schemeClr val="lt1"/>
                </a:solidFill>
                <a:latin typeface="NanumGothicExtraBold"/>
                <a:ea typeface="NanumGothicExtraBold"/>
              </a:rPr>
              <a:t>Track 1</a:t>
            </a:r>
          </a:p>
        </p:txBody>
      </p:sp>
      <p:sp>
        <p:nvSpPr>
          <p:cNvPr id="304" name="SubtitleBox"/>
          <p:cNvSpPr txBox="1"/>
          <p:nvPr/>
        </p:nvSpPr>
        <p:spPr>
          <a:xfrm>
            <a:off x="2082300" y="2900000"/>
            <a:ext cx="60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lt1"/>
                </a:solidFill>
                <a:latin typeface="NanumGothicExtraBold"/>
                <a:ea typeface="NanumGothicExtraBold"/>
              </a:rPr>
              <a:t>Kaggle · LLM Agentic Legal Information Retrieval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NavyBar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WhiteLine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</p:cxnSp>
      <p:pic>
        <p:nvPicPr>
          <p:cNvPr id="203" name="TeamIm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TitleBox"/>
          <p:cNvSpPr txBox="1"/>
          <p:nvPr/>
        </p:nvSpPr>
        <p:spPr>
          <a:xfrm>
            <a:off x="1408975" y="306875"/>
            <a:ext cx="8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19264B"/>
                </a:solidFill>
                <a:latin typeface="NanumGothicExtraBold"/>
                <a:ea typeface="NanumGothicExtraBold"/>
              </a:rPr>
              <a:t>Kaggle 대회 소개 및 Task Overview</a:t>
            </a:r>
          </a:p>
        </p:txBody>
      </p:sp>
      <p:sp>
        <p:nvSpPr>
          <p:cNvPr id="205" name="ContentBox"/>
          <p:cNvSpPr txBox="1"/>
          <p:nvPr/>
        </p:nvSpPr>
        <p:spPr>
          <a:xfrm>
            <a:off x="1169690" y="908539"/>
            <a:ext cx="8000000" cy="398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대회 목표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>
                <a:solidFill>
                  <a:srgbClr val="19264B"/>
                </a:solidFill>
              </a:rPr>
              <a:t>영어 법률 질문 → 관련 스위스 법률 </a:t>
            </a:r>
            <a:r>
              <a:rPr lang="ko-KR" sz="1350" dirty="0" err="1">
                <a:solidFill>
                  <a:srgbClr val="19264B"/>
                </a:solidFill>
              </a:rPr>
              <a:t>citation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검색·제출</a:t>
            </a:r>
            <a:endParaRPr lang="ko-KR" sz="135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 err="1">
                <a:solidFill>
                  <a:srgbClr val="19264B"/>
                </a:solidFill>
              </a:rPr>
              <a:t>Evaluation</a:t>
            </a:r>
            <a:r>
              <a:rPr lang="ko-KR" sz="1350" dirty="0">
                <a:solidFill>
                  <a:srgbClr val="19264B"/>
                </a:solidFill>
              </a:rPr>
              <a:t>: </a:t>
            </a:r>
            <a:r>
              <a:rPr lang="ko-KR" sz="1350" dirty="0" err="1">
                <a:solidFill>
                  <a:srgbClr val="19264B"/>
                </a:solidFill>
              </a:rPr>
              <a:t>Citation-level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Macro</a:t>
            </a:r>
            <a:r>
              <a:rPr lang="ko-KR" sz="1350" dirty="0">
                <a:solidFill>
                  <a:srgbClr val="19264B"/>
                </a:solidFill>
              </a:rPr>
              <a:t> F1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 err="1">
                <a:solidFill>
                  <a:srgbClr val="19264B"/>
                </a:solidFill>
              </a:rPr>
              <a:t>citation</a:t>
            </a:r>
            <a:r>
              <a:rPr lang="ko-KR" sz="1350" dirty="0">
                <a:solidFill>
                  <a:srgbClr val="19264B"/>
                </a:solidFill>
              </a:rPr>
              <a:t> 문자열이 </a:t>
            </a:r>
            <a:r>
              <a:rPr lang="ko-KR" sz="1350" dirty="0" err="1">
                <a:solidFill>
                  <a:srgbClr val="19264B"/>
                </a:solidFill>
              </a:rPr>
              <a:t>corpus와</a:t>
            </a:r>
            <a:r>
              <a:rPr lang="ko-KR" sz="1350" dirty="0">
                <a:solidFill>
                  <a:srgbClr val="19264B"/>
                </a:solidFill>
              </a:rPr>
              <a:t> 정확히 일치해야 정답 인정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</a:t>
            </a:r>
            <a:r>
              <a:rPr lang="ko-KR" sz="1500" b="1" dirty="0" err="1">
                <a:solidFill>
                  <a:srgbClr val="2D6DB5"/>
                </a:solidFill>
              </a:rPr>
              <a:t>Task</a:t>
            </a:r>
            <a:r>
              <a:rPr lang="ko-KR" sz="1500" b="1" dirty="0">
                <a:solidFill>
                  <a:srgbClr val="2D6DB5"/>
                </a:solidFill>
              </a:rPr>
              <a:t> 특징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 err="1">
                <a:solidFill>
                  <a:srgbClr val="19264B"/>
                </a:solidFill>
              </a:rPr>
              <a:t>Input</a:t>
            </a:r>
            <a:r>
              <a:rPr lang="ko-KR" sz="1350" dirty="0">
                <a:solidFill>
                  <a:srgbClr val="19264B"/>
                </a:solidFill>
              </a:rPr>
              <a:t>: 영어 법률 질문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 err="1">
                <a:solidFill>
                  <a:srgbClr val="19264B"/>
                </a:solidFill>
              </a:rPr>
              <a:t>Corpus</a:t>
            </a:r>
            <a:r>
              <a:rPr lang="ko-KR" sz="1350" dirty="0">
                <a:solidFill>
                  <a:srgbClr val="19264B"/>
                </a:solidFill>
              </a:rPr>
              <a:t>: 스위스 연방법 조문 (</a:t>
            </a:r>
            <a:r>
              <a:rPr lang="ko-KR" sz="1350" dirty="0" err="1">
                <a:solidFill>
                  <a:srgbClr val="19264B"/>
                </a:solidFill>
              </a:rPr>
              <a:t>laws_de</a:t>
            </a:r>
            <a:r>
              <a:rPr lang="ko-KR" sz="1350" dirty="0">
                <a:solidFill>
                  <a:srgbClr val="19264B"/>
                </a:solidFill>
              </a:rPr>
              <a:t>) + 연방법원 판결 근거 (</a:t>
            </a:r>
            <a:r>
              <a:rPr lang="ko-KR" sz="1350" dirty="0" err="1">
                <a:solidFill>
                  <a:srgbClr val="19264B"/>
                </a:solidFill>
              </a:rPr>
              <a:t>court_considerations</a:t>
            </a:r>
            <a:r>
              <a:rPr lang="ko-KR" sz="1350" dirty="0">
                <a:solidFill>
                  <a:srgbClr val="19264B"/>
                </a:solidFill>
              </a:rPr>
              <a:t>)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 err="1">
                <a:solidFill>
                  <a:srgbClr val="19264B"/>
                </a:solidFill>
              </a:rPr>
              <a:t>Output</a:t>
            </a:r>
            <a:r>
              <a:rPr lang="ko-KR" sz="1350" dirty="0">
                <a:solidFill>
                  <a:srgbClr val="19264B"/>
                </a:solidFill>
              </a:rPr>
              <a:t>: 관련 </a:t>
            </a:r>
            <a:r>
              <a:rPr lang="ko-KR" sz="1350" dirty="0" err="1">
                <a:solidFill>
                  <a:srgbClr val="19264B"/>
                </a:solidFill>
              </a:rPr>
              <a:t>citation</a:t>
            </a:r>
            <a:r>
              <a:rPr lang="ko-KR" sz="1350" dirty="0">
                <a:solidFill>
                  <a:srgbClr val="19264B"/>
                </a:solidFill>
              </a:rPr>
              <a:t> 목록 (세미콜론 구분)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 err="1">
                <a:solidFill>
                  <a:srgbClr val="19264B"/>
                </a:solidFill>
              </a:rPr>
              <a:t>Citation</a:t>
            </a:r>
            <a:r>
              <a:rPr lang="ko-KR" sz="1350" dirty="0">
                <a:solidFill>
                  <a:srgbClr val="19264B"/>
                </a:solidFill>
              </a:rPr>
              <a:t> 언어: 주로 독일어 기반 → 영어 질문 × 독일어 </a:t>
            </a:r>
            <a:r>
              <a:rPr lang="ko-KR" sz="1350" dirty="0" err="1">
                <a:solidFill>
                  <a:srgbClr val="19264B"/>
                </a:solidFill>
              </a:rPr>
              <a:t>citation</a:t>
            </a:r>
            <a:r>
              <a:rPr lang="ko-KR" sz="1350" dirty="0">
                <a:solidFill>
                  <a:srgbClr val="19264B"/>
                </a:solidFill>
              </a:rPr>
              <a:t> = </a:t>
            </a:r>
            <a:r>
              <a:rPr lang="ko-KR" sz="1350" dirty="0" err="1">
                <a:solidFill>
                  <a:srgbClr val="19264B"/>
                </a:solidFill>
              </a:rPr>
              <a:t>Cross-lingual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Retrieval</a:t>
            </a:r>
            <a:endParaRPr lang="ko-KR" sz="135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데이터 구성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 err="1">
                <a:solidFill>
                  <a:srgbClr val="19264B"/>
                </a:solidFill>
              </a:rPr>
              <a:t>train.csv</a:t>
            </a:r>
            <a:r>
              <a:rPr lang="ko-KR" sz="1350" dirty="0">
                <a:solidFill>
                  <a:srgbClr val="19264B"/>
                </a:solidFill>
              </a:rPr>
              <a:t> (1,139행): </a:t>
            </a:r>
            <a:r>
              <a:rPr lang="ko-KR" sz="1350" dirty="0" err="1">
                <a:solidFill>
                  <a:srgbClr val="19264B"/>
                </a:solidFill>
              </a:rPr>
              <a:t>query</a:t>
            </a:r>
            <a:r>
              <a:rPr lang="ko-KR" sz="1350" dirty="0">
                <a:solidFill>
                  <a:srgbClr val="19264B"/>
                </a:solidFill>
              </a:rPr>
              <a:t> + </a:t>
            </a:r>
            <a:r>
              <a:rPr lang="ko-KR" sz="1350" dirty="0" err="1">
                <a:solidFill>
                  <a:srgbClr val="19264B"/>
                </a:solidFill>
              </a:rPr>
              <a:t>gold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citations</a:t>
            </a:r>
            <a:r>
              <a:rPr lang="ko-KR" sz="1350" dirty="0">
                <a:solidFill>
                  <a:srgbClr val="19264B"/>
                </a:solidFill>
              </a:rPr>
              <a:t>   |   </a:t>
            </a:r>
            <a:r>
              <a:rPr lang="ko-KR" sz="1350" dirty="0" err="1">
                <a:solidFill>
                  <a:srgbClr val="19264B"/>
                </a:solidFill>
              </a:rPr>
              <a:t>val.csv</a:t>
            </a:r>
            <a:r>
              <a:rPr lang="ko-KR" sz="1350" dirty="0">
                <a:solidFill>
                  <a:srgbClr val="19264B"/>
                </a:solidFill>
              </a:rPr>
              <a:t> (10행): </a:t>
            </a:r>
            <a:r>
              <a:rPr lang="ko-KR" sz="1350" dirty="0" err="1">
                <a:solidFill>
                  <a:srgbClr val="19264B"/>
                </a:solidFill>
              </a:rPr>
              <a:t>query</a:t>
            </a:r>
            <a:r>
              <a:rPr lang="ko-KR" sz="1350" dirty="0">
                <a:solidFill>
                  <a:srgbClr val="19264B"/>
                </a:solidFill>
              </a:rPr>
              <a:t> + </a:t>
            </a:r>
            <a:r>
              <a:rPr lang="ko-KR" sz="1350" dirty="0" err="1">
                <a:solidFill>
                  <a:srgbClr val="19264B"/>
                </a:solidFill>
              </a:rPr>
              <a:t>gold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citations</a:t>
            </a:r>
            <a:endParaRPr lang="ko-KR" sz="135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 err="1">
                <a:solidFill>
                  <a:srgbClr val="19264B"/>
                </a:solidFill>
              </a:rPr>
              <a:t>test.csv</a:t>
            </a:r>
            <a:r>
              <a:rPr lang="ko-KR" sz="1350" dirty="0">
                <a:solidFill>
                  <a:srgbClr val="19264B"/>
                </a:solidFill>
              </a:rPr>
              <a:t> (40행): </a:t>
            </a:r>
            <a:r>
              <a:rPr lang="ko-KR" sz="1350" dirty="0" err="1">
                <a:solidFill>
                  <a:srgbClr val="19264B"/>
                </a:solidFill>
              </a:rPr>
              <a:t>query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only</a:t>
            </a:r>
            <a:r>
              <a:rPr lang="ko-KR" sz="1350" dirty="0">
                <a:solidFill>
                  <a:srgbClr val="19264B"/>
                </a:solidFill>
              </a:rPr>
              <a:t>   |   </a:t>
            </a:r>
            <a:r>
              <a:rPr lang="ko-KR" sz="1350" dirty="0" err="1">
                <a:solidFill>
                  <a:srgbClr val="19264B"/>
                </a:solidFill>
              </a:rPr>
              <a:t>laws_de.csv</a:t>
            </a:r>
            <a:r>
              <a:rPr lang="ko-KR" sz="1350" dirty="0">
                <a:solidFill>
                  <a:srgbClr val="19264B"/>
                </a:solidFill>
              </a:rPr>
              <a:t> (175,933행)   |   </a:t>
            </a:r>
            <a:r>
              <a:rPr lang="ko-KR" sz="1350" dirty="0" err="1">
                <a:solidFill>
                  <a:srgbClr val="19264B"/>
                </a:solidFill>
              </a:rPr>
              <a:t>court_considerations.csv</a:t>
            </a:r>
            <a:r>
              <a:rPr lang="ko-KR" sz="1350" dirty="0">
                <a:solidFill>
                  <a:srgbClr val="19264B"/>
                </a:solidFill>
              </a:rPr>
              <a:t> (2,476,315행)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NavyBar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WhiteLine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</p:cxnSp>
      <p:pic>
        <p:nvPicPr>
          <p:cNvPr id="203" name="TeamIm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TitleBox"/>
          <p:cNvSpPr txBox="1"/>
          <p:nvPr/>
        </p:nvSpPr>
        <p:spPr>
          <a:xfrm>
            <a:off x="1408975" y="306875"/>
            <a:ext cx="8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19264B"/>
                </a:solidFill>
                <a:latin typeface="NanumGothicExtraBold"/>
                <a:ea typeface="NanumGothicExtraBold"/>
              </a:rPr>
              <a:t>접근법: BGE-M3 + Reranker + Rule-based Boost</a:t>
            </a:r>
          </a:p>
        </p:txBody>
      </p:sp>
      <p:sp>
        <p:nvSpPr>
          <p:cNvPr id="205" name="ContentBox"/>
          <p:cNvSpPr txBox="1"/>
          <p:nvPr/>
        </p:nvSpPr>
        <p:spPr>
          <a:xfrm>
            <a:off x="1366245" y="831635"/>
            <a:ext cx="8000000" cy="4172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BGE-M3 </a:t>
            </a:r>
            <a:r>
              <a:rPr lang="ko-KR" sz="1500" b="1" dirty="0" err="1">
                <a:solidFill>
                  <a:srgbClr val="2D6DB5"/>
                </a:solidFill>
              </a:rPr>
              <a:t>Embedding</a:t>
            </a:r>
            <a:r>
              <a:rPr lang="ko-KR" sz="1500" b="1" dirty="0">
                <a:solidFill>
                  <a:srgbClr val="2D6DB5"/>
                </a:solidFill>
              </a:rPr>
              <a:t> 기반 </a:t>
            </a:r>
            <a:r>
              <a:rPr lang="ko-KR" sz="1500" b="1" dirty="0" err="1">
                <a:solidFill>
                  <a:srgbClr val="2D6DB5"/>
                </a:solidFill>
              </a:rPr>
              <a:t>Dense</a:t>
            </a:r>
            <a:r>
              <a:rPr lang="ko-KR" sz="1500" b="1" dirty="0">
                <a:solidFill>
                  <a:srgbClr val="2D6DB5"/>
                </a:solidFill>
              </a:rPr>
              <a:t> </a:t>
            </a:r>
            <a:r>
              <a:rPr lang="ko-KR" sz="1500" b="1" dirty="0" err="1">
                <a:solidFill>
                  <a:srgbClr val="2D6DB5"/>
                </a:solidFill>
              </a:rPr>
              <a:t>Retrieval</a:t>
            </a:r>
            <a:endParaRPr lang="ko-KR" sz="1500" b="1" dirty="0">
              <a:solidFill>
                <a:srgbClr val="2D6DB5"/>
              </a:solidFill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모델: BAAI/bge-m3  — </a:t>
            </a:r>
            <a:r>
              <a:rPr lang="ko-KR" sz="1300" dirty="0" err="1">
                <a:solidFill>
                  <a:srgbClr val="19264B"/>
                </a:solidFill>
              </a:rPr>
              <a:t>multilingual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retrieval에</a:t>
            </a:r>
            <a:r>
              <a:rPr lang="ko-KR" sz="1300" dirty="0">
                <a:solidFill>
                  <a:srgbClr val="19264B"/>
                </a:solidFill>
              </a:rPr>
              <a:t> 강함, </a:t>
            </a:r>
            <a:r>
              <a:rPr lang="ko-KR" sz="1300" dirty="0" err="1">
                <a:solidFill>
                  <a:srgbClr val="19264B"/>
                </a:solidFill>
              </a:rPr>
              <a:t>영어↔독일어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cross-lingual</a:t>
            </a:r>
            <a:r>
              <a:rPr lang="ko-KR" sz="1300" dirty="0">
                <a:solidFill>
                  <a:srgbClr val="19264B"/>
                </a:solidFill>
              </a:rPr>
              <a:t> 검색에 적합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laws_de</a:t>
            </a:r>
            <a:r>
              <a:rPr lang="ko-KR" sz="1300" dirty="0">
                <a:solidFill>
                  <a:srgbClr val="19264B"/>
                </a:solidFill>
              </a:rPr>
              <a:t> 입력: </a:t>
            </a:r>
            <a:r>
              <a:rPr lang="ko-KR" sz="1300" dirty="0" err="1">
                <a:solidFill>
                  <a:srgbClr val="19264B"/>
                </a:solidFill>
              </a:rPr>
              <a:t>citation</a:t>
            </a:r>
            <a:r>
              <a:rPr lang="ko-KR" sz="1300" dirty="0">
                <a:solidFill>
                  <a:srgbClr val="19264B"/>
                </a:solidFill>
              </a:rPr>
              <a:t> + </a:t>
            </a:r>
            <a:r>
              <a:rPr lang="ko-KR" sz="1300" dirty="0" err="1">
                <a:solidFill>
                  <a:srgbClr val="19264B"/>
                </a:solidFill>
              </a:rPr>
              <a:t>title</a:t>
            </a:r>
            <a:r>
              <a:rPr lang="ko-KR" sz="1300" dirty="0">
                <a:solidFill>
                  <a:srgbClr val="19264B"/>
                </a:solidFill>
              </a:rPr>
              <a:t> + </a:t>
            </a:r>
            <a:r>
              <a:rPr lang="ko-KR" sz="1300" dirty="0" err="1">
                <a:solidFill>
                  <a:srgbClr val="19264B"/>
                </a:solidFill>
              </a:rPr>
              <a:t>text</a:t>
            </a:r>
            <a:r>
              <a:rPr lang="ko-KR" sz="1300" dirty="0">
                <a:solidFill>
                  <a:srgbClr val="19264B"/>
                </a:solidFill>
              </a:rPr>
              <a:t>   |   </a:t>
            </a:r>
            <a:r>
              <a:rPr lang="ko-KR" sz="1300" dirty="0" err="1">
                <a:solidFill>
                  <a:srgbClr val="19264B"/>
                </a:solidFill>
              </a:rPr>
              <a:t>court</a:t>
            </a:r>
            <a:r>
              <a:rPr lang="ko-KR" sz="1300" dirty="0">
                <a:solidFill>
                  <a:srgbClr val="19264B"/>
                </a:solidFill>
              </a:rPr>
              <a:t> 입력: </a:t>
            </a:r>
            <a:r>
              <a:rPr lang="ko-KR" sz="1300" dirty="0" err="1">
                <a:solidFill>
                  <a:srgbClr val="19264B"/>
                </a:solidFill>
              </a:rPr>
              <a:t>citation</a:t>
            </a:r>
            <a:r>
              <a:rPr lang="ko-KR" sz="1300" dirty="0">
                <a:solidFill>
                  <a:srgbClr val="19264B"/>
                </a:solidFill>
              </a:rPr>
              <a:t> + </a:t>
            </a:r>
            <a:r>
              <a:rPr lang="ko-KR" sz="1300" dirty="0" err="1">
                <a:solidFill>
                  <a:srgbClr val="19264B"/>
                </a:solidFill>
              </a:rPr>
              <a:t>text</a:t>
            </a:r>
            <a:r>
              <a:rPr lang="ko-KR" sz="1300" dirty="0">
                <a:solidFill>
                  <a:srgbClr val="19264B"/>
                </a:solidFill>
              </a:rPr>
              <a:t>   |   </a:t>
            </a:r>
            <a:r>
              <a:rPr lang="ko-KR" sz="1300" dirty="0" err="1">
                <a:solidFill>
                  <a:srgbClr val="19264B"/>
                </a:solidFill>
              </a:rPr>
              <a:t>query</a:t>
            </a:r>
            <a:r>
              <a:rPr lang="ko-KR" sz="1300" dirty="0">
                <a:solidFill>
                  <a:srgbClr val="19264B"/>
                </a:solidFill>
              </a:rPr>
              <a:t>: </a:t>
            </a:r>
            <a:r>
              <a:rPr lang="ko-KR" sz="1300" dirty="0" err="1">
                <a:solidFill>
                  <a:srgbClr val="19264B"/>
                </a:solidFill>
              </a:rPr>
              <a:t>query</a:t>
            </a:r>
            <a:r>
              <a:rPr lang="ko-KR" sz="1300" dirty="0">
                <a:solidFill>
                  <a:srgbClr val="19264B"/>
                </a:solidFill>
              </a:rPr>
              <a:t> 텍스트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normalize_embeddings</a:t>
            </a:r>
            <a:r>
              <a:rPr lang="ko-KR" sz="1300" dirty="0">
                <a:solidFill>
                  <a:srgbClr val="19264B"/>
                </a:solidFill>
              </a:rPr>
              <a:t>=</a:t>
            </a:r>
            <a:r>
              <a:rPr lang="ko-KR" sz="1300" dirty="0" err="1">
                <a:solidFill>
                  <a:srgbClr val="19264B"/>
                </a:solidFill>
              </a:rPr>
              <a:t>True</a:t>
            </a:r>
            <a:r>
              <a:rPr lang="ko-KR" sz="1300" dirty="0">
                <a:solidFill>
                  <a:srgbClr val="19264B"/>
                </a:solidFill>
              </a:rPr>
              <a:t> → </a:t>
            </a:r>
            <a:r>
              <a:rPr lang="ko-KR" sz="1300" dirty="0" err="1">
                <a:solidFill>
                  <a:srgbClr val="19264B"/>
                </a:solidFill>
              </a:rPr>
              <a:t>dot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product</a:t>
            </a:r>
            <a:r>
              <a:rPr lang="ko-KR" sz="1300" dirty="0">
                <a:solidFill>
                  <a:srgbClr val="19264B"/>
                </a:solidFill>
              </a:rPr>
              <a:t> = </a:t>
            </a:r>
            <a:r>
              <a:rPr lang="ko-KR" sz="1300" dirty="0" err="1">
                <a:solidFill>
                  <a:srgbClr val="19264B"/>
                </a:solidFill>
              </a:rPr>
              <a:t>cosine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similarity</a:t>
            </a:r>
            <a:endParaRPr lang="ko-KR" sz="13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247만 행 </a:t>
            </a:r>
            <a:r>
              <a:rPr lang="ko-KR" sz="1300" dirty="0" err="1">
                <a:solidFill>
                  <a:srgbClr val="19264B"/>
                </a:solidFill>
              </a:rPr>
              <a:t>court</a:t>
            </a:r>
            <a:r>
              <a:rPr lang="ko-KR" sz="1300" dirty="0">
                <a:solidFill>
                  <a:srgbClr val="19264B"/>
                </a:solidFill>
              </a:rPr>
              <a:t> 데이터: </a:t>
            </a:r>
            <a:r>
              <a:rPr lang="ko-KR" sz="1300" dirty="0" err="1">
                <a:solidFill>
                  <a:srgbClr val="19264B"/>
                </a:solidFill>
              </a:rPr>
              <a:t>shard</a:t>
            </a:r>
            <a:r>
              <a:rPr lang="ko-KR" sz="1300" dirty="0">
                <a:solidFill>
                  <a:srgbClr val="19264B"/>
                </a:solidFill>
              </a:rPr>
              <a:t> 단위 </a:t>
            </a:r>
            <a:r>
              <a:rPr lang="ko-KR" sz="1300" dirty="0" err="1">
                <a:solidFill>
                  <a:srgbClr val="19264B"/>
                </a:solidFill>
              </a:rPr>
              <a:t>임베딩</a:t>
            </a:r>
            <a:r>
              <a:rPr lang="ko-KR" sz="1300" dirty="0">
                <a:solidFill>
                  <a:srgbClr val="19264B"/>
                </a:solidFill>
              </a:rPr>
              <a:t> 저장 / </a:t>
            </a:r>
            <a:r>
              <a:rPr lang="ko-KR" sz="1300" dirty="0" err="1">
                <a:solidFill>
                  <a:srgbClr val="19264B"/>
                </a:solidFill>
              </a:rPr>
              <a:t>resumable</a:t>
            </a:r>
            <a:r>
              <a:rPr lang="ko-KR" sz="1300" dirty="0">
                <a:solidFill>
                  <a:srgbClr val="19264B"/>
                </a:solidFill>
              </a:rPr>
              <a:t> / CUDA OOM 시 </a:t>
            </a:r>
            <a:r>
              <a:rPr lang="ko-KR" sz="1300" dirty="0" err="1">
                <a:solidFill>
                  <a:srgbClr val="19264B"/>
                </a:solidFill>
              </a:rPr>
              <a:t>batch</a:t>
            </a:r>
            <a:r>
              <a:rPr lang="ko-KR" sz="1300" dirty="0">
                <a:solidFill>
                  <a:srgbClr val="19264B"/>
                </a:solidFill>
              </a:rPr>
              <a:t> 자동 축소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</a:t>
            </a:r>
            <a:r>
              <a:rPr lang="ko-KR" sz="1500" b="1" dirty="0" err="1">
                <a:solidFill>
                  <a:srgbClr val="2D6DB5"/>
                </a:solidFill>
              </a:rPr>
              <a:t>MiniLM</a:t>
            </a:r>
            <a:r>
              <a:rPr lang="ko-KR" sz="1500" b="1" dirty="0">
                <a:solidFill>
                  <a:srgbClr val="2D6DB5"/>
                </a:solidFill>
              </a:rPr>
              <a:t> </a:t>
            </a:r>
            <a:r>
              <a:rPr lang="ko-KR" sz="1500" b="1" dirty="0" err="1">
                <a:solidFill>
                  <a:srgbClr val="2D6DB5"/>
                </a:solidFill>
              </a:rPr>
              <a:t>Reranker</a:t>
            </a:r>
            <a:r>
              <a:rPr lang="ko-KR" sz="1500" b="1" dirty="0">
                <a:solidFill>
                  <a:srgbClr val="2D6DB5"/>
                </a:solidFill>
              </a:rPr>
              <a:t> + </a:t>
            </a:r>
            <a:r>
              <a:rPr lang="ko-KR" sz="1500" b="1" dirty="0" err="1">
                <a:solidFill>
                  <a:srgbClr val="2D6DB5"/>
                </a:solidFill>
              </a:rPr>
              <a:t>Score</a:t>
            </a:r>
            <a:r>
              <a:rPr lang="ko-KR" sz="1500" b="1" dirty="0">
                <a:solidFill>
                  <a:srgbClr val="2D6DB5"/>
                </a:solidFill>
              </a:rPr>
              <a:t> </a:t>
            </a:r>
            <a:r>
              <a:rPr lang="ko-KR" sz="1500" b="1" dirty="0" err="1">
                <a:solidFill>
                  <a:srgbClr val="2D6DB5"/>
                </a:solidFill>
              </a:rPr>
              <a:t>Blend</a:t>
            </a:r>
            <a:endParaRPr lang="ko-KR" sz="1500" b="1" dirty="0">
              <a:solidFill>
                <a:srgbClr val="2D6DB5"/>
              </a:solidFill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laws</a:t>
            </a:r>
            <a:r>
              <a:rPr lang="ko-KR" sz="1300" dirty="0">
                <a:solidFill>
                  <a:srgbClr val="19264B"/>
                </a:solidFill>
              </a:rPr>
              <a:t>/</a:t>
            </a:r>
            <a:r>
              <a:rPr lang="ko-KR" sz="1300" dirty="0" err="1">
                <a:solidFill>
                  <a:srgbClr val="19264B"/>
                </a:solidFill>
              </a:rPr>
              <a:t>court</a:t>
            </a:r>
            <a:r>
              <a:rPr lang="ko-KR" sz="1300" dirty="0">
                <a:solidFill>
                  <a:srgbClr val="19264B"/>
                </a:solidFill>
              </a:rPr>
              <a:t> 각 ~1,000개 후보 검색 후 </a:t>
            </a:r>
            <a:r>
              <a:rPr lang="ko-KR" sz="1300" dirty="0" err="1">
                <a:solidFill>
                  <a:srgbClr val="19264B"/>
                </a:solidFill>
              </a:rPr>
              <a:t>MiniLM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reranker로</a:t>
            </a:r>
            <a:r>
              <a:rPr lang="ko-KR" sz="1300" dirty="0">
                <a:solidFill>
                  <a:srgbClr val="19264B"/>
                </a:solidFill>
              </a:rPr>
              <a:t> 재정렬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Final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Score</a:t>
            </a:r>
            <a:r>
              <a:rPr lang="ko-KR" sz="1300" dirty="0">
                <a:solidFill>
                  <a:srgbClr val="19264B"/>
                </a:solidFill>
              </a:rPr>
              <a:t> = 0.5 × </a:t>
            </a:r>
            <a:r>
              <a:rPr lang="ko-KR" sz="1300" dirty="0" err="1">
                <a:solidFill>
                  <a:srgbClr val="19264B"/>
                </a:solidFill>
              </a:rPr>
              <a:t>Retrieval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Score</a:t>
            </a:r>
            <a:r>
              <a:rPr lang="ko-KR" sz="1300" dirty="0">
                <a:solidFill>
                  <a:srgbClr val="19264B"/>
                </a:solidFill>
              </a:rPr>
              <a:t> + 0.5 × </a:t>
            </a:r>
            <a:r>
              <a:rPr lang="ko-KR" sz="1300" dirty="0" err="1">
                <a:solidFill>
                  <a:srgbClr val="19264B"/>
                </a:solidFill>
              </a:rPr>
              <a:t>MiniLM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Reranker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Score</a:t>
            </a:r>
            <a:endParaRPr lang="ko-KR" sz="13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court_considerations</a:t>
            </a:r>
            <a:r>
              <a:rPr lang="ko-KR" sz="1300" dirty="0">
                <a:solidFill>
                  <a:srgbClr val="19264B"/>
                </a:solidFill>
              </a:rPr>
              <a:t>: 같은 </a:t>
            </a:r>
            <a:r>
              <a:rPr lang="ko-KR" sz="1300" dirty="0" err="1">
                <a:solidFill>
                  <a:srgbClr val="19264B"/>
                </a:solidFill>
              </a:rPr>
              <a:t>citation이</a:t>
            </a:r>
            <a:r>
              <a:rPr lang="ko-KR" sz="1300" dirty="0">
                <a:solidFill>
                  <a:srgbClr val="19264B"/>
                </a:solidFill>
              </a:rPr>
              <a:t> 여러 </a:t>
            </a:r>
            <a:r>
              <a:rPr lang="ko-KR" sz="1300" dirty="0" err="1">
                <a:solidFill>
                  <a:srgbClr val="19264B"/>
                </a:solidFill>
              </a:rPr>
              <a:t>fragment에</a:t>
            </a:r>
            <a:r>
              <a:rPr lang="ko-KR" sz="1300" dirty="0">
                <a:solidFill>
                  <a:srgbClr val="19264B"/>
                </a:solidFill>
              </a:rPr>
              <a:t> 분산 → </a:t>
            </a:r>
            <a:r>
              <a:rPr lang="ko-KR" sz="1300" dirty="0" err="1">
                <a:solidFill>
                  <a:srgbClr val="19264B"/>
                </a:solidFill>
              </a:rPr>
              <a:t>citation-level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max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aggregation</a:t>
            </a:r>
            <a:endParaRPr lang="ko-KR" sz="13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</a:t>
            </a:r>
            <a:r>
              <a:rPr lang="ko-KR" sz="1500" b="1" dirty="0" err="1">
                <a:solidFill>
                  <a:srgbClr val="2D6DB5"/>
                </a:solidFill>
              </a:rPr>
              <a:t>Rule-based</a:t>
            </a:r>
            <a:r>
              <a:rPr lang="ko-KR" sz="1500" b="1" dirty="0">
                <a:solidFill>
                  <a:srgbClr val="2D6DB5"/>
                </a:solidFill>
              </a:rPr>
              <a:t> </a:t>
            </a:r>
            <a:r>
              <a:rPr lang="ko-KR" sz="1500" b="1" dirty="0" err="1">
                <a:solidFill>
                  <a:srgbClr val="2D6DB5"/>
                </a:solidFill>
              </a:rPr>
              <a:t>Citation</a:t>
            </a:r>
            <a:r>
              <a:rPr lang="ko-KR" sz="1500" b="1" dirty="0">
                <a:solidFill>
                  <a:srgbClr val="2D6DB5"/>
                </a:solidFill>
              </a:rPr>
              <a:t> </a:t>
            </a:r>
            <a:r>
              <a:rPr lang="ko-KR" sz="1500" b="1" dirty="0" err="1">
                <a:solidFill>
                  <a:srgbClr val="2D6DB5"/>
                </a:solidFill>
              </a:rPr>
              <a:t>Boost</a:t>
            </a:r>
            <a:endParaRPr lang="ko-KR" sz="1500" b="1" dirty="0">
              <a:solidFill>
                <a:srgbClr val="2D6DB5"/>
              </a:solidFill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법전 약어(ZGB, OR, </a:t>
            </a:r>
            <a:r>
              <a:rPr lang="ko-KR" sz="1300" dirty="0" err="1">
                <a:solidFill>
                  <a:srgbClr val="19264B"/>
                </a:solidFill>
              </a:rPr>
              <a:t>StPO</a:t>
            </a:r>
            <a:r>
              <a:rPr lang="ko-KR" sz="1300" dirty="0">
                <a:solidFill>
                  <a:srgbClr val="19264B"/>
                </a:solidFill>
              </a:rPr>
              <a:t>, ATSG…) 및 조문 번호(</a:t>
            </a:r>
            <a:r>
              <a:rPr lang="ko-KR" sz="1300" dirty="0" err="1">
                <a:solidFill>
                  <a:srgbClr val="19264B"/>
                </a:solidFill>
              </a:rPr>
              <a:t>Art</a:t>
            </a:r>
            <a:r>
              <a:rPr lang="ko-KR" sz="1300" dirty="0">
                <a:solidFill>
                  <a:srgbClr val="19264B"/>
                </a:solidFill>
              </a:rPr>
              <a:t>. 221 등) 패턴 추출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query에서</a:t>
            </a:r>
            <a:r>
              <a:rPr lang="ko-KR" sz="1300" dirty="0">
                <a:solidFill>
                  <a:srgbClr val="19264B"/>
                </a:solidFill>
              </a:rPr>
              <a:t> 직접 매칭 가능한 </a:t>
            </a:r>
            <a:r>
              <a:rPr lang="ko-KR" sz="1300" dirty="0" err="1">
                <a:solidFill>
                  <a:srgbClr val="19264B"/>
                </a:solidFill>
              </a:rPr>
              <a:t>citation</a:t>
            </a:r>
            <a:r>
              <a:rPr lang="ko-KR" sz="1300" dirty="0">
                <a:solidFill>
                  <a:srgbClr val="19264B"/>
                </a:solidFill>
              </a:rPr>
              <a:t> 후보 추가 및 </a:t>
            </a:r>
            <a:r>
              <a:rPr lang="ko-KR" sz="1300" dirty="0" err="1">
                <a:solidFill>
                  <a:srgbClr val="19264B"/>
                </a:solidFill>
              </a:rPr>
              <a:t>score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boost</a:t>
            </a:r>
            <a:endParaRPr lang="ko-KR" sz="13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semantic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retrieval</a:t>
            </a:r>
            <a:r>
              <a:rPr lang="ko-KR" sz="1300" dirty="0">
                <a:solidFill>
                  <a:srgbClr val="19264B"/>
                </a:solidFill>
              </a:rPr>
              <a:t> 후보 ∪ </a:t>
            </a:r>
            <a:r>
              <a:rPr lang="ko-KR" sz="1300" dirty="0" err="1">
                <a:solidFill>
                  <a:srgbClr val="19264B"/>
                </a:solidFill>
              </a:rPr>
              <a:t>rule-based</a:t>
            </a:r>
            <a:r>
              <a:rPr lang="ko-KR" sz="1300" dirty="0">
                <a:solidFill>
                  <a:srgbClr val="19264B"/>
                </a:solidFill>
              </a:rPr>
              <a:t> 후보 → 최종 후보군 재정렬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NavyBar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WhiteLine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</p:cxnSp>
      <p:pic>
        <p:nvPicPr>
          <p:cNvPr id="203" name="TeamIm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TitleBox"/>
          <p:cNvSpPr txBox="1"/>
          <p:nvPr/>
        </p:nvSpPr>
        <p:spPr>
          <a:xfrm>
            <a:off x="1408975" y="306875"/>
            <a:ext cx="8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19264B"/>
                </a:solidFill>
                <a:latin typeface="NanumGothicExtraBold"/>
                <a:ea typeface="NanumGothicExtraBold"/>
              </a:rPr>
              <a:t>초기 실험 결과 및 Candidate Recall 문제</a:t>
            </a:r>
          </a:p>
        </p:txBody>
      </p:sp>
      <p:sp>
        <p:nvSpPr>
          <p:cNvPr id="205" name="ContentBox"/>
          <p:cNvSpPr txBox="1"/>
          <p:nvPr/>
        </p:nvSpPr>
        <p:spPr>
          <a:xfrm>
            <a:off x="1306424" y="900000"/>
            <a:ext cx="8000000" cy="370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초기 실험 결과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 err="1">
                <a:solidFill>
                  <a:srgbClr val="19264B"/>
                </a:solidFill>
              </a:rPr>
              <a:t>laws</a:t>
            </a:r>
            <a:r>
              <a:rPr lang="ko-KR" sz="1350" dirty="0">
                <a:solidFill>
                  <a:srgbClr val="19264B"/>
                </a:solidFill>
              </a:rPr>
              <a:t> 후보 ~1,000 + </a:t>
            </a:r>
            <a:r>
              <a:rPr lang="ko-KR" sz="1350" dirty="0" err="1">
                <a:solidFill>
                  <a:srgbClr val="19264B"/>
                </a:solidFill>
              </a:rPr>
              <a:t>court</a:t>
            </a:r>
            <a:r>
              <a:rPr lang="ko-KR" sz="1350" dirty="0">
                <a:solidFill>
                  <a:srgbClr val="19264B"/>
                </a:solidFill>
              </a:rPr>
              <a:t> 후보 ~1,000 → </a:t>
            </a:r>
            <a:r>
              <a:rPr lang="ko-KR" sz="1350" dirty="0" err="1">
                <a:solidFill>
                  <a:srgbClr val="19264B"/>
                </a:solidFill>
              </a:rPr>
              <a:t>MiniLM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reranker</a:t>
            </a:r>
            <a:r>
              <a:rPr lang="ko-KR" sz="1350" dirty="0">
                <a:solidFill>
                  <a:srgbClr val="19264B"/>
                </a:solidFill>
              </a:rPr>
              <a:t> → </a:t>
            </a:r>
            <a:r>
              <a:rPr lang="ko-KR" sz="1350" dirty="0" err="1">
                <a:solidFill>
                  <a:srgbClr val="19264B"/>
                </a:solidFill>
              </a:rPr>
              <a:t>score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blend</a:t>
            </a:r>
            <a:endParaRPr lang="ko-KR" sz="135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sz="1400" b="1" dirty="0">
                <a:solidFill>
                  <a:srgbClr val="19264B"/>
                </a:solidFill>
              </a:rPr>
              <a:t>Public </a:t>
            </a:r>
            <a:r>
              <a:rPr lang="ko-KR" sz="1400" b="1" dirty="0" err="1">
                <a:solidFill>
                  <a:srgbClr val="19264B"/>
                </a:solidFill>
              </a:rPr>
              <a:t>Score</a:t>
            </a:r>
            <a:r>
              <a:rPr lang="ko-KR" sz="1400" b="1" dirty="0">
                <a:solidFill>
                  <a:srgbClr val="19264B"/>
                </a:solidFill>
              </a:rPr>
              <a:t>: </a:t>
            </a:r>
            <a:r>
              <a:rPr lang="ko-KR" sz="1600" b="1" dirty="0">
                <a:solidFill>
                  <a:srgbClr val="C00000"/>
                </a:solidFill>
              </a:rPr>
              <a:t>0.02956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500" b="1" dirty="0">
                <a:solidFill>
                  <a:srgbClr val="C00000"/>
                </a:solidFill>
              </a:rPr>
              <a:t>■ 핵심 병목: </a:t>
            </a:r>
            <a:r>
              <a:rPr lang="ko-KR" sz="1500" b="1" dirty="0" err="1">
                <a:solidFill>
                  <a:srgbClr val="C00000"/>
                </a:solidFill>
              </a:rPr>
              <a:t>Candidate</a:t>
            </a:r>
            <a:r>
              <a:rPr lang="ko-KR" sz="1500" b="1" dirty="0">
                <a:solidFill>
                  <a:srgbClr val="C00000"/>
                </a:solidFill>
              </a:rPr>
              <a:t> </a:t>
            </a:r>
            <a:r>
              <a:rPr lang="ko-KR" sz="1500" b="1" dirty="0" err="1">
                <a:solidFill>
                  <a:srgbClr val="C00000"/>
                </a:solidFill>
              </a:rPr>
              <a:t>Recall</a:t>
            </a:r>
            <a:r>
              <a:rPr lang="ko-KR" sz="1500" b="1" dirty="0">
                <a:solidFill>
                  <a:srgbClr val="C00000"/>
                </a:solidFill>
              </a:rPr>
              <a:t> 부족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ko-KR" sz="1350" dirty="0">
                <a:solidFill>
                  <a:srgbClr val="19264B"/>
                </a:solidFill>
              </a:rPr>
              <a:t>정답 </a:t>
            </a:r>
            <a:r>
              <a:rPr lang="ko-KR" sz="1350" dirty="0" err="1">
                <a:solidFill>
                  <a:srgbClr val="19264B"/>
                </a:solidFill>
              </a:rPr>
              <a:t>citation이</a:t>
            </a:r>
            <a:r>
              <a:rPr lang="ko-KR" sz="1350" dirty="0">
                <a:solidFill>
                  <a:srgbClr val="19264B"/>
                </a:solidFill>
              </a:rPr>
              <a:t> 초기 후보군 안에 포함되지 않으면, </a:t>
            </a:r>
            <a:r>
              <a:rPr lang="ko-KR" sz="1350" dirty="0" err="1">
                <a:solidFill>
                  <a:srgbClr val="19264B"/>
                </a:solidFill>
              </a:rPr>
              <a:t>reranker가</a:t>
            </a:r>
            <a:r>
              <a:rPr lang="ko-KR" sz="1350" dirty="0">
                <a:solidFill>
                  <a:srgbClr val="19264B"/>
                </a:solidFill>
              </a:rPr>
              <a:t> 있어도 정답을 맞힐 수 없음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개선 방향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 err="1">
                <a:solidFill>
                  <a:srgbClr val="19264B"/>
                </a:solidFill>
              </a:rPr>
              <a:t>reranker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교체·개선보다</a:t>
            </a:r>
            <a:r>
              <a:rPr lang="ko-KR" sz="1350" dirty="0">
                <a:solidFill>
                  <a:srgbClr val="19264B"/>
                </a:solidFill>
              </a:rPr>
              <a:t> 초기 후보 검색 단계의 </a:t>
            </a:r>
            <a:r>
              <a:rPr lang="ko-KR" sz="1350" dirty="0" err="1">
                <a:solidFill>
                  <a:srgbClr val="19264B"/>
                </a:solidFill>
              </a:rPr>
              <a:t>recall</a:t>
            </a:r>
            <a:r>
              <a:rPr lang="ko-KR" sz="1350" dirty="0">
                <a:solidFill>
                  <a:srgbClr val="19264B"/>
                </a:solidFill>
              </a:rPr>
              <a:t> 개선이 우선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50" dirty="0">
                <a:solidFill>
                  <a:srgbClr val="19264B"/>
                </a:solidFill>
              </a:rPr>
              <a:t>법률 문서의 구조적 단서(법전 약어, 조문 번호, </a:t>
            </a:r>
            <a:r>
              <a:rPr lang="ko-KR" sz="1350" dirty="0" err="1">
                <a:solidFill>
                  <a:srgbClr val="19264B"/>
                </a:solidFill>
              </a:rPr>
              <a:t>citation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pattern</a:t>
            </a:r>
            <a:r>
              <a:rPr lang="ko-KR" sz="1350" dirty="0">
                <a:solidFill>
                  <a:srgbClr val="19264B"/>
                </a:solidFill>
              </a:rPr>
              <a:t>)</a:t>
            </a:r>
            <a:r>
              <a:rPr lang="ko-KR" sz="1350" dirty="0" err="1">
                <a:solidFill>
                  <a:srgbClr val="19264B"/>
                </a:solidFill>
              </a:rPr>
              <a:t>를</a:t>
            </a:r>
            <a:r>
              <a:rPr lang="ko-KR" sz="1350" dirty="0">
                <a:solidFill>
                  <a:srgbClr val="19264B"/>
                </a:solidFill>
              </a:rPr>
              <a:t> 활용한 </a:t>
            </a:r>
            <a:r>
              <a:rPr lang="ko-KR" sz="1350" dirty="0" err="1">
                <a:solidFill>
                  <a:srgbClr val="19264B"/>
                </a:solidFill>
              </a:rPr>
              <a:t>Rule-based</a:t>
            </a:r>
            <a:r>
              <a:rPr lang="ko-KR" sz="1350" dirty="0">
                <a:solidFill>
                  <a:srgbClr val="19264B"/>
                </a:solidFill>
              </a:rPr>
              <a:t> </a:t>
            </a:r>
            <a:r>
              <a:rPr lang="ko-KR" sz="1350" dirty="0" err="1">
                <a:solidFill>
                  <a:srgbClr val="19264B"/>
                </a:solidFill>
              </a:rPr>
              <a:t>boost</a:t>
            </a:r>
            <a:r>
              <a:rPr lang="ko-KR" sz="1350" dirty="0">
                <a:solidFill>
                  <a:srgbClr val="19264B"/>
                </a:solidFill>
              </a:rPr>
              <a:t> 적용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NavyBar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WhiteLine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</p:cxnSp>
      <p:pic>
        <p:nvPicPr>
          <p:cNvPr id="203" name="TeamIm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TitleBox"/>
          <p:cNvSpPr txBox="1"/>
          <p:nvPr/>
        </p:nvSpPr>
        <p:spPr>
          <a:xfrm>
            <a:off x="1408975" y="306875"/>
            <a:ext cx="8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19264B"/>
                </a:solidFill>
                <a:latin typeface="NanumGothicExtraBold"/>
                <a:ea typeface="NanumGothicExtraBold"/>
              </a:rPr>
              <a:t>Rule-based Boost 적용 및 결과</a:t>
            </a:r>
          </a:p>
        </p:txBody>
      </p:sp>
      <p:sp>
        <p:nvSpPr>
          <p:cNvPr id="205" name="ContentBox"/>
          <p:cNvSpPr txBox="1"/>
          <p:nvPr/>
        </p:nvSpPr>
        <p:spPr>
          <a:xfrm>
            <a:off x="1349153" y="797449"/>
            <a:ext cx="8000000" cy="39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</a:t>
            </a:r>
            <a:r>
              <a:rPr lang="ko-KR" sz="1500" b="1" dirty="0" err="1">
                <a:solidFill>
                  <a:srgbClr val="2D6DB5"/>
                </a:solidFill>
              </a:rPr>
              <a:t>Rule-based</a:t>
            </a:r>
            <a:r>
              <a:rPr lang="ko-KR" sz="1500" b="1" dirty="0">
                <a:solidFill>
                  <a:srgbClr val="2D6DB5"/>
                </a:solidFill>
              </a:rPr>
              <a:t> </a:t>
            </a:r>
            <a:r>
              <a:rPr lang="ko-KR" sz="1500" b="1" dirty="0" err="1">
                <a:solidFill>
                  <a:srgbClr val="2D6DB5"/>
                </a:solidFill>
              </a:rPr>
              <a:t>Boost</a:t>
            </a:r>
            <a:r>
              <a:rPr lang="ko-KR" sz="1500" b="1" dirty="0">
                <a:solidFill>
                  <a:srgbClr val="2D6DB5"/>
                </a:solidFill>
              </a:rPr>
              <a:t> 적용 방법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① </a:t>
            </a:r>
            <a:r>
              <a:rPr lang="ko-KR" sz="1300" dirty="0" err="1">
                <a:solidFill>
                  <a:srgbClr val="19264B"/>
                </a:solidFill>
              </a:rPr>
              <a:t>query에서</a:t>
            </a:r>
            <a:r>
              <a:rPr lang="ko-KR" sz="1300" dirty="0">
                <a:solidFill>
                  <a:srgbClr val="19264B"/>
                </a:solidFill>
              </a:rPr>
              <a:t> 법전 약어(ZGB, OR, </a:t>
            </a:r>
            <a:r>
              <a:rPr lang="ko-KR" sz="1300" dirty="0" err="1">
                <a:solidFill>
                  <a:srgbClr val="19264B"/>
                </a:solidFill>
              </a:rPr>
              <a:t>StPO</a:t>
            </a:r>
            <a:r>
              <a:rPr lang="ko-KR" sz="1300" dirty="0">
                <a:solidFill>
                  <a:srgbClr val="19264B"/>
                </a:solidFill>
              </a:rPr>
              <a:t>, ATSG, IVG…) 추출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② </a:t>
            </a:r>
            <a:r>
              <a:rPr lang="ko-KR" sz="1300" dirty="0" err="1">
                <a:solidFill>
                  <a:srgbClr val="19264B"/>
                </a:solidFill>
              </a:rPr>
              <a:t>query에서</a:t>
            </a:r>
            <a:r>
              <a:rPr lang="ko-KR" sz="1300" dirty="0">
                <a:solidFill>
                  <a:srgbClr val="19264B"/>
                </a:solidFill>
              </a:rPr>
              <a:t> 조문 번호 패턴(</a:t>
            </a:r>
            <a:r>
              <a:rPr lang="ko-KR" sz="1300" dirty="0" err="1">
                <a:solidFill>
                  <a:srgbClr val="19264B"/>
                </a:solidFill>
              </a:rPr>
              <a:t>Art</a:t>
            </a:r>
            <a:r>
              <a:rPr lang="ko-KR" sz="1300" dirty="0">
                <a:solidFill>
                  <a:srgbClr val="19264B"/>
                </a:solidFill>
              </a:rPr>
              <a:t>. 221, </a:t>
            </a:r>
            <a:r>
              <a:rPr lang="ko-KR" sz="1300" dirty="0" err="1">
                <a:solidFill>
                  <a:srgbClr val="19264B"/>
                </a:solidFill>
              </a:rPr>
              <a:t>Art</a:t>
            </a:r>
            <a:r>
              <a:rPr lang="ko-KR" sz="1300" dirty="0">
                <a:solidFill>
                  <a:srgbClr val="19264B"/>
                </a:solidFill>
              </a:rPr>
              <a:t>. 934…) 추출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③ </a:t>
            </a:r>
            <a:r>
              <a:rPr lang="ko-KR" sz="1300" dirty="0" err="1">
                <a:solidFill>
                  <a:srgbClr val="19264B"/>
                </a:solidFill>
              </a:rPr>
              <a:t>citation과</a:t>
            </a:r>
            <a:r>
              <a:rPr lang="ko-KR" sz="1300" dirty="0">
                <a:solidFill>
                  <a:srgbClr val="19264B"/>
                </a:solidFill>
              </a:rPr>
              <a:t> 직접 매칭되는 후보를 후보군에 추가하고 </a:t>
            </a:r>
            <a:r>
              <a:rPr lang="ko-KR" sz="1300" dirty="0" err="1">
                <a:solidFill>
                  <a:srgbClr val="19264B"/>
                </a:solidFill>
              </a:rPr>
              <a:t>score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boost</a:t>
            </a:r>
            <a:r>
              <a:rPr lang="ko-KR" sz="1300" dirty="0">
                <a:solidFill>
                  <a:srgbClr val="19264B"/>
                </a:solidFill>
              </a:rPr>
              <a:t> 적용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④ </a:t>
            </a:r>
            <a:r>
              <a:rPr lang="ko-KR" sz="1300" dirty="0" err="1">
                <a:solidFill>
                  <a:srgbClr val="19264B"/>
                </a:solidFill>
              </a:rPr>
              <a:t>semantic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retrieval</a:t>
            </a:r>
            <a:r>
              <a:rPr lang="ko-KR" sz="1300" dirty="0">
                <a:solidFill>
                  <a:srgbClr val="19264B"/>
                </a:solidFill>
              </a:rPr>
              <a:t> 후보 ∪ </a:t>
            </a:r>
            <a:r>
              <a:rPr lang="ko-KR" sz="1300" dirty="0" err="1">
                <a:solidFill>
                  <a:srgbClr val="19264B"/>
                </a:solidFill>
              </a:rPr>
              <a:t>rule-based</a:t>
            </a:r>
            <a:r>
              <a:rPr lang="ko-KR" sz="1300" dirty="0">
                <a:solidFill>
                  <a:srgbClr val="19264B"/>
                </a:solidFill>
              </a:rPr>
              <a:t> 후보 통합 → 재정렬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점수 개선 흐름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200" dirty="0">
                <a:solidFill>
                  <a:srgbClr val="555555"/>
                </a:solidFill>
              </a:rPr>
              <a:t>초기  </a:t>
            </a:r>
            <a:r>
              <a:rPr lang="ko-KR" sz="1500" b="1" dirty="0">
                <a:solidFill>
                  <a:srgbClr val="C00000"/>
                </a:solidFill>
              </a:rPr>
              <a:t>0.02956  </a:t>
            </a:r>
            <a:r>
              <a:rPr lang="ko-KR" sz="1300" dirty="0">
                <a:solidFill>
                  <a:srgbClr val="888888"/>
                </a:solidFill>
              </a:rPr>
              <a:t>→  </a:t>
            </a:r>
            <a:r>
              <a:rPr lang="ko-KR" sz="1500" b="1" dirty="0">
                <a:solidFill>
                  <a:srgbClr val="19264B"/>
                </a:solidFill>
              </a:rPr>
              <a:t>0.21786  </a:t>
            </a:r>
            <a:r>
              <a:rPr lang="ko-KR" sz="800" dirty="0">
                <a:solidFill>
                  <a:srgbClr val="FFFFFF"/>
                </a:solidFill>
              </a:rPr>
              <a:t> </a:t>
            </a:r>
            <a:endParaRPr lang="en-US" altLang="ko-KR" sz="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endParaRPr lang="ko-KR" sz="8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결과 해석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>
                <a:solidFill>
                  <a:srgbClr val="19264B"/>
                </a:solidFill>
              </a:rPr>
              <a:t>성능 향상의 핵심 = 더 큰 모델이 아닌, 정답 후보를 초기 후보군에 더 많이 포함시킨 것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Legal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IR에서는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semantic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retrieval만으로</a:t>
            </a:r>
            <a:r>
              <a:rPr lang="ko-KR" sz="1300" dirty="0">
                <a:solidFill>
                  <a:srgbClr val="19264B"/>
                </a:solidFill>
              </a:rPr>
              <a:t> 한계 → 도메인 특화 규칙과 </a:t>
            </a:r>
            <a:r>
              <a:rPr lang="ko-KR" sz="1300" dirty="0" err="1">
                <a:solidFill>
                  <a:srgbClr val="19264B"/>
                </a:solidFill>
              </a:rPr>
              <a:t>hybrid</a:t>
            </a:r>
            <a:r>
              <a:rPr lang="ko-KR" sz="1300" dirty="0">
                <a:solidFill>
                  <a:srgbClr val="19264B"/>
                </a:solidFill>
              </a:rPr>
              <a:t> 전략이 중요</a:t>
            </a:r>
          </a:p>
        </p:txBody>
      </p:sp>
      <p:pic>
        <p:nvPicPr>
          <p:cNvPr id="2" name="Image 0" descr="/mnt/data/KakaoTalk_Photo_2026-05-26-15-37-29.png">
            <a:extLst>
              <a:ext uri="{FF2B5EF4-FFF2-40B4-BE49-F238E27FC236}">
                <a16:creationId xmlns:a16="http://schemas.microsoft.com/office/drawing/2014/main" id="{032E4344-08E6-942D-DEA0-7F7998AD5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96" t="48258" r="23306" b="23240"/>
          <a:stretch>
            <a:fillRect/>
          </a:stretch>
        </p:blipFill>
        <p:spPr>
          <a:xfrm>
            <a:off x="4039389" y="2939754"/>
            <a:ext cx="3755458" cy="6238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NavyBar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WhiteLine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</p:cxnSp>
      <p:pic>
        <p:nvPicPr>
          <p:cNvPr id="203" name="TeamIm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TitleBox"/>
          <p:cNvSpPr txBox="1"/>
          <p:nvPr/>
        </p:nvSpPr>
        <p:spPr>
          <a:xfrm>
            <a:off x="1408975" y="306875"/>
            <a:ext cx="8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19264B"/>
                </a:solidFill>
                <a:latin typeface="NanumGothicExtraBold"/>
                <a:ea typeface="NanumGothicExtraBold"/>
              </a:rPr>
              <a:t>Track 1 한계 및 향후 개선 방향</a:t>
            </a:r>
          </a:p>
        </p:txBody>
      </p:sp>
      <p:sp>
        <p:nvSpPr>
          <p:cNvPr id="205" name="ContentBox"/>
          <p:cNvSpPr txBox="1"/>
          <p:nvPr/>
        </p:nvSpPr>
        <p:spPr>
          <a:xfrm>
            <a:off x="1408975" y="900000"/>
            <a:ext cx="8000000" cy="4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3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500" b="1" dirty="0">
                <a:solidFill>
                  <a:srgbClr val="C00000"/>
                </a:solidFill>
              </a:rPr>
              <a:t>■ 한계</a:t>
            </a: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Rule-based</a:t>
            </a:r>
            <a:r>
              <a:rPr lang="ko-KR" sz="1300" dirty="0">
                <a:solidFill>
                  <a:srgbClr val="19264B"/>
                </a:solidFill>
              </a:rPr>
              <a:t> 방식은 명확한 법전 </a:t>
            </a:r>
            <a:r>
              <a:rPr lang="ko-KR" sz="1300" dirty="0" err="1">
                <a:solidFill>
                  <a:srgbClr val="19264B"/>
                </a:solidFill>
              </a:rPr>
              <a:t>약어·조문</a:t>
            </a:r>
            <a:r>
              <a:rPr lang="ko-KR" sz="1300" dirty="0">
                <a:solidFill>
                  <a:srgbClr val="19264B"/>
                </a:solidFill>
              </a:rPr>
              <a:t> 번호가 없는 추상적 질문에서는 효과 제한적</a:t>
            </a: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court_considerations</a:t>
            </a:r>
            <a:r>
              <a:rPr lang="ko-KR" sz="1300" dirty="0">
                <a:solidFill>
                  <a:srgbClr val="19264B"/>
                </a:solidFill>
              </a:rPr>
              <a:t> 데이터: 노이즈가 많고 </a:t>
            </a:r>
            <a:r>
              <a:rPr lang="ko-KR" sz="1300" dirty="0" err="1">
                <a:solidFill>
                  <a:srgbClr val="19264B"/>
                </a:solidFill>
              </a:rPr>
              <a:t>aggregation</a:t>
            </a:r>
            <a:r>
              <a:rPr lang="ko-KR" sz="1300" dirty="0">
                <a:solidFill>
                  <a:srgbClr val="19264B"/>
                </a:solidFill>
              </a:rPr>
              <a:t> 전략 개선 여지 있음</a:t>
            </a: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Candidate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recall</a:t>
            </a:r>
            <a:r>
              <a:rPr lang="ko-KR" sz="1300" dirty="0">
                <a:solidFill>
                  <a:srgbClr val="19264B"/>
                </a:solidFill>
              </a:rPr>
              <a:t> 정량 분석 필요: top-100 / top-500 / top-1000 </a:t>
            </a:r>
            <a:r>
              <a:rPr lang="ko-KR" sz="1300" dirty="0" err="1">
                <a:solidFill>
                  <a:srgbClr val="19264B"/>
                </a:solidFill>
              </a:rPr>
              <a:t>gold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citation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포함율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미측정</a:t>
            </a:r>
            <a:endParaRPr lang="ko-KR" sz="13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citation</a:t>
            </a:r>
            <a:r>
              <a:rPr lang="ko-KR" sz="1300" dirty="0">
                <a:solidFill>
                  <a:srgbClr val="19264B"/>
                </a:solidFill>
              </a:rPr>
              <a:t> 문자열 </a:t>
            </a:r>
            <a:r>
              <a:rPr lang="ko-KR" sz="1300" dirty="0" err="1">
                <a:solidFill>
                  <a:srgbClr val="19264B"/>
                </a:solidFill>
              </a:rPr>
              <a:t>formatting</a:t>
            </a:r>
            <a:r>
              <a:rPr lang="ko-KR" sz="1300" dirty="0">
                <a:solidFill>
                  <a:srgbClr val="19264B"/>
                </a:solidFill>
              </a:rPr>
              <a:t> 민감도 → </a:t>
            </a:r>
            <a:r>
              <a:rPr lang="ko-KR" sz="1300" dirty="0" err="1">
                <a:solidFill>
                  <a:srgbClr val="19264B"/>
                </a:solidFill>
              </a:rPr>
              <a:t>normalization</a:t>
            </a:r>
            <a:r>
              <a:rPr lang="ko-KR" sz="1300" dirty="0">
                <a:solidFill>
                  <a:srgbClr val="19264B"/>
                </a:solidFill>
              </a:rPr>
              <a:t> 전략 부족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ts val="3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향후 개선 방향</a:t>
            </a: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Candidate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recall</a:t>
            </a:r>
            <a:r>
              <a:rPr lang="ko-KR" sz="1300" dirty="0">
                <a:solidFill>
                  <a:srgbClr val="19264B"/>
                </a:solidFill>
              </a:rPr>
              <a:t> 정량 분석: </a:t>
            </a:r>
            <a:r>
              <a:rPr lang="ko-KR" sz="1300" dirty="0" err="1">
                <a:solidFill>
                  <a:srgbClr val="19264B"/>
                </a:solidFill>
              </a:rPr>
              <a:t>top-k별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gold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citation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포함율</a:t>
            </a:r>
            <a:r>
              <a:rPr lang="ko-KR" sz="1300" dirty="0">
                <a:solidFill>
                  <a:srgbClr val="19264B"/>
                </a:solidFill>
              </a:rPr>
              <a:t> 측정</a:t>
            </a: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Laws</a:t>
            </a:r>
            <a:r>
              <a:rPr lang="ko-KR" sz="1300" dirty="0">
                <a:solidFill>
                  <a:srgbClr val="19264B"/>
                </a:solidFill>
              </a:rPr>
              <a:t> / </a:t>
            </a:r>
            <a:r>
              <a:rPr lang="ko-KR" sz="1300" dirty="0" err="1">
                <a:solidFill>
                  <a:srgbClr val="19264B"/>
                </a:solidFill>
              </a:rPr>
              <a:t>Court</a:t>
            </a:r>
            <a:r>
              <a:rPr lang="ko-KR" sz="1300" dirty="0">
                <a:solidFill>
                  <a:srgbClr val="19264B"/>
                </a:solidFill>
              </a:rPr>
              <a:t> 분리 전략: </a:t>
            </a:r>
            <a:r>
              <a:rPr lang="ko-KR" sz="1300" dirty="0" err="1">
                <a:solidFill>
                  <a:srgbClr val="19264B"/>
                </a:solidFill>
              </a:rPr>
              <a:t>laws</a:t>
            </a:r>
            <a:r>
              <a:rPr lang="ko-KR" sz="1300" dirty="0">
                <a:solidFill>
                  <a:srgbClr val="19264B"/>
                </a:solidFill>
              </a:rPr>
              <a:t> → </a:t>
            </a:r>
            <a:r>
              <a:rPr lang="ko-KR" sz="1300" dirty="0" err="1">
                <a:solidFill>
                  <a:srgbClr val="19264B"/>
                </a:solidFill>
              </a:rPr>
              <a:t>rule</a:t>
            </a:r>
            <a:r>
              <a:rPr lang="ko-KR" sz="1300" dirty="0">
                <a:solidFill>
                  <a:srgbClr val="19264B"/>
                </a:solidFill>
              </a:rPr>
              <a:t> 강화, </a:t>
            </a:r>
            <a:r>
              <a:rPr lang="ko-KR" sz="1300" dirty="0" err="1">
                <a:solidFill>
                  <a:srgbClr val="19264B"/>
                </a:solidFill>
              </a:rPr>
              <a:t>court</a:t>
            </a:r>
            <a:r>
              <a:rPr lang="ko-KR" sz="1300" dirty="0">
                <a:solidFill>
                  <a:srgbClr val="19264B"/>
                </a:solidFill>
              </a:rPr>
              <a:t> → 의미 기반 + </a:t>
            </a:r>
            <a:r>
              <a:rPr lang="ko-KR" sz="1300" dirty="0" err="1">
                <a:solidFill>
                  <a:srgbClr val="19264B"/>
                </a:solidFill>
              </a:rPr>
              <a:t>aggregation</a:t>
            </a:r>
            <a:r>
              <a:rPr lang="ko-KR" sz="1300" dirty="0">
                <a:solidFill>
                  <a:srgbClr val="19264B"/>
                </a:solidFill>
              </a:rPr>
              <a:t> 개선</a:t>
            </a: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Sparse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Retrieval</a:t>
            </a:r>
            <a:r>
              <a:rPr lang="ko-KR" sz="1300" dirty="0">
                <a:solidFill>
                  <a:srgbClr val="19264B"/>
                </a:solidFill>
              </a:rPr>
              <a:t> + </a:t>
            </a:r>
            <a:r>
              <a:rPr lang="ko-KR" sz="1300" dirty="0" err="1">
                <a:solidFill>
                  <a:srgbClr val="19264B"/>
                </a:solidFill>
              </a:rPr>
              <a:t>Dense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Retrieval</a:t>
            </a:r>
            <a:r>
              <a:rPr lang="ko-KR" sz="1300" dirty="0">
                <a:solidFill>
                  <a:srgbClr val="19264B"/>
                </a:solidFill>
              </a:rPr>
              <a:t> + </a:t>
            </a:r>
            <a:r>
              <a:rPr lang="ko-KR" sz="1300" dirty="0" err="1">
                <a:solidFill>
                  <a:srgbClr val="19264B"/>
                </a:solidFill>
              </a:rPr>
              <a:t>Rule-based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Boost</a:t>
            </a:r>
            <a:r>
              <a:rPr lang="ko-KR" sz="1300" dirty="0">
                <a:solidFill>
                  <a:srgbClr val="19264B"/>
                </a:solidFill>
              </a:rPr>
              <a:t> + </a:t>
            </a:r>
            <a:r>
              <a:rPr lang="ko-KR" sz="1300" dirty="0" err="1">
                <a:solidFill>
                  <a:srgbClr val="19264B"/>
                </a:solidFill>
              </a:rPr>
              <a:t>Reranker</a:t>
            </a:r>
            <a:r>
              <a:rPr lang="ko-KR" sz="1300" dirty="0">
                <a:solidFill>
                  <a:srgbClr val="19264B"/>
                </a:solidFill>
              </a:rPr>
              <a:t> 결합</a:t>
            </a:r>
          </a:p>
          <a:p>
            <a:pPr marL="342900" lvl="0" indent="-342900" algn="l" rtl="0">
              <a:lnSpc>
                <a:spcPts val="2800"/>
              </a:lnSpc>
              <a:spcBef>
                <a:spcPts val="0"/>
              </a:spcBef>
              <a:spcAft>
                <a:spcPts val="100"/>
              </a:spcAft>
              <a:buChar char="▪"/>
            </a:pPr>
            <a:r>
              <a:rPr lang="ko-KR" sz="1300" dirty="0" err="1">
                <a:solidFill>
                  <a:srgbClr val="19264B"/>
                </a:solidFill>
              </a:rPr>
              <a:t>Citation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family</a:t>
            </a:r>
            <a:r>
              <a:rPr lang="ko-KR" sz="1300" dirty="0">
                <a:solidFill>
                  <a:srgbClr val="19264B"/>
                </a:solidFill>
              </a:rPr>
              <a:t> 단위 </a:t>
            </a:r>
            <a:r>
              <a:rPr lang="ko-KR" sz="1300" dirty="0" err="1">
                <a:solidFill>
                  <a:srgbClr val="19264B"/>
                </a:solidFill>
              </a:rPr>
              <a:t>normalization으로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formatting</a:t>
            </a:r>
            <a:r>
              <a:rPr lang="ko-KR" sz="1300" dirty="0">
                <a:solidFill>
                  <a:srgbClr val="19264B"/>
                </a:solidFill>
              </a:rPr>
              <a:t> </a:t>
            </a:r>
            <a:r>
              <a:rPr lang="ko-KR" sz="1300" dirty="0" err="1">
                <a:solidFill>
                  <a:srgbClr val="19264B"/>
                </a:solidFill>
              </a:rPr>
              <a:t>mismatch</a:t>
            </a:r>
            <a:r>
              <a:rPr lang="ko-KR" sz="1300" dirty="0">
                <a:solidFill>
                  <a:srgbClr val="19264B"/>
                </a:solidFill>
              </a:rPr>
              <a:t> 감소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TeamIm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q1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q2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q3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3" name="WhiteLine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</a:ln>
        </p:spPr>
      </p:cxnSp>
      <p:sp>
        <p:nvSpPr>
          <p:cNvPr id="305" name="SectionTitle"/>
          <p:cNvSpPr txBox="1"/>
          <p:nvPr/>
        </p:nvSpPr>
        <p:spPr>
          <a:xfrm>
            <a:off x="2082300" y="1700000"/>
            <a:ext cx="600000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1">
                <a:solidFill>
                  <a:schemeClr val="lt1"/>
                </a:solidFill>
                <a:latin typeface="NanumGothicExtraBold"/>
                <a:ea typeface="NanumGothicExtraBold"/>
              </a:rPr>
              <a:t>Track 2</a:t>
            </a:r>
          </a:p>
        </p:txBody>
      </p:sp>
      <p:sp>
        <p:nvSpPr>
          <p:cNvPr id="304" name="SubtitleBox"/>
          <p:cNvSpPr txBox="1"/>
          <p:nvPr/>
        </p:nvSpPr>
        <p:spPr>
          <a:xfrm>
            <a:off x="2082300" y="2900000"/>
            <a:ext cx="60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lt1"/>
                </a:solidFill>
                <a:latin typeface="NanumGothicExtraBold"/>
                <a:ea typeface="NanumGothicExtraBold"/>
              </a:rPr>
              <a:t>뉴스 제목 과장·왜곡 탐지 미니 프로젝트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NavyBar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WhiteLine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</p:cxnSp>
      <p:pic>
        <p:nvPicPr>
          <p:cNvPr id="203" name="TeamIm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TitleBox"/>
          <p:cNvSpPr txBox="1"/>
          <p:nvPr/>
        </p:nvSpPr>
        <p:spPr>
          <a:xfrm>
            <a:off x="1408975" y="306875"/>
            <a:ext cx="8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19264B"/>
                </a:solidFill>
                <a:latin typeface="NanumGothicExtraBold"/>
                <a:ea typeface="NanumGothicExtraBold"/>
              </a:rPr>
              <a:t>Track 2 · 뉴스 제목 과장·왜곡 탐지 개요</a:t>
            </a:r>
          </a:p>
        </p:txBody>
      </p:sp>
      <p:sp>
        <p:nvSpPr>
          <p:cNvPr id="205" name="ContentBox"/>
          <p:cNvSpPr txBox="1"/>
          <p:nvPr/>
        </p:nvSpPr>
        <p:spPr>
          <a:xfrm>
            <a:off x="1408975" y="754309"/>
            <a:ext cx="8000000" cy="445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20000"/>
              </a:lnSpc>
              <a:spcAft>
                <a:spcPts val="80"/>
              </a:spcAft>
            </a:pPr>
            <a:r>
              <a:rPr lang="ko-KR" altLang="en-US" sz="1500" b="1" dirty="0">
                <a:solidFill>
                  <a:srgbClr val="2D6DB5"/>
                </a:solidFill>
              </a:rPr>
              <a:t>■ 주제</a:t>
            </a:r>
            <a:r>
              <a:rPr lang="en-US" altLang="ko-KR" sz="1500" b="1" dirty="0">
                <a:solidFill>
                  <a:srgbClr val="2D6DB5"/>
                </a:solidFill>
              </a:rPr>
              <a:t>: </a:t>
            </a:r>
            <a:r>
              <a:rPr lang="ko-KR" altLang="en-US" sz="1500" b="1" dirty="0">
                <a:solidFill>
                  <a:srgbClr val="2D6DB5"/>
                </a:solidFill>
              </a:rPr>
              <a:t>뉴스 제목 과장</a:t>
            </a:r>
            <a:r>
              <a:rPr lang="en-US" altLang="ko-KR" sz="1500" b="1" dirty="0">
                <a:solidFill>
                  <a:srgbClr val="2D6DB5"/>
                </a:solidFill>
              </a:rPr>
              <a:t>·</a:t>
            </a:r>
            <a:r>
              <a:rPr lang="ko-KR" altLang="en-US" sz="1500" b="1" dirty="0">
                <a:solidFill>
                  <a:srgbClr val="2D6DB5"/>
                </a:solidFill>
              </a:rPr>
              <a:t>왜곡 탐지</a:t>
            </a:r>
          </a:p>
          <a:p>
            <a:pPr lvl="0">
              <a:lnSpc>
                <a:spcPct val="120000"/>
              </a:lnSpc>
              <a:spcAft>
                <a:spcPts val="80"/>
              </a:spcAft>
            </a:pPr>
            <a:r>
              <a:rPr lang="ko-KR" altLang="en-US" sz="1200" dirty="0">
                <a:solidFill>
                  <a:schemeClr val="tx1"/>
                </a:solidFill>
              </a:rPr>
              <a:t>뉴스 기사에서 제목이 본문 내용을 과장</a:t>
            </a:r>
            <a:r>
              <a:rPr lang="en-US" altLang="ko-KR" sz="1200" dirty="0">
                <a:solidFill>
                  <a:schemeClr val="tx1"/>
                </a:solidFill>
              </a:rPr>
              <a:t>·</a:t>
            </a:r>
            <a:r>
              <a:rPr lang="ko-KR" altLang="en-US" sz="1200" dirty="0">
                <a:solidFill>
                  <a:schemeClr val="tx1"/>
                </a:solidFill>
              </a:rPr>
              <a:t>왜곡하는 경우 탐지</a:t>
            </a:r>
          </a:p>
          <a:p>
            <a:pPr lvl="0">
              <a:lnSpc>
                <a:spcPct val="120000"/>
              </a:lnSpc>
              <a:spcAft>
                <a:spcPts val="80"/>
              </a:spcAft>
            </a:pPr>
            <a:r>
              <a:rPr lang="ko-KR" altLang="en-US" sz="1200" dirty="0">
                <a:solidFill>
                  <a:schemeClr val="tx1"/>
                </a:solidFill>
              </a:rPr>
              <a:t>데이터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en" altLang="ko-KR" sz="1200" dirty="0">
                <a:solidFill>
                  <a:schemeClr val="tx1"/>
                </a:solidFill>
              </a:rPr>
              <a:t>AI-Hub </a:t>
            </a:r>
            <a:r>
              <a:rPr lang="ko-KR" altLang="en-US" sz="1200" dirty="0" err="1">
                <a:solidFill>
                  <a:schemeClr val="tx1"/>
                </a:solidFill>
              </a:rPr>
              <a:t>낚시성</a:t>
            </a:r>
            <a:r>
              <a:rPr lang="ko-KR" altLang="en-US" sz="1200" dirty="0">
                <a:solidFill>
                  <a:schemeClr val="tx1"/>
                </a:solidFill>
              </a:rPr>
              <a:t> 기사 탐지 데이터셋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" altLang="ko-KR" sz="1200" dirty="0">
                <a:solidFill>
                  <a:schemeClr val="tx1"/>
                </a:solidFill>
              </a:rPr>
              <a:t>Auto / Direct)</a:t>
            </a:r>
          </a:p>
          <a:p>
            <a:pPr lvl="0">
              <a:lnSpc>
                <a:spcPct val="120000"/>
              </a:lnSpc>
              <a:spcAft>
                <a:spcPts val="80"/>
              </a:spcAft>
            </a:pPr>
            <a:endParaRPr lang="en" altLang="ko-KR" sz="12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en-US" sz="1500" b="1" dirty="0">
                <a:solidFill>
                  <a:srgbClr val="2D6DB5"/>
                </a:solidFill>
              </a:rPr>
              <a:t>■ 실험 설계 방향</a:t>
            </a:r>
            <a:endParaRPr lang="ko-KR" altLang="ko-KR" sz="1500" b="1" dirty="0"/>
          </a:p>
          <a:p>
            <a:pPr>
              <a:lnSpc>
                <a:spcPct val="120000"/>
              </a:lnSpc>
            </a:pPr>
            <a:r>
              <a:rPr lang="ko-KR" altLang="ko-KR" sz="1200" dirty="0"/>
              <a:t>단순 </a:t>
            </a:r>
            <a:r>
              <a:rPr lang="ko-KR" altLang="ko-KR" sz="1200" dirty="0" err="1"/>
              <a:t>낚시성</a:t>
            </a:r>
            <a:r>
              <a:rPr lang="ko-KR" altLang="ko-KR" sz="1200" dirty="0"/>
              <a:t> 분류에서 시작해, 더 세밀한 가공패턴유형 분류로 확장 </a:t>
            </a:r>
          </a:p>
          <a:p>
            <a:pPr>
              <a:lnSpc>
                <a:spcPct val="120000"/>
              </a:lnSpc>
            </a:pPr>
            <a:r>
              <a:rPr lang="ko-KR" altLang="ko-KR" sz="1200" dirty="0"/>
              <a:t>작은 분류 모델과 국가대표 </a:t>
            </a:r>
            <a:r>
              <a:rPr lang="ko-KR" altLang="ko-KR" sz="1200" dirty="0" err="1"/>
              <a:t>LLM의</a:t>
            </a:r>
            <a:r>
              <a:rPr lang="ko-KR" altLang="ko-KR" sz="1200" dirty="0"/>
              <a:t> 성능 차이를 비교하는 방향으로 설계 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endParaRPr lang="ko-KR" altLang="ko-KR" sz="1200" dirty="0"/>
          </a:p>
          <a:p>
            <a:pPr>
              <a:lnSpc>
                <a:spcPct val="120000"/>
              </a:lnSpc>
            </a:pPr>
            <a:r>
              <a:rPr lang="ko-KR" altLang="en-US" sz="1500" b="1" dirty="0">
                <a:solidFill>
                  <a:srgbClr val="2D6DB5"/>
                </a:solidFill>
              </a:rPr>
              <a:t>■ 비교 실험 설계</a:t>
            </a:r>
            <a:endParaRPr lang="ko-KR" altLang="ko-KR" sz="1500" b="1" dirty="0"/>
          </a:p>
          <a:p>
            <a:pPr>
              <a:lnSpc>
                <a:spcPct val="120000"/>
              </a:lnSpc>
            </a:pPr>
            <a:r>
              <a:rPr lang="ko-KR" altLang="ko-KR" sz="1200" dirty="0"/>
              <a:t>① 제목 </a:t>
            </a:r>
            <a:r>
              <a:rPr lang="ko-KR" altLang="ko-KR" sz="1200" dirty="0" err="1"/>
              <a:t>vs</a:t>
            </a:r>
            <a:r>
              <a:rPr lang="ko-KR" altLang="ko-KR" sz="1200" dirty="0"/>
              <a:t> 본문 전체</a:t>
            </a:r>
            <a:br>
              <a:rPr lang="ko-KR" altLang="ko-KR" sz="1200" dirty="0"/>
            </a:br>
            <a:r>
              <a:rPr lang="ko-KR" altLang="ko-KR" sz="1200" dirty="0"/>
              <a:t>② 제목 </a:t>
            </a:r>
            <a:r>
              <a:rPr lang="ko-KR" altLang="ko-KR" sz="1200" dirty="0" err="1"/>
              <a:t>vs</a:t>
            </a:r>
            <a:r>
              <a:rPr lang="ko-KR" altLang="ko-KR" sz="1200" dirty="0"/>
              <a:t> 본문 첫 문장</a:t>
            </a:r>
            <a:br>
              <a:rPr lang="ko-KR" altLang="ko-KR" sz="1200" dirty="0"/>
            </a:br>
            <a:r>
              <a:rPr lang="ko-KR" altLang="ko-KR" sz="1200" dirty="0"/>
              <a:t>③ 제목 </a:t>
            </a:r>
            <a:r>
              <a:rPr lang="ko-KR" altLang="ko-KR" sz="1200" dirty="0" err="1"/>
              <a:t>vs</a:t>
            </a:r>
            <a:r>
              <a:rPr lang="ko-KR" altLang="ko-KR" sz="1200" dirty="0"/>
              <a:t> LLM 요약문</a:t>
            </a:r>
            <a:br>
              <a:rPr lang="ko-KR" altLang="ko-KR" sz="1200" dirty="0"/>
            </a:br>
            <a:r>
              <a:rPr lang="ko-KR" altLang="ko-KR" sz="1200" dirty="0"/>
              <a:t>④ 가공패턴유형 11~16 분류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endParaRPr lang="ko-KR" altLang="ko-KR" sz="1200" dirty="0"/>
          </a:p>
          <a:p>
            <a:pPr lvl="0">
              <a:lnSpc>
                <a:spcPct val="120000"/>
              </a:lnSpc>
              <a:spcAft>
                <a:spcPts val="80"/>
              </a:spcAft>
            </a:pPr>
            <a:r>
              <a:rPr lang="ko-KR" altLang="en-US" sz="1500" b="1" dirty="0">
                <a:solidFill>
                  <a:srgbClr val="2D6DB5"/>
                </a:solidFill>
              </a:rPr>
              <a:t>■ 현재 진행상황</a:t>
            </a:r>
          </a:p>
          <a:p>
            <a:pPr>
              <a:lnSpc>
                <a:spcPct val="120000"/>
              </a:lnSpc>
            </a:pPr>
            <a:r>
              <a:rPr lang="ko-KR" altLang="ko-KR" sz="1200" dirty="0" err="1"/>
              <a:t>Hugging</a:t>
            </a:r>
            <a:r>
              <a:rPr lang="ko-KR" altLang="ko-KR" sz="1200" dirty="0"/>
              <a:t> </a:t>
            </a:r>
            <a:r>
              <a:rPr lang="ko-KR" altLang="ko-KR" sz="1200" dirty="0" err="1"/>
              <a:t>Face</a:t>
            </a:r>
            <a:r>
              <a:rPr lang="ko-KR" altLang="ko-KR" sz="1200" dirty="0"/>
              <a:t> 기반 작은 분류 모델로 예비실험 진행 </a:t>
            </a:r>
          </a:p>
          <a:p>
            <a:pPr>
              <a:lnSpc>
                <a:spcPct val="120000"/>
              </a:lnSpc>
            </a:pPr>
            <a:r>
              <a:rPr lang="ko-KR" altLang="ko-KR" sz="1200" dirty="0"/>
              <a:t>단순 분류에서는 성능이 높게 나타나, 더 어려운 가공패턴유형 분류로 확장 </a:t>
            </a:r>
          </a:p>
          <a:p>
            <a:pPr>
              <a:lnSpc>
                <a:spcPct val="120000"/>
              </a:lnSpc>
            </a:pPr>
            <a:r>
              <a:rPr lang="ko-KR" altLang="ko-KR" sz="1200" dirty="0"/>
              <a:t>국가대표 LLM 기반 비교 실험은 GPU 확보 후 진행 예정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NavyBar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WhiteLine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</p:cxnSp>
      <p:pic>
        <p:nvPicPr>
          <p:cNvPr id="203" name="TeamIm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TitleBox"/>
          <p:cNvSpPr txBox="1"/>
          <p:nvPr/>
        </p:nvSpPr>
        <p:spPr>
          <a:xfrm>
            <a:off x="1408975" y="306875"/>
            <a:ext cx="8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19264B"/>
                </a:solidFill>
                <a:latin typeface="NanumGothicExtraBold"/>
                <a:ea typeface="NanumGothicExtraBold"/>
              </a:rPr>
              <a:t>뉴스 데이터 구조 및 가공패턴유형</a:t>
            </a:r>
          </a:p>
        </p:txBody>
      </p:sp>
      <p:sp>
        <p:nvSpPr>
          <p:cNvPr id="205" name="ContentBox"/>
          <p:cNvSpPr txBox="1"/>
          <p:nvPr/>
        </p:nvSpPr>
        <p:spPr>
          <a:xfrm>
            <a:off x="1408975" y="737630"/>
            <a:ext cx="8000000" cy="4445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ko-KR" sz="1500" b="1" dirty="0">
                <a:solidFill>
                  <a:srgbClr val="0070C0"/>
                </a:solidFill>
              </a:rPr>
              <a:t>■ 데이터 구조</a:t>
            </a:r>
          </a:p>
          <a:p>
            <a:pPr>
              <a:lnSpc>
                <a:spcPct val="130000"/>
              </a:lnSpc>
            </a:pPr>
            <a:r>
              <a:rPr lang="ko-KR" altLang="ko-KR" sz="1200" dirty="0"/>
              <a:t>AI-</a:t>
            </a:r>
            <a:r>
              <a:rPr lang="ko-KR" altLang="ko-KR" sz="1200" dirty="0" err="1"/>
              <a:t>Hub</a:t>
            </a:r>
            <a:r>
              <a:rPr lang="ko-KR" altLang="ko-KR" sz="1200" dirty="0"/>
              <a:t> </a:t>
            </a:r>
            <a:r>
              <a:rPr lang="ko-KR" altLang="ko-KR" sz="1200" dirty="0" err="1"/>
              <a:t>낚시성</a:t>
            </a:r>
            <a:r>
              <a:rPr lang="ko-KR" altLang="ko-KR" sz="1200" dirty="0"/>
              <a:t> 기사 탐지 데이터셋 사용 </a:t>
            </a:r>
          </a:p>
          <a:p>
            <a:pPr>
              <a:lnSpc>
                <a:spcPct val="130000"/>
              </a:lnSpc>
            </a:pPr>
            <a:r>
              <a:rPr lang="ko-KR" altLang="ko-KR" sz="1200" dirty="0"/>
              <a:t>Auto 버전 / </a:t>
            </a:r>
            <a:r>
              <a:rPr lang="ko-KR" altLang="ko-KR" sz="1200" dirty="0" err="1"/>
              <a:t>Direct</a:t>
            </a:r>
            <a:r>
              <a:rPr lang="ko-KR" altLang="ko-KR" sz="1200" dirty="0"/>
              <a:t> 버전으로 구성 </a:t>
            </a:r>
          </a:p>
          <a:p>
            <a:pPr>
              <a:lnSpc>
                <a:spcPct val="130000"/>
              </a:lnSpc>
            </a:pPr>
            <a:r>
              <a:rPr lang="ko-KR" altLang="ko-KR" sz="1200" dirty="0" err="1"/>
              <a:t>Direct</a:t>
            </a:r>
            <a:r>
              <a:rPr lang="ko-KR" altLang="ko-KR" sz="1200" dirty="0"/>
              <a:t> 버전에는 사람이 직접 제목을 변형한 </a:t>
            </a:r>
            <a:r>
              <a:rPr lang="ko-KR" altLang="ko-KR" sz="1200" dirty="0" err="1"/>
              <a:t>processPattern</a:t>
            </a:r>
            <a:r>
              <a:rPr lang="ko-KR" altLang="ko-KR" sz="1200" dirty="0"/>
              <a:t> 존재 </a:t>
            </a:r>
            <a:endParaRPr lang="en-US" altLang="ko-KR" sz="1200" dirty="0"/>
          </a:p>
          <a:p>
            <a:pPr>
              <a:lnSpc>
                <a:spcPct val="130000"/>
              </a:lnSpc>
            </a:pPr>
            <a:endParaRPr lang="ko-KR" altLang="ko-KR" sz="1200" dirty="0"/>
          </a:p>
          <a:p>
            <a:pPr>
              <a:lnSpc>
                <a:spcPct val="130000"/>
              </a:lnSpc>
            </a:pPr>
            <a:r>
              <a:rPr lang="ko-KR" altLang="ko-KR" sz="1500" b="1" dirty="0">
                <a:solidFill>
                  <a:srgbClr val="0070C0"/>
                </a:solidFill>
              </a:rPr>
              <a:t>■ 가공패턴유형 분류</a:t>
            </a:r>
          </a:p>
          <a:p>
            <a:pPr>
              <a:lnSpc>
                <a:spcPct val="130000"/>
              </a:lnSpc>
            </a:pPr>
            <a:r>
              <a:rPr lang="ko-KR" altLang="ko-KR" sz="1200" dirty="0"/>
              <a:t>단순 </a:t>
            </a:r>
            <a:r>
              <a:rPr lang="ko-KR" altLang="ko-KR" sz="1200" dirty="0" err="1"/>
              <a:t>낚시성</a:t>
            </a:r>
            <a:r>
              <a:rPr lang="ko-KR" altLang="ko-KR" sz="1200" dirty="0"/>
              <a:t>/비낚시성 분류는 정제된 데이터에서 성능이 높게 나타남 </a:t>
            </a:r>
          </a:p>
          <a:p>
            <a:pPr>
              <a:lnSpc>
                <a:spcPct val="130000"/>
              </a:lnSpc>
            </a:pPr>
            <a:r>
              <a:rPr lang="ko-KR" altLang="ko-KR" sz="1200" dirty="0"/>
              <a:t>따라서 모델 간 차이를 더 명확히 보기 위해 세부 유형 분류 </a:t>
            </a:r>
            <a:r>
              <a:rPr lang="ko-KR" altLang="ko-KR" sz="1200" dirty="0" err="1"/>
              <a:t>task로</a:t>
            </a:r>
            <a:r>
              <a:rPr lang="ko-KR" altLang="ko-KR" sz="1200" dirty="0"/>
              <a:t> 확장 </a:t>
            </a:r>
          </a:p>
          <a:p>
            <a:pPr>
              <a:lnSpc>
                <a:spcPct val="130000"/>
              </a:lnSpc>
            </a:pPr>
            <a:r>
              <a:rPr lang="ko-KR" altLang="ko-KR" sz="1200" dirty="0"/>
              <a:t>최종적으로 작은 분류 모델과 국가대표 </a:t>
            </a:r>
            <a:r>
              <a:rPr lang="ko-KR" altLang="ko-KR" sz="1200" dirty="0" err="1"/>
              <a:t>LLM의</a:t>
            </a:r>
            <a:r>
              <a:rPr lang="ko-KR" altLang="ko-KR" sz="1200" dirty="0"/>
              <a:t> 성능을 비교하는 것이 목표</a:t>
            </a:r>
            <a:endParaRPr lang="en-US" altLang="ko-KR" sz="1200" dirty="0"/>
          </a:p>
          <a:p>
            <a:pPr>
              <a:lnSpc>
                <a:spcPct val="130000"/>
              </a:lnSpc>
            </a:pPr>
            <a:r>
              <a:rPr lang="ko-KR" altLang="ko-KR" sz="1200" dirty="0"/>
              <a:t> </a:t>
            </a:r>
          </a:p>
          <a:p>
            <a:pPr>
              <a:lnSpc>
                <a:spcPct val="130000"/>
              </a:lnSpc>
            </a:pPr>
            <a:r>
              <a:rPr lang="ko-KR" altLang="ko-KR" sz="1500" b="1" dirty="0">
                <a:solidFill>
                  <a:srgbClr val="0070C0"/>
                </a:solidFill>
              </a:rPr>
              <a:t>■ 분류 대상</a:t>
            </a:r>
          </a:p>
          <a:p>
            <a:pPr>
              <a:lnSpc>
                <a:spcPct val="130000"/>
              </a:lnSpc>
            </a:pPr>
            <a:r>
              <a:rPr lang="ko-KR" altLang="ko-KR" sz="1200" dirty="0"/>
              <a:t>11: 의문형 표현 또는 추측 추가 </a:t>
            </a:r>
          </a:p>
          <a:p>
            <a:pPr>
              <a:lnSpc>
                <a:spcPct val="130000"/>
              </a:lnSpc>
            </a:pPr>
            <a:r>
              <a:rPr lang="ko-KR" altLang="ko-KR" sz="1200" dirty="0"/>
              <a:t>12: 핵심 내용을 숨기고 호기심 유발 </a:t>
            </a:r>
          </a:p>
          <a:p>
            <a:pPr>
              <a:lnSpc>
                <a:spcPct val="130000"/>
              </a:lnSpc>
            </a:pPr>
            <a:r>
              <a:rPr lang="ko-KR" altLang="ko-KR" sz="1200" dirty="0"/>
              <a:t>13: 감정 자극 표현 삽입 </a:t>
            </a:r>
          </a:p>
          <a:p>
            <a:pPr>
              <a:lnSpc>
                <a:spcPct val="130000"/>
              </a:lnSpc>
            </a:pPr>
            <a:r>
              <a:rPr lang="ko-KR" altLang="ko-KR" sz="1200" dirty="0"/>
              <a:t>14: </a:t>
            </a:r>
            <a:r>
              <a:rPr lang="ko-KR" altLang="ko-KR" sz="1200" dirty="0" err="1"/>
              <a:t>과장·긍정</a:t>
            </a:r>
            <a:r>
              <a:rPr lang="ko-KR" altLang="ko-KR" sz="1200" dirty="0"/>
              <a:t> 표현 </a:t>
            </a:r>
          </a:p>
          <a:p>
            <a:pPr>
              <a:lnSpc>
                <a:spcPct val="130000"/>
              </a:lnSpc>
            </a:pPr>
            <a:r>
              <a:rPr lang="ko-KR" altLang="ko-KR" sz="1200" dirty="0"/>
              <a:t>15: </a:t>
            </a:r>
            <a:r>
              <a:rPr lang="ko-KR" altLang="ko-KR" sz="1200" dirty="0" err="1"/>
              <a:t>갈등·대립</a:t>
            </a:r>
            <a:r>
              <a:rPr lang="ko-KR" altLang="ko-KR" sz="1200" dirty="0"/>
              <a:t> 구도 과장 </a:t>
            </a:r>
          </a:p>
          <a:p>
            <a:pPr>
              <a:lnSpc>
                <a:spcPct val="130000"/>
              </a:lnSpc>
            </a:pPr>
            <a:r>
              <a:rPr lang="ko-KR" altLang="ko-KR" sz="1200" dirty="0"/>
              <a:t>16: 미래 불확실성 또는 기대감 유발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NavyBar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WhiteLine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</p:cxnSp>
      <p:pic>
        <p:nvPicPr>
          <p:cNvPr id="203" name="TeamIm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TitleBox"/>
          <p:cNvSpPr txBox="1"/>
          <p:nvPr/>
        </p:nvSpPr>
        <p:spPr>
          <a:xfrm>
            <a:off x="1408975" y="306875"/>
            <a:ext cx="8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19264B"/>
                </a:solidFill>
                <a:latin typeface="NanumGothicExtraBold"/>
                <a:ea typeface="NanumGothicExtraBold"/>
              </a:rPr>
              <a:t>Track 2 · 예비실험 결과</a:t>
            </a:r>
          </a:p>
        </p:txBody>
      </p:sp>
      <p:sp>
        <p:nvSpPr>
          <p:cNvPr id="205" name="ContentBox"/>
          <p:cNvSpPr txBox="1"/>
          <p:nvPr/>
        </p:nvSpPr>
        <p:spPr>
          <a:xfrm>
            <a:off x="1408975" y="716727"/>
            <a:ext cx="8000000" cy="451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가공패턴유형 분류 예비실험 결과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400" b="1" dirty="0">
                <a:solidFill>
                  <a:srgbClr val="19264B"/>
                </a:solidFill>
              </a:rPr>
              <a:t>실험 ①  </a:t>
            </a:r>
            <a:r>
              <a:rPr lang="ko-KR" sz="1400" dirty="0" err="1">
                <a:solidFill>
                  <a:srgbClr val="19264B"/>
                </a:solidFill>
              </a:rPr>
              <a:t>validation</a:t>
            </a:r>
            <a:r>
              <a:rPr lang="ko-KR" sz="1400" dirty="0">
                <a:solidFill>
                  <a:srgbClr val="19264B"/>
                </a:solidFill>
              </a:rPr>
              <a:t> </a:t>
            </a:r>
            <a:r>
              <a:rPr lang="ko-KR" sz="1400" dirty="0" err="1">
                <a:solidFill>
                  <a:srgbClr val="19264B"/>
                </a:solidFill>
              </a:rPr>
              <a:t>set</a:t>
            </a:r>
            <a:r>
              <a:rPr lang="ko-KR" sz="1400" dirty="0">
                <a:solidFill>
                  <a:srgbClr val="19264B"/>
                </a:solidFill>
              </a:rPr>
              <a:t> ET 분야 랜덤 200개 평가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ko-KR" sz="1300" b="1" dirty="0">
                <a:solidFill>
                  <a:srgbClr val="888888"/>
                </a:solidFill>
              </a:rPr>
              <a:t>    </a:t>
            </a:r>
            <a:r>
              <a:rPr lang="ko-KR" sz="1300" b="1" dirty="0" err="1">
                <a:solidFill>
                  <a:srgbClr val="888888"/>
                </a:solidFill>
              </a:rPr>
              <a:t>Accuracy</a:t>
            </a:r>
            <a:r>
              <a:rPr lang="ko-KR" sz="1300" b="1" dirty="0">
                <a:solidFill>
                  <a:srgbClr val="888888"/>
                </a:solidFill>
              </a:rPr>
              <a:t>: 82%  /  F1-score: 59%  →  </a:t>
            </a:r>
            <a:r>
              <a:rPr lang="ko-KR" altLang="en-US" sz="1300" b="1" dirty="0">
                <a:solidFill>
                  <a:srgbClr val="888888"/>
                </a:solidFill>
              </a:rPr>
              <a:t>랜덤 평가에서는 비교적 높은 성능</a:t>
            </a:r>
            <a:endParaRPr lang="ko-KR" sz="1300" b="1" dirty="0">
              <a:solidFill>
                <a:srgbClr val="888888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400" b="1" dirty="0">
                <a:solidFill>
                  <a:srgbClr val="19264B"/>
                </a:solidFill>
              </a:rPr>
              <a:t>실험 ②  </a:t>
            </a:r>
            <a:r>
              <a:rPr lang="ko-KR" sz="1400" dirty="0">
                <a:solidFill>
                  <a:srgbClr val="19264B"/>
                </a:solidFill>
              </a:rPr>
              <a:t>유형별 균형 샘플 평가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ko-KR" sz="1300" b="1" dirty="0">
                <a:solidFill>
                  <a:srgbClr val="888888"/>
                </a:solidFill>
              </a:rPr>
              <a:t>    </a:t>
            </a:r>
            <a:r>
              <a:rPr lang="ko-KR" sz="1300" b="1" dirty="0" err="1">
                <a:solidFill>
                  <a:srgbClr val="888888"/>
                </a:solidFill>
              </a:rPr>
              <a:t>Accuracy</a:t>
            </a:r>
            <a:r>
              <a:rPr lang="ko-KR" sz="1300" b="1" dirty="0">
                <a:solidFill>
                  <a:srgbClr val="888888"/>
                </a:solidFill>
              </a:rPr>
              <a:t>: 47%  /  F1-score: 33%  →  </a:t>
            </a:r>
            <a:r>
              <a:rPr lang="ko-KR" altLang="en-US" sz="1300" b="1" dirty="0">
                <a:solidFill>
                  <a:srgbClr val="888888"/>
                </a:solidFill>
              </a:rPr>
              <a:t>유형별 </a:t>
            </a:r>
            <a:r>
              <a:rPr lang="ko-KR" sz="1300" b="1" dirty="0">
                <a:solidFill>
                  <a:srgbClr val="888888"/>
                </a:solidFill>
              </a:rPr>
              <a:t>균형 평가 시 성능 큰 폭 하락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400" b="1" dirty="0">
                <a:solidFill>
                  <a:srgbClr val="19264B"/>
                </a:solidFill>
              </a:rPr>
              <a:t>실험 ③  </a:t>
            </a:r>
            <a:r>
              <a:rPr lang="ko-KR" sz="1400" dirty="0" err="1">
                <a:solidFill>
                  <a:srgbClr val="19264B"/>
                </a:solidFill>
              </a:rPr>
              <a:t>분야별·유형별</a:t>
            </a:r>
            <a:r>
              <a:rPr lang="ko-KR" sz="1400" dirty="0">
                <a:solidFill>
                  <a:srgbClr val="19264B"/>
                </a:solidFill>
              </a:rPr>
              <a:t> 균형 학습 </a:t>
            </a:r>
            <a:endParaRPr lang="en-US" altLang="ko-KR" sz="14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300" b="1" dirty="0" err="1">
                <a:solidFill>
                  <a:srgbClr val="888888"/>
                </a:solidFill>
              </a:rPr>
              <a:t>Accuracy</a:t>
            </a:r>
            <a:r>
              <a:rPr lang="ko-KR" sz="1300" b="1" dirty="0">
                <a:solidFill>
                  <a:srgbClr val="888888"/>
                </a:solidFill>
              </a:rPr>
              <a:t>: 30%  /  F1-score: 18%  →  </a:t>
            </a:r>
            <a:r>
              <a:rPr lang="ko-KR" altLang="en-US" sz="1300" b="1" dirty="0">
                <a:solidFill>
                  <a:srgbClr val="888888"/>
                </a:solidFill>
              </a:rPr>
              <a:t>학습 데이터 축소와 유형 간 구분 난이도로 인해 </a:t>
            </a:r>
            <a:endParaRPr lang="en-US" altLang="ko-KR" sz="1300" b="1" dirty="0">
              <a:solidFill>
                <a:srgbClr val="888888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ko-KR" altLang="en-US" sz="1300" b="1" dirty="0">
                <a:solidFill>
                  <a:srgbClr val="888888"/>
                </a:solidFill>
              </a:rPr>
              <a:t>                                                                     성능 저하 가능성</a:t>
            </a:r>
            <a:endParaRPr lang="ko-KR" sz="1300" b="1" dirty="0">
              <a:solidFill>
                <a:srgbClr val="888888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FFFFFF"/>
                </a:solidFill>
              </a:rPr>
              <a:t>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해석</a:t>
            </a:r>
            <a:endParaRPr lang="en-US" altLang="ko-KR" sz="1500" b="1" dirty="0">
              <a:solidFill>
                <a:srgbClr val="2D6DB5"/>
              </a:solidFill>
            </a:endParaRPr>
          </a:p>
          <a:p>
            <a:pPr lvl="0">
              <a:lnSpc>
                <a:spcPct val="150000"/>
              </a:lnSpc>
              <a:spcAft>
                <a:spcPts val="80"/>
              </a:spcAft>
            </a:pPr>
            <a:r>
              <a:rPr lang="ko-KR" altLang="ko-KR" sz="1200" dirty="0"/>
              <a:t>- 실험 ①의 높은 </a:t>
            </a:r>
            <a:r>
              <a:rPr lang="ko-KR" altLang="ko-KR" sz="1200" dirty="0" err="1"/>
              <a:t>Accuracy는</a:t>
            </a:r>
            <a:r>
              <a:rPr lang="ko-KR" altLang="ko-KR" sz="1200" dirty="0"/>
              <a:t> 데이터 불균형의 영향을 받았을 가능성</a:t>
            </a:r>
            <a:br>
              <a:rPr lang="ko-KR" altLang="ko-KR" sz="1200" dirty="0"/>
            </a:br>
            <a:r>
              <a:rPr lang="ko-KR" altLang="ko-KR" sz="1200" dirty="0"/>
              <a:t>- 실험 ②에서 소수 유형까지 고르게 분류하는 데 어려움 확인</a:t>
            </a:r>
            <a:br>
              <a:rPr lang="ko-KR" altLang="ko-KR" sz="1200" dirty="0"/>
            </a:br>
            <a:r>
              <a:rPr lang="ko-KR" altLang="ko-KR" sz="1200" dirty="0"/>
              <a:t>- 실험 ③은 균형 학습을 시도했지만, 데이터 수 감소와 유형 간 경계 모호성으로 성능 저하</a:t>
            </a:r>
            <a:br>
              <a:rPr lang="ko-KR" altLang="ko-KR" sz="1200" dirty="0"/>
            </a:br>
            <a:r>
              <a:rPr lang="ko-KR" altLang="ko-KR" sz="1200" dirty="0"/>
              <a:t>- 따라서 </a:t>
            </a:r>
            <a:r>
              <a:rPr lang="ko-KR" altLang="ko-KR" sz="1200" dirty="0" err="1"/>
              <a:t>Accuracy보다</a:t>
            </a:r>
            <a:r>
              <a:rPr lang="ko-KR" altLang="ko-KR" sz="1200" dirty="0"/>
              <a:t> Macro-F1 및 유형별 F1 분석이 중요</a:t>
            </a:r>
            <a:endParaRPr lang="ko-KR" sz="1200" b="1" dirty="0">
              <a:solidFill>
                <a:srgbClr val="2D6DB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NavyBar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WhiteLine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</a:ln>
        </p:spPr>
      </p:cxnSp>
      <p:pic>
        <p:nvPicPr>
          <p:cNvPr id="203" name="TeamIm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TitleBox"/>
          <p:cNvSpPr txBox="1"/>
          <p:nvPr/>
        </p:nvSpPr>
        <p:spPr>
          <a:xfrm>
            <a:off x="1408975" y="306875"/>
            <a:ext cx="80000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rgbClr val="19264B"/>
                </a:solidFill>
                <a:latin typeface="NanumGothicExtraBold"/>
                <a:ea typeface="NanumGothicExtraBold"/>
              </a:rPr>
              <a:t>향후 계획</a:t>
            </a:r>
          </a:p>
        </p:txBody>
      </p:sp>
      <p:sp>
        <p:nvSpPr>
          <p:cNvPr id="205" name="ContentBox"/>
          <p:cNvSpPr txBox="1"/>
          <p:nvPr/>
        </p:nvSpPr>
        <p:spPr>
          <a:xfrm>
            <a:off x="1408975" y="900000"/>
            <a:ext cx="8000000" cy="3134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3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ko-KR" sz="1500" b="1" dirty="0">
                <a:solidFill>
                  <a:srgbClr val="2D6DB5"/>
                </a:solidFill>
              </a:rPr>
              <a:t>■ </a:t>
            </a:r>
            <a:r>
              <a:rPr lang="ko-KR" sz="1500" b="1" dirty="0" err="1">
                <a:solidFill>
                  <a:srgbClr val="2D6DB5"/>
                </a:solidFill>
              </a:rPr>
              <a:t>Track</a:t>
            </a:r>
            <a:r>
              <a:rPr lang="ko-KR" sz="1500" b="1" dirty="0">
                <a:solidFill>
                  <a:srgbClr val="2D6DB5"/>
                </a:solidFill>
              </a:rPr>
              <a:t> 2</a:t>
            </a:r>
          </a:p>
          <a:p>
            <a:pPr marL="342900" lvl="0" indent="-342900">
              <a:lnSpc>
                <a:spcPts val="2800"/>
              </a:lnSpc>
              <a:spcAft>
                <a:spcPts val="100"/>
              </a:spcAft>
              <a:buChar char="▪"/>
            </a:pPr>
            <a:r>
              <a:rPr lang="ko-KR" altLang="ko-KR" sz="1200" dirty="0"/>
              <a:t>GPU 확보 후 국가대표 LLM 기반 비교 실험 진행 </a:t>
            </a:r>
            <a:endParaRPr lang="en-US" altLang="ko-KR" sz="1200" dirty="0"/>
          </a:p>
          <a:p>
            <a:pPr marL="342900" lvl="0" indent="-342900">
              <a:lnSpc>
                <a:spcPts val="2800"/>
              </a:lnSpc>
              <a:spcAft>
                <a:spcPts val="100"/>
              </a:spcAft>
              <a:buChar char="▪"/>
            </a:pPr>
            <a:r>
              <a:rPr lang="ko-KR" altLang="ko-KR" sz="1200" dirty="0"/>
              <a:t>작은 분류 모델 </a:t>
            </a:r>
            <a:r>
              <a:rPr lang="ko-KR" altLang="ko-KR" sz="1200" dirty="0" err="1"/>
              <a:t>vs</a:t>
            </a:r>
            <a:r>
              <a:rPr lang="ko-KR" altLang="ko-KR" sz="1200" dirty="0"/>
              <a:t> 국가대표 LLM 성능 비교 </a:t>
            </a:r>
            <a:endParaRPr lang="en-US" altLang="ko-KR" sz="1200" dirty="0"/>
          </a:p>
          <a:p>
            <a:pPr marL="342900" lvl="0" indent="-342900">
              <a:lnSpc>
                <a:spcPts val="2800"/>
              </a:lnSpc>
              <a:spcAft>
                <a:spcPts val="100"/>
              </a:spcAft>
              <a:buChar char="▪"/>
            </a:pPr>
            <a:r>
              <a:rPr lang="ko-KR" altLang="ko-KR" sz="1200" dirty="0"/>
              <a:t>비교 </a:t>
            </a:r>
            <a:r>
              <a:rPr lang="ko-KR" altLang="ko-KR" sz="1200" dirty="0" err="1"/>
              <a:t>task</a:t>
            </a:r>
            <a:br>
              <a:rPr lang="ko-KR" altLang="ko-KR" sz="1200" dirty="0"/>
            </a:br>
            <a:r>
              <a:rPr lang="ko-KR" altLang="ko-KR" sz="1200" dirty="0"/>
              <a:t>① </a:t>
            </a:r>
            <a:r>
              <a:rPr lang="ko-KR" altLang="ko-KR" sz="1200" dirty="0" err="1"/>
              <a:t>낚시성</a:t>
            </a:r>
            <a:r>
              <a:rPr lang="ko-KR" altLang="ko-KR" sz="1200" dirty="0"/>
              <a:t> 여부 분류</a:t>
            </a:r>
            <a:br>
              <a:rPr lang="ko-KR" altLang="ko-KR" sz="1200" dirty="0"/>
            </a:br>
            <a:r>
              <a:rPr lang="ko-KR" altLang="ko-KR" sz="1200" dirty="0"/>
              <a:t>② 가공패턴유형 11~16 분류</a:t>
            </a:r>
            <a:br>
              <a:rPr lang="ko-KR" altLang="ko-KR" sz="1200" dirty="0"/>
            </a:br>
            <a:r>
              <a:rPr lang="ko-KR" altLang="ko-KR" sz="1200" dirty="0"/>
              <a:t>③ 제목 </a:t>
            </a:r>
            <a:r>
              <a:rPr lang="ko-KR" altLang="ko-KR" sz="1200" dirty="0" err="1"/>
              <a:t>vs</a:t>
            </a:r>
            <a:r>
              <a:rPr lang="ko-KR" altLang="ko-KR" sz="1200" dirty="0"/>
              <a:t> 본문 전체 / 첫 문장 / LLM 요약문 비교</a:t>
            </a:r>
            <a:br>
              <a:rPr lang="ko-KR" altLang="ko-KR" sz="1200" dirty="0"/>
            </a:br>
            <a:r>
              <a:rPr lang="ko-KR" altLang="ko-KR" sz="1200" dirty="0"/>
              <a:t>④ </a:t>
            </a:r>
            <a:r>
              <a:rPr lang="ko-KR" altLang="ko-KR" sz="1200" dirty="0" err="1"/>
              <a:t>낚시성</a:t>
            </a:r>
            <a:r>
              <a:rPr lang="ko-KR" altLang="ko-KR" sz="1200" dirty="0"/>
              <a:t> 판단 근거 설명 생성</a:t>
            </a:r>
            <a:endParaRPr lang="ko-KR" sz="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1250</Words>
  <Application>Microsoft Macintosh PowerPoint</Application>
  <PresentationFormat>화면 슬라이드 쇼(16:9)</PresentationFormat>
  <Paragraphs>151</Paragraphs>
  <Slides>14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Nanum Gothic</vt:lpstr>
      <vt:lpstr>NanumGothicExtraBold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서윤 최</cp:lastModifiedBy>
  <cp:revision>7</cp:revision>
  <dcterms:modified xsi:type="dcterms:W3CDTF">2026-05-26T09:23:18Z</dcterms:modified>
</cp:coreProperties>
</file>