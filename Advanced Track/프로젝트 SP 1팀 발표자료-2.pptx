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69" r:id="rId4"/>
    <p:sldId id="273" r:id="rId5"/>
    <p:sldId id="270" r:id="rId6"/>
    <p:sldId id="271" r:id="rId7"/>
    <p:sldId id="272" r:id="rId8"/>
    <p:sldId id="275" r:id="rId9"/>
    <p:sldId id="283" r:id="rId10"/>
    <p:sldId id="289" r:id="rId11"/>
    <p:sldId id="288" r:id="rId12"/>
    <p:sldId id="268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63288" autoAdjust="0"/>
  </p:normalViewPr>
  <p:slideViewPr>
    <p:cSldViewPr snapToGrid="0">
      <p:cViewPr varScale="1">
        <p:scale>
          <a:sx n="100" d="100"/>
          <a:sy n="100" d="100"/>
        </p:scale>
        <p:origin x="528" y="1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FA988BC-0EB9-DEEF-9115-0FD3A22E4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904A2B30-7B70-808F-447A-FBC3533CE8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E4EB087E-ED97-A10E-A0D4-72303C0B0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6826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2ACE103-0993-0972-333F-8BA7302DE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E6DCF5D1-3FB9-E3A1-2CAE-56FA9F308A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65739CFE-279A-B91B-7E40-C7CF7D9584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8724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0BE7DA8-20CF-645C-1394-597335640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4CE4EBED-DD0B-84FA-09A5-D19950944F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9FDA669F-1335-E775-0CCB-1C3EE43396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8630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0138968-6A4D-4B98-1041-BA6D7C123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4CF60042-0175-42F3-51BD-EFA3343AFD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7F80DC6-59F7-D76B-F52C-DC6699A8E2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563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C34B5B4-B0A1-A072-B5BA-B7532635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FF0F45BC-021C-034E-0050-943A21B9A9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F9DFB91-9D77-14A9-0249-F2A803CFD8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0389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C34B5B4-B0A1-A072-B5BA-B7532635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FF0F45BC-021C-034E-0050-943A21B9A9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F9DFB91-9D77-14A9-0249-F2A803CFD8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0389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C34B5B4-B0A1-A072-B5BA-B7532635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FF0F45BC-021C-034E-0050-943A21B9A9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F9DFB91-9D77-14A9-0249-F2A803CFD8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0389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C34B5B4-B0A1-A072-B5BA-B7532635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FF0F45BC-021C-034E-0050-943A21B9A9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F9DFB91-9D77-14A9-0249-F2A803CFD8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0389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C34B5B4-B0A1-A072-B5BA-B7532635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FF0F45BC-021C-034E-0050-943A21B9A9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F9DFB91-9D77-14A9-0249-F2A803CFD8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03897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0BBD54E-EBB9-385E-1AC3-6C2BB72F9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A1E032A3-CA45-AD46-4E64-72BFFD2A5A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395EEEC6-54CB-53F1-DCF1-B9F03957D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4122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JBHwIoaX7zk?feature=oembe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6831484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500" b="1" dirty="0">
                <a:solidFill>
                  <a:srgbClr val="19264B"/>
                </a:solidFill>
              </a:rPr>
              <a:t>Advanced </a:t>
            </a:r>
            <a:r>
              <a:rPr lang="ko-KR" altLang="en-US" sz="2500" b="1" dirty="0">
                <a:solidFill>
                  <a:srgbClr val="19264B"/>
                </a:solidFill>
              </a:rPr>
              <a:t>프로젝트 </a:t>
            </a:r>
            <a:r>
              <a:rPr lang="en-US" altLang="ko-KR" sz="2500" b="1" dirty="0">
                <a:solidFill>
                  <a:srgbClr val="19264B"/>
                </a:solidFill>
              </a:rPr>
              <a:t>SP</a:t>
            </a:r>
            <a:r>
              <a:rPr lang="ko-KR" altLang="en-US" sz="2500" b="1" dirty="0">
                <a:solidFill>
                  <a:srgbClr val="19264B"/>
                </a:solidFill>
              </a:rPr>
              <a:t> </a:t>
            </a:r>
            <a:r>
              <a:rPr lang="en-US" altLang="ko-KR" sz="2500" b="1" dirty="0">
                <a:solidFill>
                  <a:srgbClr val="19264B"/>
                </a:solidFill>
              </a:rPr>
              <a:t>1</a:t>
            </a:r>
            <a:r>
              <a:rPr lang="ko-KR" altLang="en-US" sz="2500" b="1" dirty="0">
                <a:solidFill>
                  <a:srgbClr val="19264B"/>
                </a:solidFill>
              </a:rPr>
              <a:t>팀</a:t>
            </a:r>
            <a:endParaRPr sz="20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6</a:t>
            </a:r>
            <a:r>
              <a:rPr lang="ko" dirty="0">
                <a:solidFill>
                  <a:srgbClr val="19264B"/>
                </a:solidFill>
              </a:rPr>
              <a:t>.03.</a:t>
            </a:r>
            <a:r>
              <a:rPr lang="en-US" altLang="ko" dirty="0">
                <a:solidFill>
                  <a:srgbClr val="19264B"/>
                </a:solidFill>
              </a:rPr>
              <a:t>10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</a:t>
            </a:r>
            <a:r>
              <a:rPr lang="ko-KR" altLang="en-US" sz="1100" dirty="0">
                <a:solidFill>
                  <a:srgbClr val="19264B"/>
                </a:solidFill>
              </a:rPr>
              <a:t> 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6469109-1C27-F819-02EA-96FA1D3F1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DAE1D1E4-7E9E-3CA6-C4A2-E2159C3AB82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56F6731D-115E-65A2-1C6D-B475C6992EDA}"/>
              </a:ext>
            </a:extLst>
          </p:cNvPr>
          <p:cNvSpPr txBox="1"/>
          <p:nvPr/>
        </p:nvSpPr>
        <p:spPr>
          <a:xfrm>
            <a:off x="1353975" y="211095"/>
            <a:ext cx="7382831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 err="1">
                <a:solidFill>
                  <a:srgbClr val="19264B"/>
                </a:solidFill>
              </a:rPr>
              <a:t>스터디원</a:t>
            </a:r>
            <a:r>
              <a:rPr lang="ko-KR" altLang="en-US" sz="2500" b="1" dirty="0">
                <a:solidFill>
                  <a:srgbClr val="19264B"/>
                </a:solidFill>
              </a:rPr>
              <a:t> 소개 및 만남 인증</a:t>
            </a:r>
            <a:endParaRPr lang="en-US" altLang="ko-KR" sz="2500" b="1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904BDFE1-DE29-B960-5655-82F8762E0365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D5A98D8F-A844-464E-F4E6-CE69473EB28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D74EF2F6-59C2-CCC2-5734-C2EF216BCC49}"/>
              </a:ext>
            </a:extLst>
          </p:cNvPr>
          <p:cNvSpPr txBox="1"/>
          <p:nvPr/>
        </p:nvSpPr>
        <p:spPr>
          <a:xfrm>
            <a:off x="6435428" y="2142962"/>
            <a:ext cx="1898675" cy="114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19264B"/>
                </a:solidFill>
              </a:rPr>
              <a:t>팀원 </a:t>
            </a:r>
            <a:r>
              <a:rPr lang="en-US" altLang="ko-KR" sz="1800" dirty="0">
                <a:solidFill>
                  <a:srgbClr val="19264B"/>
                </a:solidFill>
              </a:rPr>
              <a:t>1:</a:t>
            </a:r>
            <a:r>
              <a:rPr lang="ko-KR" altLang="en-US" sz="1800" dirty="0">
                <a:solidFill>
                  <a:srgbClr val="19264B"/>
                </a:solidFill>
              </a:rPr>
              <a:t> 김동건</a:t>
            </a:r>
            <a:endParaRPr lang="en-US" altLang="ko-KR" sz="18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19264B"/>
                </a:solidFill>
              </a:rPr>
              <a:t>팀원 </a:t>
            </a:r>
            <a:r>
              <a:rPr lang="en-US" altLang="ko-KR" sz="1800" dirty="0">
                <a:solidFill>
                  <a:srgbClr val="19264B"/>
                </a:solidFill>
              </a:rPr>
              <a:t>2:</a:t>
            </a:r>
            <a:r>
              <a:rPr lang="ko-KR" altLang="en-US" sz="1800" dirty="0">
                <a:solidFill>
                  <a:srgbClr val="19264B"/>
                </a:solidFill>
              </a:rPr>
              <a:t> 최영현</a:t>
            </a:r>
            <a:endParaRPr lang="en-US" altLang="ko-KR" sz="1800" dirty="0">
              <a:solidFill>
                <a:srgbClr val="19264B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AEEAFB-B158-FFE3-4EDF-8D450E0B726D}"/>
              </a:ext>
            </a:extLst>
          </p:cNvPr>
          <p:cNvSpPr/>
          <p:nvPr/>
        </p:nvSpPr>
        <p:spPr>
          <a:xfrm>
            <a:off x="1502229" y="1055550"/>
            <a:ext cx="4493622" cy="350338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73919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A85C5F2-DCD1-DBC6-5A52-146B4A773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B04EC7A9-9139-BA3A-F309-130879231F4A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CEFDAE45-1C7C-8568-8CAE-42BFE8176DB6}"/>
              </a:ext>
            </a:extLst>
          </p:cNvPr>
          <p:cNvSpPr txBox="1"/>
          <p:nvPr/>
        </p:nvSpPr>
        <p:spPr>
          <a:xfrm>
            <a:off x="1353975" y="211095"/>
            <a:ext cx="7382831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9264B"/>
                </a:solidFill>
              </a:rPr>
              <a:t>프로젝트 주제</a:t>
            </a:r>
            <a:endParaRPr lang="en-US" altLang="ko-KR" sz="2500" b="1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BA5A2E72-81D2-EB9C-9409-AC578533F33E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F685A893-D9B2-B867-FF86-26FFBF3512C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201E68EE-B9C7-8DEE-AA29-41E788400F8B}"/>
              </a:ext>
            </a:extLst>
          </p:cNvPr>
          <p:cNvSpPr txBox="1"/>
          <p:nvPr/>
        </p:nvSpPr>
        <p:spPr>
          <a:xfrm>
            <a:off x="1353975" y="803958"/>
            <a:ext cx="7382831" cy="145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19264B"/>
                </a:solidFill>
              </a:rPr>
              <a:t>아이디어 발단</a:t>
            </a:r>
            <a:r>
              <a:rPr lang="en-US" altLang="ko-KR" sz="1800" dirty="0">
                <a:solidFill>
                  <a:srgbClr val="19264B"/>
                </a:solidFill>
              </a:rPr>
              <a:t>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19264B"/>
                </a:solidFill>
              </a:rPr>
              <a:t>음성 합성이 발전하며 여러 </a:t>
            </a:r>
            <a:r>
              <a:rPr lang="en-US" altLang="ko-KR" sz="1800" dirty="0">
                <a:solidFill>
                  <a:srgbClr val="19264B"/>
                </a:solidFill>
              </a:rPr>
              <a:t>TTS </a:t>
            </a:r>
            <a:r>
              <a:rPr lang="ko-KR" altLang="en-US" sz="1800" dirty="0">
                <a:solidFill>
                  <a:srgbClr val="19264B"/>
                </a:solidFill>
              </a:rPr>
              <a:t>모델이 만들어졌지만</a:t>
            </a:r>
            <a:r>
              <a:rPr lang="en-US" altLang="ko-KR" sz="1800" dirty="0">
                <a:solidFill>
                  <a:srgbClr val="19264B"/>
                </a:solidFill>
              </a:rPr>
              <a:t>,</a:t>
            </a:r>
            <a:r>
              <a:rPr lang="ko-KR" altLang="en-US" sz="1800" dirty="0">
                <a:solidFill>
                  <a:srgbClr val="19264B"/>
                </a:solidFill>
              </a:rPr>
              <a:t> 한국의 여러 방언을 수준급으로 구사하는</a:t>
            </a:r>
            <a:r>
              <a:rPr lang="en-US" altLang="ko-KR" sz="1800" dirty="0">
                <a:solidFill>
                  <a:srgbClr val="19264B"/>
                </a:solidFill>
              </a:rPr>
              <a:t> TTS</a:t>
            </a:r>
            <a:r>
              <a:rPr lang="ko-KR" altLang="en-US" sz="1800" dirty="0">
                <a:solidFill>
                  <a:srgbClr val="19264B"/>
                </a:solidFill>
              </a:rPr>
              <a:t>는 찾아보기 힘듦</a:t>
            </a:r>
            <a:endParaRPr lang="en-US" altLang="ko-KR" sz="1800" dirty="0">
              <a:solidFill>
                <a:srgbClr val="19264B"/>
              </a:solidFill>
            </a:endParaRPr>
          </a:p>
        </p:txBody>
      </p:sp>
      <p:pic>
        <p:nvPicPr>
          <p:cNvPr id="5" name="그림 4" descr="텍스트, 폰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1F5527-1C9C-4D7B-FD63-65717BED6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975" y="2694744"/>
            <a:ext cx="3731862" cy="2020947"/>
          </a:xfrm>
          <a:prstGeom prst="rect">
            <a:avLst/>
          </a:prstGeom>
        </p:spPr>
      </p:pic>
      <p:pic>
        <p:nvPicPr>
          <p:cNvPr id="7" name="그림 6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69D206-B83E-9293-CC10-F6376B9EA6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1415" y="2360655"/>
            <a:ext cx="3162957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837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691DF3-A665-3A02-DD29-57137793E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3" name="온라인 미디어 2" descr="[교육] 경상도나 전라도 사투리 OpenAI.fm TTS로 리얼하게 가능할까? 내가 원하는 시대의 인물 표현은 일관되게 만들 수 있는 걸까? #Openaifm #미드저니7 #일관성">
            <a:hlinkClick r:id="" action="ppaction://media"/>
            <a:extLst>
              <a:ext uri="{FF2B5EF4-FFF2-40B4-BE49-F238E27FC236}">
                <a16:creationId xmlns:a16="http://schemas.microsoft.com/office/drawing/2014/main" id="{E72887E6-726C-ACE2-29CB-71AA4E9A5CC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23545" y="736373"/>
            <a:ext cx="6496909" cy="367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27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113B361-AD81-C6E3-5E06-54798372C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AC31B7D1-2D8E-4EAF-07DE-5CB44697BDE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AD9CC0BE-CE6A-1ED1-1567-41AF1179E61C}"/>
              </a:ext>
            </a:extLst>
          </p:cNvPr>
          <p:cNvSpPr txBox="1"/>
          <p:nvPr/>
        </p:nvSpPr>
        <p:spPr>
          <a:xfrm>
            <a:off x="1353975" y="211095"/>
            <a:ext cx="7382831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9264B"/>
                </a:solidFill>
              </a:rPr>
              <a:t>프로젝트 주제</a:t>
            </a:r>
            <a:endParaRPr lang="en-US" altLang="ko-KR" sz="2500" b="1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9E3348DF-82C5-7F07-7466-892D55975C5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4936D984-6129-A083-480F-39C6E79BA4E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EB41268D-A572-491C-15BF-B840BC82C9AF}"/>
              </a:ext>
            </a:extLst>
          </p:cNvPr>
          <p:cNvSpPr txBox="1"/>
          <p:nvPr/>
        </p:nvSpPr>
        <p:spPr>
          <a:xfrm>
            <a:off x="1353963" y="1205237"/>
            <a:ext cx="7502642" cy="273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19264B"/>
                </a:solidFill>
              </a:rPr>
              <a:t>목표</a:t>
            </a:r>
            <a:r>
              <a:rPr lang="en-US" altLang="ko-KR" sz="1800" dirty="0">
                <a:solidFill>
                  <a:srgbClr val="19264B"/>
                </a:solidFill>
              </a:rPr>
              <a:t>:</a:t>
            </a:r>
            <a:r>
              <a:rPr lang="ko-KR" altLang="en-US" sz="1800" dirty="0">
                <a:solidFill>
                  <a:srgbClr val="19264B"/>
                </a:solidFill>
              </a:rPr>
              <a:t> 대한민국의 여러 방언을 사용할 수 있는 </a:t>
            </a:r>
            <a:r>
              <a:rPr lang="en-US" altLang="ko-KR" sz="1800" dirty="0">
                <a:solidFill>
                  <a:srgbClr val="19264B"/>
                </a:solidFill>
              </a:rPr>
              <a:t>TTS</a:t>
            </a:r>
            <a:r>
              <a:rPr lang="ko-KR" altLang="en-US" sz="1800" dirty="0">
                <a:solidFill>
                  <a:srgbClr val="19264B"/>
                </a:solidFill>
              </a:rPr>
              <a:t> 모델 학습</a:t>
            </a:r>
            <a:endParaRPr lang="en-US" altLang="ko-KR" sz="18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rgbClr val="19264B"/>
              </a:solidFill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1800" dirty="0">
                <a:solidFill>
                  <a:srgbClr val="19264B"/>
                </a:solidFill>
              </a:rPr>
              <a:t>경상도</a:t>
            </a:r>
            <a:endParaRPr lang="en-US" altLang="ko-KR" sz="1800" dirty="0">
              <a:solidFill>
                <a:srgbClr val="19264B"/>
              </a:solidFill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1800" dirty="0">
                <a:solidFill>
                  <a:srgbClr val="19264B"/>
                </a:solidFill>
              </a:rPr>
              <a:t>전라도</a:t>
            </a:r>
            <a:endParaRPr lang="en-US" altLang="ko-KR" sz="1800" dirty="0">
              <a:solidFill>
                <a:srgbClr val="19264B"/>
              </a:solidFill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1800" dirty="0">
                <a:solidFill>
                  <a:srgbClr val="19264B"/>
                </a:solidFill>
              </a:rPr>
              <a:t>충청도</a:t>
            </a:r>
            <a:endParaRPr lang="en-US" altLang="ko-KR" sz="1800" dirty="0">
              <a:solidFill>
                <a:srgbClr val="19264B"/>
              </a:solidFill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1800" dirty="0">
                <a:solidFill>
                  <a:srgbClr val="19264B"/>
                </a:solidFill>
              </a:rPr>
              <a:t>강원도</a:t>
            </a:r>
            <a:endParaRPr lang="en-US" altLang="ko-KR" sz="1800" dirty="0">
              <a:solidFill>
                <a:srgbClr val="19264B"/>
              </a:solidFill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1800" dirty="0">
                <a:solidFill>
                  <a:srgbClr val="19264B"/>
                </a:solidFill>
              </a:rPr>
              <a:t>제주도 </a:t>
            </a:r>
            <a:r>
              <a:rPr lang="en-US" altLang="ko-KR" sz="1800" dirty="0">
                <a:solidFill>
                  <a:srgbClr val="19264B"/>
                </a:solidFill>
              </a:rPr>
              <a:t>(</a:t>
            </a:r>
            <a:r>
              <a:rPr lang="ko-KR" altLang="en-US" sz="1800" dirty="0">
                <a:solidFill>
                  <a:srgbClr val="19264B"/>
                </a:solidFill>
              </a:rPr>
              <a:t>제주도 방언 </a:t>
            </a:r>
            <a:r>
              <a:rPr lang="en-US" altLang="ko-KR" sz="1800" dirty="0">
                <a:solidFill>
                  <a:srgbClr val="19264B"/>
                </a:solidFill>
              </a:rPr>
              <a:t>TTS </a:t>
            </a:r>
            <a:r>
              <a:rPr lang="ko-KR" altLang="en-US" sz="1800" dirty="0">
                <a:solidFill>
                  <a:srgbClr val="19264B"/>
                </a:solidFill>
              </a:rPr>
              <a:t>모델은 다른 방언들에 비해 찾기 수월하였으므로 후순위로 미룸</a:t>
            </a:r>
            <a:r>
              <a:rPr lang="en-US" altLang="ko-KR" sz="1800" dirty="0">
                <a:solidFill>
                  <a:srgbClr val="19264B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87206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C77527E-2CF9-9282-B0AF-FB14A85B7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6D92369D-1677-2C76-BC3A-41F67935A74E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48675F10-6E15-074A-87A1-DC9DC8BE0681}"/>
              </a:ext>
            </a:extLst>
          </p:cNvPr>
          <p:cNvSpPr txBox="1"/>
          <p:nvPr/>
        </p:nvSpPr>
        <p:spPr>
          <a:xfrm>
            <a:off x="1353975" y="211095"/>
            <a:ext cx="7382831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9264B"/>
                </a:solidFill>
              </a:rPr>
              <a:t>프로젝트 주제</a:t>
            </a:r>
            <a:endParaRPr lang="en-US" altLang="ko-KR" sz="2500" b="1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7AC57AAF-3C82-C9DB-30F4-B4134769238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F6672E6E-AF86-978A-318D-44F656C5F98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9B2CBB4A-A240-7F58-30B1-F79ABC9E3754}"/>
              </a:ext>
            </a:extLst>
          </p:cNvPr>
          <p:cNvSpPr txBox="1"/>
          <p:nvPr/>
        </p:nvSpPr>
        <p:spPr>
          <a:xfrm>
            <a:off x="1353963" y="1205237"/>
            <a:ext cx="7502642" cy="273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19264B"/>
                </a:solidFill>
              </a:rPr>
              <a:t>접근 방법 및 구현 목표</a:t>
            </a:r>
            <a:r>
              <a:rPr lang="en-US" altLang="ko-KR" sz="1800" dirty="0">
                <a:solidFill>
                  <a:srgbClr val="19264B"/>
                </a:solidFill>
              </a:rPr>
              <a:t>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rgbClr val="19264B"/>
              </a:solidFill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1800" dirty="0">
                <a:solidFill>
                  <a:srgbClr val="19264B"/>
                </a:solidFill>
              </a:rPr>
              <a:t>단일 방언 전용 </a:t>
            </a:r>
            <a:r>
              <a:rPr lang="en-US" altLang="ko-KR" sz="1800" dirty="0">
                <a:solidFill>
                  <a:srgbClr val="19264B"/>
                </a:solidFill>
              </a:rPr>
              <a:t>TTS</a:t>
            </a:r>
            <a:br>
              <a:rPr lang="en-US" altLang="ko-KR" sz="1800" dirty="0">
                <a:solidFill>
                  <a:srgbClr val="19264B"/>
                </a:solidFill>
              </a:rPr>
            </a:br>
            <a:r>
              <a:rPr lang="en-US" altLang="ko-KR" sz="1800" dirty="0">
                <a:solidFill>
                  <a:srgbClr val="19264B"/>
                </a:solidFill>
              </a:rPr>
              <a:t>- Style-VITS…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sz="1800" dirty="0">
                <a:solidFill>
                  <a:srgbClr val="19264B"/>
                </a:solidFill>
              </a:rPr>
              <a:t>Controllable TTS</a:t>
            </a:r>
            <a:br>
              <a:rPr lang="en-US" altLang="ko-KR" sz="1800" dirty="0">
                <a:solidFill>
                  <a:srgbClr val="19264B"/>
                </a:solidFill>
              </a:rPr>
            </a:br>
            <a:r>
              <a:rPr lang="en-US" altLang="ko-KR" sz="1800" dirty="0">
                <a:solidFill>
                  <a:srgbClr val="19264B"/>
                </a:solidFill>
              </a:rPr>
              <a:t>- 1.</a:t>
            </a:r>
            <a:r>
              <a:rPr lang="ko-KR" altLang="en-US" sz="1800" dirty="0">
                <a:solidFill>
                  <a:srgbClr val="19264B"/>
                </a:solidFill>
              </a:rPr>
              <a:t> </a:t>
            </a:r>
            <a:r>
              <a:rPr lang="en-US" altLang="ko-KR" sz="1800" dirty="0">
                <a:solidFill>
                  <a:srgbClr val="19264B"/>
                </a:solidFill>
              </a:rPr>
              <a:t>dialect token</a:t>
            </a:r>
            <a:r>
              <a:rPr lang="ko-KR" altLang="en-US" sz="1800" dirty="0">
                <a:solidFill>
                  <a:srgbClr val="19264B"/>
                </a:solidFill>
              </a:rPr>
              <a:t>을 추가하여 단일 모델로 여러 방언을 선택하여 생성할 수 있게 함</a:t>
            </a:r>
            <a:br>
              <a:rPr lang="en-US" altLang="ko-KR" sz="1800" dirty="0">
                <a:solidFill>
                  <a:srgbClr val="19264B"/>
                </a:solidFill>
              </a:rPr>
            </a:br>
            <a:r>
              <a:rPr lang="en-US" altLang="ko-KR" sz="1800" dirty="0">
                <a:solidFill>
                  <a:srgbClr val="19264B"/>
                </a:solidFill>
              </a:rPr>
              <a:t>-</a:t>
            </a:r>
            <a:r>
              <a:rPr lang="ko-KR" altLang="en-US" sz="1800" dirty="0">
                <a:solidFill>
                  <a:srgbClr val="19264B"/>
                </a:solidFill>
              </a:rPr>
              <a:t> </a:t>
            </a:r>
            <a:r>
              <a:rPr lang="en-US" altLang="ko-KR" sz="1800" dirty="0">
                <a:solidFill>
                  <a:srgbClr val="19264B"/>
                </a:solidFill>
              </a:rPr>
              <a:t>2.</a:t>
            </a:r>
            <a:r>
              <a:rPr lang="ko-KR" altLang="en-US" sz="1800" dirty="0">
                <a:solidFill>
                  <a:srgbClr val="19264B"/>
                </a:solidFill>
              </a:rPr>
              <a:t> </a:t>
            </a:r>
            <a:r>
              <a:rPr lang="en-US" altLang="ko-KR" sz="1800" dirty="0">
                <a:solidFill>
                  <a:srgbClr val="19264B"/>
                </a:solidFill>
              </a:rPr>
              <a:t>dialect strength</a:t>
            </a:r>
            <a:r>
              <a:rPr lang="ko-KR" altLang="en-US" sz="1800" dirty="0" err="1">
                <a:solidFill>
                  <a:srgbClr val="19264B"/>
                </a:solidFill>
              </a:rPr>
              <a:t>를</a:t>
            </a:r>
            <a:r>
              <a:rPr lang="ko-KR" altLang="en-US" sz="1800" dirty="0">
                <a:solidFill>
                  <a:srgbClr val="19264B"/>
                </a:solidFill>
              </a:rPr>
              <a:t> 통해 방언의 강도를 조절 가능하게 함</a:t>
            </a:r>
            <a:endParaRPr lang="en-US" altLang="ko-KR" sz="1800" dirty="0">
              <a:solidFill>
                <a:srgbClr val="1926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134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3C8FC1C-0E77-FD0A-6465-3815793C3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A152D672-FFC2-9CFE-76A9-6E724B85356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E96BDA13-1D3D-0827-A603-C0BAA62435F1}"/>
              </a:ext>
            </a:extLst>
          </p:cNvPr>
          <p:cNvSpPr txBox="1"/>
          <p:nvPr/>
        </p:nvSpPr>
        <p:spPr>
          <a:xfrm>
            <a:off x="1353975" y="211095"/>
            <a:ext cx="7382831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9264B"/>
                </a:solidFill>
              </a:rPr>
              <a:t>프로젝트 주제</a:t>
            </a:r>
            <a:endParaRPr lang="en-US" altLang="ko-KR" sz="2500" b="1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977AD266-36F0-7DEF-7300-FB9888810CA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91E63072-EFA5-6ED9-0617-D565AFC5D2E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7DEB9CFC-AC0C-02EA-D30A-FEF3257C7859}"/>
              </a:ext>
            </a:extLst>
          </p:cNvPr>
          <p:cNvSpPr txBox="1"/>
          <p:nvPr/>
        </p:nvSpPr>
        <p:spPr>
          <a:xfrm>
            <a:off x="1353963" y="1205237"/>
            <a:ext cx="7502642" cy="2414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19264B"/>
                </a:solidFill>
              </a:rPr>
              <a:t>현재 단계</a:t>
            </a:r>
            <a:r>
              <a:rPr lang="en-US" altLang="ko-KR" sz="1800" dirty="0">
                <a:solidFill>
                  <a:srgbClr val="19264B"/>
                </a:solidFill>
              </a:rPr>
              <a:t>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rgbClr val="19264B"/>
                </a:solidFill>
              </a:rPr>
              <a:t>경상도 사투리 전용 단일 </a:t>
            </a:r>
            <a:r>
              <a:rPr lang="en-US" altLang="ko-KR" sz="1800" dirty="0">
                <a:solidFill>
                  <a:srgbClr val="19264B"/>
                </a:solidFill>
              </a:rPr>
              <a:t>TTS</a:t>
            </a:r>
            <a:r>
              <a:rPr lang="ko-KR" altLang="en-US" sz="1800" dirty="0">
                <a:solidFill>
                  <a:srgbClr val="19264B"/>
                </a:solidFill>
              </a:rPr>
              <a:t> 모델 구현을 위해 데이터 수집 및 관련 논문 탐색 </a:t>
            </a:r>
            <a:endParaRPr lang="en-US" altLang="ko-KR" sz="18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solidFill>
                <a:srgbClr val="19264B"/>
              </a:solidFill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</a:rPr>
              <a:t>공유 데이터 중에는 우리 목적에 맞는 경상도 데이터는 존재하지 </a:t>
            </a:r>
            <a:r>
              <a:rPr lang="en-US" altLang="ko-KR" sz="1800" dirty="0">
                <a:solidFill>
                  <a:srgbClr val="19264B"/>
                </a:solidFill>
              </a:rPr>
              <a:t>X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</a:rPr>
              <a:t>데이터 수집이 가장 급선무</a:t>
            </a:r>
            <a:endParaRPr lang="en-US" altLang="ko-KR" sz="1800" dirty="0">
              <a:solidFill>
                <a:srgbClr val="1926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61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3C8FC1C-0E77-FD0A-6465-3815793C3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A152D672-FFC2-9CFE-76A9-6E724B85356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E96BDA13-1D3D-0827-A603-C0BAA62435F1}"/>
              </a:ext>
            </a:extLst>
          </p:cNvPr>
          <p:cNvSpPr txBox="1"/>
          <p:nvPr/>
        </p:nvSpPr>
        <p:spPr>
          <a:xfrm>
            <a:off x="1353975" y="211095"/>
            <a:ext cx="7382831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9264B"/>
                </a:solidFill>
              </a:rPr>
              <a:t>관련 논문 ① VITS</a:t>
            </a: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977AD266-36F0-7DEF-7300-FB9888810CA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91E63072-EFA5-6ED9-0617-D565AFC5D2E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7DEB9CFC-AC0C-02EA-D30A-FEF3257C7859}"/>
              </a:ext>
            </a:extLst>
          </p:cNvPr>
          <p:cNvSpPr txBox="1"/>
          <p:nvPr/>
        </p:nvSpPr>
        <p:spPr>
          <a:xfrm>
            <a:off x="1353963" y="1205237"/>
            <a:ext cx="7502642" cy="274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600" b="1" dirty="0">
                <a:solidFill>
                  <a:srgbClr val="19264B"/>
                </a:solidFill>
              </a:rPr>
              <a:t>VITS </a:t>
            </a:r>
            <a:r>
              <a:rPr lang="ko-KR" altLang="en-US" sz="1600" b="1" dirty="0">
                <a:solidFill>
                  <a:srgbClr val="19264B"/>
                </a:solidFill>
              </a:rPr>
              <a:t>(Conditional VAE with Adversarial Learning, 2021)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800" dirty="0"/>
          </a:p>
          <a:p>
            <a:pPr marL="285750" lvl="0" indent="-28575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FontTx/>
              <a:buChar char="•"/>
            </a:pPr>
            <a:r>
              <a:rPr lang="ko-KR" altLang="en-US" sz="1500" b="1" dirty="0">
                <a:solidFill>
                  <a:srgbClr val="19264B"/>
                </a:solidFill>
              </a:rPr>
              <a:t>핵심 아이디어: </a:t>
            </a:r>
            <a:r>
              <a:rPr lang="ko-KR" altLang="en-US" sz="1500" dirty="0">
                <a:solidFill>
                  <a:srgbClr val="19264B"/>
                </a:solidFill>
              </a:rPr>
              <a:t>텍스트 → 음성을 </a:t>
            </a:r>
            <a:r>
              <a:rPr lang="ko-KR" altLang="en-US" sz="1500" b="1" dirty="0">
                <a:solidFill>
                  <a:srgbClr val="19264B"/>
                </a:solidFill>
              </a:rPr>
              <a:t>한 번에(end-to-end)</a:t>
            </a:r>
            <a:r>
              <a:rPr lang="ko-KR" altLang="en-US" sz="1500" dirty="0">
                <a:solidFill>
                  <a:srgbClr val="19264B"/>
                </a:solidFill>
              </a:rPr>
              <a:t> 생성</a:t>
            </a:r>
          </a:p>
          <a:p>
            <a:pPr marL="571500" lvl="1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FontTx/>
              <a:buChar char="-"/>
            </a:pPr>
            <a:r>
              <a:rPr lang="ko-KR" altLang="en-US" sz="1300" dirty="0">
                <a:solidFill>
                  <a:srgbClr val="595959"/>
                </a:solidFill>
              </a:rPr>
              <a:t>기존 2단계(텍스트→멜→음성) 구조를 단일 모델로 통합 → 자연스러움 ↑, 학습 단순화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FontTx/>
              <a:buChar char="•"/>
            </a:pPr>
            <a:r>
              <a:rPr lang="ko-KR" altLang="en-US" sz="1500" b="1" dirty="0">
                <a:solidFill>
                  <a:srgbClr val="19264B"/>
                </a:solidFill>
              </a:rPr>
              <a:t>구성 요소: </a:t>
            </a:r>
            <a:r>
              <a:rPr lang="en-US" altLang="ko-KR" sz="1500" dirty="0">
                <a:solidFill>
                  <a:srgbClr val="19264B"/>
                </a:solidFill>
              </a:rPr>
              <a:t>VAE + Normalizing Flow + GAN</a:t>
            </a:r>
          </a:p>
          <a:p>
            <a:pPr marL="571500" lvl="1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FontTx/>
              <a:buChar char="-"/>
            </a:pPr>
            <a:r>
              <a:rPr lang="ko-KR" altLang="en-US" sz="1300" dirty="0">
                <a:solidFill>
                  <a:srgbClr val="595959"/>
                </a:solidFill>
              </a:rPr>
              <a:t>VAE: 음성을 잠재공간(latent)으로 압축 / Flow: 텍스트-음성 정렬 / GAN: 음질 향상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FontTx/>
              <a:buChar char="•"/>
            </a:pPr>
            <a:r>
              <a:rPr lang="en-US" altLang="ko-KR" sz="1500" b="1" dirty="0">
                <a:solidFill>
                  <a:srgbClr val="19264B"/>
                </a:solidFill>
              </a:rPr>
              <a:t>Stochastic Duration Predictor</a:t>
            </a:r>
            <a:r>
              <a:rPr lang="ko-KR" altLang="en-US" sz="1500" dirty="0">
                <a:solidFill>
                  <a:srgbClr val="19264B"/>
                </a:solidFill>
              </a:rPr>
              <a:t>: 발음 길이를 확률적으로 예측</a:t>
            </a:r>
          </a:p>
          <a:p>
            <a:pPr marL="571500" lvl="1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FontTx/>
              <a:buChar char="-"/>
            </a:pPr>
            <a:r>
              <a:rPr lang="ko-KR" altLang="en-US" sz="1300" dirty="0">
                <a:solidFill>
                  <a:srgbClr val="595959"/>
                </a:solidFill>
              </a:rPr>
              <a:t>같은 문장도 매번 다른 리듬·억양으로 발화 → 더 자연스러움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FontTx/>
              <a:buChar char="•"/>
            </a:pPr>
            <a:r>
              <a:rPr lang="ko-KR" altLang="en-US" sz="1500" b="1" dirty="0">
                <a:solidFill>
                  <a:srgbClr val="19264B"/>
                </a:solidFill>
              </a:rPr>
              <a:t>프로젝트 활용 포인트: </a:t>
            </a:r>
            <a:r>
              <a:rPr lang="ko-KR" altLang="en-US" sz="1500" dirty="0">
                <a:solidFill>
                  <a:srgbClr val="19264B"/>
                </a:solidFill>
              </a:rPr>
              <a:t>사투리 억양 표현에 강점, 적은 데이터로도 단일 화자 학습 가능</a:t>
            </a:r>
          </a:p>
        </p:txBody>
      </p:sp>
    </p:spTree>
    <p:extLst>
      <p:ext uri="{BB962C8B-B14F-4D97-AF65-F5344CB8AC3E}">
        <p14:creationId xmlns:p14="http://schemas.microsoft.com/office/powerpoint/2010/main" val="2756691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3C8FC1C-0E77-FD0A-6465-3815793C3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A152D672-FFC2-9CFE-76A9-6E724B85356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E96BDA13-1D3D-0827-A603-C0BAA62435F1}"/>
              </a:ext>
            </a:extLst>
          </p:cNvPr>
          <p:cNvSpPr txBox="1"/>
          <p:nvPr/>
        </p:nvSpPr>
        <p:spPr>
          <a:xfrm>
            <a:off x="1353975" y="211095"/>
            <a:ext cx="7382831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9264B"/>
                </a:solidFill>
              </a:rPr>
              <a:t>VITS 동작 원리</a:t>
            </a: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977AD266-36F0-7DEF-7300-FB9888810CA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91E63072-EFA5-6ED9-0617-D565AFC5D2E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7DEB9CFC-AC0C-02EA-D30A-FEF3257C7859}"/>
              </a:ext>
            </a:extLst>
          </p:cNvPr>
          <p:cNvSpPr txBox="1"/>
          <p:nvPr/>
        </p:nvSpPr>
        <p:spPr>
          <a:xfrm>
            <a:off x="1358900" y="2603500"/>
            <a:ext cx="3683000" cy="2564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dirty="0">
                <a:solidFill>
                  <a:srgbClr val="19264B"/>
                </a:solidFill>
              </a:rPr>
              <a:t>학습: 두 경로가 동시에 작동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FontTx/>
              <a:buChar char="•"/>
            </a:pPr>
            <a:r>
              <a:rPr lang="ko-KR" altLang="en-US" sz="1200" b="1" dirty="0">
                <a:solidFill>
                  <a:srgbClr val="19264B"/>
                </a:solidFill>
              </a:rPr>
              <a:t>텍스트 경로 (Prior): </a:t>
            </a:r>
            <a:r>
              <a:rPr lang="ko-KR" altLang="en-US" sz="1200" dirty="0">
                <a:solidFill>
                  <a:srgbClr val="19264B"/>
                </a:solidFill>
              </a:rPr>
              <a:t>텍스트만 보고 잠재 변수 예측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FontTx/>
              <a:buChar char="•"/>
            </a:pPr>
            <a:r>
              <a:rPr lang="ko-KR" altLang="en-US" sz="1200" b="1" dirty="0">
                <a:solidFill>
                  <a:srgbClr val="19264B"/>
                </a:solidFill>
              </a:rPr>
              <a:t>음성 경로 (Posterior): </a:t>
            </a:r>
            <a:r>
              <a:rPr lang="ko-KR" altLang="en-US" sz="1200" dirty="0">
                <a:solidFill>
                  <a:srgbClr val="19264B"/>
                </a:solidFill>
              </a:rPr>
              <a:t>실제 음성에서 잠재 변수 추출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FontTx/>
              <a:buChar char="•"/>
            </a:pPr>
            <a:r>
              <a:rPr lang="ko-KR" altLang="en-US" sz="1200" dirty="0">
                <a:solidFill>
                  <a:srgbClr val="595959"/>
                </a:solidFill>
              </a:rPr>
              <a:t>KL Divergence로 두 경로를 정렬 → 추론 시 텍스트만으로 자연스러운 음성 생성</a:t>
            </a:r>
          </a:p>
          <a:p>
            <a:pPr marL="0" lvl="0" indent="0" algn="l" rtl="0">
              <a:lnSpc>
                <a:spcPct val="100000"/>
              </a:lnSpc>
              <a:buNone/>
            </a:pPr>
            <a:endParaRPr lang="en-US" sz="600" dirty="0"/>
          </a:p>
          <a:p>
            <a:pPr marL="2286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FontTx/>
              <a:buChar char="•"/>
            </a:pPr>
            <a:r>
              <a:rPr lang="en-US" altLang="ko-KR" sz="1200" b="1" dirty="0">
                <a:solidFill>
                  <a:srgbClr val="C00000"/>
                </a:solidFill>
              </a:rPr>
              <a:t>VITS </a:t>
            </a:r>
            <a:r>
              <a:rPr lang="ko-KR" altLang="en-US" sz="1200" dirty="0">
                <a:solidFill>
                  <a:srgbClr val="19264B"/>
                </a:solidFill>
              </a:rPr>
              <a:t>= 사람 녹음과 거의 구분 불가능한 최초의 one-stage TTS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FontTx/>
              <a:buChar char="•"/>
            </a:pPr>
            <a:r>
              <a:rPr lang="ko-KR" altLang="en-US" sz="1200" dirty="0">
                <a:solidFill>
                  <a:srgbClr val="595959"/>
                </a:solidFill>
              </a:rPr>
              <a:t>이후 TTS는 </a:t>
            </a:r>
            <a:r>
              <a:rPr lang="ko-KR" altLang="en-US" sz="1200" b="1" dirty="0">
                <a:solidFill>
                  <a:srgbClr val="00B050"/>
                </a:solidFill>
              </a:rPr>
              <a:t>품질</a:t>
            </a:r>
            <a:r>
              <a:rPr lang="ko-KR" altLang="en-US" sz="1200" dirty="0">
                <a:solidFill>
                  <a:srgbClr val="595959"/>
                </a:solidFill>
              </a:rPr>
              <a:t>에서 </a:t>
            </a:r>
            <a:r>
              <a:rPr lang="ko-KR" altLang="en-US" sz="1200" b="1" dirty="0">
                <a:solidFill>
                  <a:srgbClr val="0097A7"/>
                </a:solidFill>
              </a:rPr>
              <a:t>범용성</a:t>
            </a:r>
            <a:r>
              <a:rPr lang="ko-KR" altLang="en-US" sz="1200" dirty="0">
                <a:solidFill>
                  <a:srgbClr val="595959"/>
                </a:solidFill>
              </a:rPr>
              <a:t>의 시대로 진입</a:t>
            </a:r>
          </a:p>
        </p:txBody>
      </p:sp>
      <p:pic>
        <p:nvPicPr>
          <p:cNvPr id="58" name="Copied Picture 58" descr="Generated image 1">
            <a:extLst>
              <a:ext uri="{FF2B5EF4-FFF2-40B4-BE49-F238E27FC236}">
                <a16:creationId xmlns:a16="http://schemas.microsoft.com/office/drawing/2014/main" id="{C7E5E5BA-99A0-B3A1-C1C8-E0C1B00689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t="10150" b="68950"/>
          <a:stretch>
            <a:fillRect/>
          </a:stretch>
        </p:blipFill>
        <p:spPr>
          <a:xfrm>
            <a:off x="1397000" y="1143000"/>
            <a:ext cx="3556000" cy="1333500"/>
          </a:xfrm>
          <a:prstGeom prst="rect">
            <a:avLst/>
          </a:prstGeom>
          <a:noFill/>
        </p:spPr>
      </p:pic>
      <p:pic>
        <p:nvPicPr>
          <p:cNvPr id="59" name="Copied Picture 59">
            <a:extLst>
              <a:ext uri="{FF2B5EF4-FFF2-40B4-BE49-F238E27FC236}">
                <a16:creationId xmlns:a16="http://schemas.microsoft.com/office/drawing/2014/main" id="{63CA77DB-035E-30EA-DE28-13A824227C8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8840"/>
          <a:stretch>
            <a:fillRect/>
          </a:stretch>
        </p:blipFill>
        <p:spPr>
          <a:xfrm>
            <a:off x="5207000" y="1143000"/>
            <a:ext cx="3378200" cy="2540000"/>
          </a:xfrm>
          <a:prstGeom prst="rect">
            <a:avLst/>
          </a:prstGeom>
        </p:spPr>
      </p:pic>
      <p:pic>
        <p:nvPicPr>
          <p:cNvPr id="60" name="Copied Picture 60">
            <a:extLst>
              <a:ext uri="{FF2B5EF4-FFF2-40B4-BE49-F238E27FC236}">
                <a16:creationId xmlns:a16="http://schemas.microsoft.com/office/drawing/2014/main" id="{C7762212-523C-8237-06B0-341D883F1B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397500" y="3784600"/>
            <a:ext cx="2997200" cy="419100"/>
          </a:xfrm>
          <a:prstGeom prst="rect">
            <a:avLst/>
          </a:prstGeom>
          <a:noFill/>
        </p:spPr>
      </p:pic>
      <p:sp>
        <p:nvSpPr>
          <p:cNvPr id="100" name="Label Timeline"/>
          <p:cNvSpPr txBox="1"/>
          <p:nvPr/>
        </p:nvSpPr>
        <p:spPr>
          <a:xfrm>
            <a:off x="1397000" y="914400"/>
            <a:ext cx="254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en-US" altLang="ko-KR" sz="1100" b="1" dirty="0">
                <a:solidFill>
                  <a:srgbClr val="19264B"/>
                </a:solidFill>
              </a:rPr>
              <a:t>TTS Timeline</a:t>
            </a:r>
          </a:p>
        </p:txBody>
      </p:sp>
      <p:sp>
        <p:nvSpPr>
          <p:cNvPr id="101" name="Label Arch"/>
          <p:cNvSpPr txBox="1"/>
          <p:nvPr/>
        </p:nvSpPr>
        <p:spPr>
          <a:xfrm>
            <a:off x="5207000" y="914400"/>
            <a:ext cx="3302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en-US" altLang="ko-KR" sz="1100" b="1" dirty="0">
                <a:solidFill>
                  <a:srgbClr val="19264B"/>
                </a:solidFill>
              </a:rPr>
              <a:t>VITS Architecture Overview</a:t>
            </a:r>
          </a:p>
        </p:txBody>
      </p:sp>
      <p:sp>
        <p:nvSpPr>
          <p:cNvPr id="102" name="Caption ELBO"/>
          <p:cNvSpPr txBox="1"/>
          <p:nvPr/>
        </p:nvSpPr>
        <p:spPr>
          <a:xfrm>
            <a:off x="5207000" y="4254500"/>
            <a:ext cx="33782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ko-KR" altLang="en-US" sz="900" dirty="0">
                <a:solidFill>
                  <a:srgbClr val="595959"/>
                </a:solidFill>
              </a:rPr>
              <a:t>ELBO: 학습 목적함수 (텍스트 조건부 음성 생성)</a:t>
            </a:r>
          </a:p>
        </p:txBody>
      </p:sp>
    </p:spTree>
    <p:extLst>
      <p:ext uri="{BB962C8B-B14F-4D97-AF65-F5344CB8AC3E}">
        <p14:creationId xmlns:p14="http://schemas.microsoft.com/office/powerpoint/2010/main" val="510735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3C8FC1C-0E77-FD0A-6465-3815793C3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A152D672-FFC2-9CFE-76A9-6E724B85356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E96BDA13-1D3D-0827-A603-C0BAA62435F1}"/>
              </a:ext>
            </a:extLst>
          </p:cNvPr>
          <p:cNvSpPr txBox="1"/>
          <p:nvPr/>
        </p:nvSpPr>
        <p:spPr>
          <a:xfrm>
            <a:off x="1353975" y="211095"/>
            <a:ext cx="7382831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9264B"/>
                </a:solidFill>
              </a:rPr>
              <a:t>관련 논문 ② LLM-to-Speech</a:t>
            </a: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977AD266-36F0-7DEF-7300-FB9888810CA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91E63072-EFA5-6ED9-0617-D565AFC5D2E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7DEB9CFC-AC0C-02EA-D30A-FEF3257C7859}"/>
              </a:ext>
            </a:extLst>
          </p:cNvPr>
          <p:cNvSpPr txBox="1"/>
          <p:nvPr/>
        </p:nvSpPr>
        <p:spPr>
          <a:xfrm>
            <a:off x="1353963" y="1205237"/>
            <a:ext cx="7502642" cy="3648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100"/>
              </a:spcAft>
              <a:buNone/>
            </a:pPr>
            <a:r>
              <a:rPr lang="ko-KR" altLang="en-US" sz="1500" b="1" dirty="0">
                <a:solidFill>
                  <a:srgbClr val="19264B"/>
                </a:solidFill>
              </a:rPr>
              <a:t>문제의식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FontTx/>
              <a:buChar char="•"/>
            </a:pPr>
            <a:r>
              <a:rPr lang="ko-KR" altLang="en-US" sz="1300" dirty="0">
                <a:solidFill>
                  <a:srgbClr val="595959"/>
                </a:solidFill>
              </a:rPr>
              <a:t>기존 TTS는 MSA·걸프 방언 위주 → </a:t>
            </a:r>
            <a:r>
              <a:rPr lang="ko-KR" altLang="en-US" sz="1300" b="1" dirty="0">
                <a:solidFill>
                  <a:srgbClr val="19264B"/>
                </a:solidFill>
              </a:rPr>
              <a:t>이집트 아랍어(가장 널리 이해되는 방언)</a:t>
            </a:r>
            <a:r>
              <a:rPr lang="ko-KR" altLang="en-US" sz="1300" dirty="0">
                <a:solidFill>
                  <a:srgbClr val="595959"/>
                </a:solidFill>
              </a:rPr>
              <a:t>는 학습 데이터가 매우 부족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100"/>
              </a:spcAft>
              <a:buNone/>
            </a:pPr>
            <a:r>
              <a:rPr lang="ko-KR" altLang="en-US" sz="1500" b="1" dirty="0">
                <a:solidFill>
                  <a:srgbClr val="19264B"/>
                </a:solidFill>
              </a:rPr>
              <a:t>핵심 기여: NileTTS 데이터셋 + 합성 데이터 파이프라인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FontTx/>
              <a:buChar char="•"/>
            </a:pPr>
            <a:r>
              <a:rPr lang="en-US" altLang="ko-KR" sz="1300" b="1" dirty="0">
                <a:solidFill>
                  <a:srgbClr val="19264B"/>
                </a:solidFill>
              </a:rPr>
              <a:t>NileTTS: </a:t>
            </a:r>
            <a:r>
              <a:rPr lang="ko-KR" altLang="en-US" sz="1300" dirty="0">
                <a:solidFill>
                  <a:srgbClr val="595959"/>
                </a:solidFill>
              </a:rPr>
              <a:t>이집트 아랍어 음성 38시간, 남·여 화자 2명, 의료·세일즈·일반 대화 도메인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FontTx/>
              <a:buChar char="•"/>
            </a:pPr>
            <a:r>
              <a:rPr lang="ko-KR" altLang="en-US" sz="1300" b="1" dirty="0">
                <a:solidFill>
                  <a:srgbClr val="19264B"/>
                </a:solidFill>
              </a:rPr>
              <a:t>LLM의 역할 = </a:t>
            </a:r>
            <a:r>
              <a:rPr lang="ko-KR" altLang="en-US" sz="1300" b="1" dirty="0">
                <a:solidFill>
                  <a:srgbClr val="C00000"/>
                </a:solidFill>
              </a:rPr>
              <a:t>방언 텍스트(스크립트) 생성</a:t>
            </a:r>
            <a:r>
              <a:rPr lang="ko-KR" altLang="en-US" sz="1300" dirty="0">
                <a:solidFill>
                  <a:srgbClr val="595959"/>
                </a:solidFill>
              </a:rPr>
              <a:t> — 음성 토큰을 직접 생성하는 것이 아님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100"/>
              </a:spcAft>
              <a:buNone/>
            </a:pPr>
            <a:r>
              <a:rPr lang="ko-KR" altLang="en-US" sz="1500" b="1" dirty="0">
                <a:solidFill>
                  <a:srgbClr val="19264B"/>
                </a:solidFill>
              </a:rPr>
              <a:t>파이프라인 흐름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FontTx/>
              <a:buChar char="•"/>
            </a:pPr>
            <a:r>
              <a:rPr lang="ko-KR" altLang="en-US" sz="1200" dirty="0">
                <a:solidFill>
                  <a:srgbClr val="595959"/>
                </a:solidFill>
              </a:rPr>
              <a:t>① LLM(Claude/Gemini)이 이집트 아랍어 대화 스크립트 생성 → ② NotebookLM으로 음성 합성 → ③ Whisper Large로 자동 전사·분할 → ④ ECAPA-TDNN으로 화자 분리 → ⑤ 수동 품질 검증 → ⑥ XTTS v2 파인튜닝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100"/>
              </a:spcAft>
              <a:buNone/>
            </a:pPr>
            <a:r>
              <a:rPr lang="ko-KR" altLang="en-US" sz="1500" b="1" dirty="0">
                <a:solidFill>
                  <a:srgbClr val="19264B"/>
                </a:solidFill>
              </a:rPr>
              <a:t>프로젝트 시사점</a:t>
            </a:r>
          </a:p>
          <a:p>
            <a:pPr marL="228600" lvl="0" indent="-228600" algn="l" rtl="0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FontTx/>
              <a:buChar char="•"/>
            </a:pPr>
            <a:r>
              <a:rPr lang="ko-KR" altLang="en-US" sz="1300" dirty="0">
                <a:solidFill>
                  <a:srgbClr val="595959"/>
                </a:solidFill>
              </a:rPr>
              <a:t>저자원 언어/방언 TTS는 </a:t>
            </a:r>
            <a:r>
              <a:rPr lang="ko-KR" altLang="en-US" sz="1300" b="1" dirty="0">
                <a:solidFill>
                  <a:srgbClr val="19264B"/>
                </a:solidFill>
              </a:rPr>
              <a:t>LLM으로 텍스트를 합성</a:t>
            </a:r>
            <a:r>
              <a:rPr lang="ko-KR" altLang="en-US" sz="1300" dirty="0">
                <a:solidFill>
                  <a:srgbClr val="595959"/>
                </a:solidFill>
              </a:rPr>
              <a:t>하고 기존 TTS로 음성을 만드는 구조가 효과적 → 한국어 도메인 특화 음성 데이터 구축에도 적용 가능</a:t>
            </a:r>
          </a:p>
        </p:txBody>
      </p:sp>
    </p:spTree>
    <p:extLst>
      <p:ext uri="{BB962C8B-B14F-4D97-AF65-F5344CB8AC3E}">
        <p14:creationId xmlns:p14="http://schemas.microsoft.com/office/powerpoint/2010/main" val="165987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3C8FC1C-0E77-FD0A-6465-3815793C3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A152D672-FFC2-9CFE-76A9-6E724B85356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E96BDA13-1D3D-0827-A603-C0BAA62435F1}"/>
              </a:ext>
            </a:extLst>
          </p:cNvPr>
          <p:cNvSpPr txBox="1"/>
          <p:nvPr/>
        </p:nvSpPr>
        <p:spPr>
          <a:xfrm>
            <a:off x="1353975" y="211095"/>
            <a:ext cx="7382831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>
              <a:buNone/>
            </a:pPr>
            <a:r>
              <a:rPr lang="ko-KR" sz="2200" b="1" dirty="0">
                <a:solidFill>
                  <a:srgbClr val="19264B"/>
                </a:solidFill>
              </a:rPr>
              <a:t>VITS + LLM-to-Speech: 두 논문을 우리 프로젝트에 결합하기</a:t>
            </a: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977AD266-36F0-7DEF-7300-FB9888810CA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91E63072-EFA5-6ED9-0617-D565AFC5D2E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7DEB9CFC-AC0C-02EA-D30A-FEF3257C7859}"/>
              </a:ext>
            </a:extLst>
          </p:cNvPr>
          <p:cNvSpPr txBox="1"/>
          <p:nvPr/>
        </p:nvSpPr>
        <p:spPr>
          <a:xfrm>
            <a:off x="1353963" y="1205237"/>
            <a:ext cx="7502642" cy="3801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indent="0">
              <a:lnSpc>
                <a:spcPts val="21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ko-KR" sz="1700" b="1" dirty="0">
                <a:solidFill>
                  <a:srgbClr val="19264B"/>
                </a:solidFill>
              </a:rPr>
              <a:t>역할 구분: 엔진 vs 레시피</a:t>
            </a:r>
          </a:p>
          <a:p>
            <a:pPr marL="285750" indent="-285750">
              <a:lnSpc>
                <a:spcPts val="2000"/>
              </a:lnSpc>
              <a:spcBef>
                <a:spcPts val="200"/>
              </a:spcBef>
              <a:buFont typeface="Arial"/>
              <a:buChar char="•"/>
            </a:pPr>
            <a:r>
              <a:rPr lang="ko-KR" sz="1500" b="1" dirty="0">
                <a:solidFill>
                  <a:srgbClr val="19264B"/>
                </a:solidFill>
              </a:rPr>
              <a:t>VITS = 엔진</a:t>
            </a:r>
            <a:r>
              <a:rPr lang="ko-KR" sz="1500" dirty="0">
                <a:solidFill>
                  <a:srgbClr val="595959"/>
                </a:solidFill>
              </a:rPr>
              <a:t> (텍스트→음성 모델). MMS-TTS-kor를 base로 경상도 데이터 fine-tuning</a:t>
            </a:r>
          </a:p>
          <a:p>
            <a:pPr marL="285750" indent="-285750">
              <a:lnSpc>
                <a:spcPts val="2000"/>
              </a:lnSpc>
              <a:spcBef>
                <a:spcPts val="200"/>
              </a:spcBef>
              <a:buFont typeface="Arial"/>
              <a:buChar char="•"/>
            </a:pPr>
            <a:r>
              <a:rPr lang="ko-KR" sz="1500" b="1" dirty="0">
                <a:solidFill>
                  <a:srgbClr val="19264B"/>
                </a:solidFill>
              </a:rPr>
              <a:t>LLM-to-Speech = 레시피</a:t>
            </a:r>
            <a:r>
              <a:rPr lang="ko-KR" sz="1500" dirty="0">
                <a:solidFill>
                  <a:srgbClr val="595959"/>
                </a:solidFill>
              </a:rPr>
              <a:t> (데이터 만드는 4단계 청사진) — AI 음성 합성을 </a:t>
            </a:r>
            <a:r>
              <a:rPr lang="ko-KR" sz="1500" b="1" dirty="0">
                <a:solidFill>
                  <a:srgbClr val="C00000"/>
                </a:solidFill>
              </a:rPr>
              <a:t>실제 녹음 + AI Hub 데이터</a:t>
            </a:r>
            <a:r>
              <a:rPr lang="ko-KR" sz="1500" dirty="0">
                <a:solidFill>
                  <a:srgbClr val="595959"/>
                </a:solidFill>
              </a:rPr>
              <a:t>로 대체</a:t>
            </a:r>
          </a:p>
          <a:p>
            <a:pPr marL="0" indent="0">
              <a:lnSpc>
                <a:spcPts val="21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ko-KR" sz="1700" b="1" dirty="0">
                <a:solidFill>
                  <a:srgbClr val="19264B"/>
                </a:solidFill>
              </a:rPr>
              <a:t>두 논문을 합친 우리 파이프라인 (6단계)</a:t>
            </a:r>
          </a:p>
          <a:p>
            <a:pPr marL="285750" indent="-285750">
              <a:lnSpc>
                <a:spcPts val="2000"/>
              </a:lnSpc>
              <a:spcBef>
                <a:spcPts val="200"/>
              </a:spcBef>
              <a:buFont typeface="Arial"/>
              <a:buChar char="•"/>
            </a:pPr>
            <a:r>
              <a:rPr lang="ko-KR" sz="1500" b="1" dirty="0">
                <a:solidFill>
                  <a:srgbClr val="19264B"/>
                </a:solidFill>
              </a:rPr>
              <a:t>[LLM-to-Speech 차용]</a:t>
            </a:r>
            <a:r>
              <a:rPr lang="ko-KR" sz="1500" dirty="0">
                <a:solidFill>
                  <a:srgbClr val="595959"/>
                </a:solidFill>
              </a:rPr>
              <a:t> Step 1. Claude로 경상도 사투리 대본 생성 → Step 2. </a:t>
            </a:r>
            <a:r>
              <a:rPr lang="ko-KR" sz="1500" b="1" dirty="0">
                <a:solidFill>
                  <a:srgbClr val="C00000"/>
                </a:solidFill>
              </a:rPr>
              <a:t>실제 녹음 + AI Hub</a:t>
            </a:r>
            <a:r>
              <a:rPr lang="ko-KR" sz="1500" dirty="0">
                <a:solidFill>
                  <a:srgbClr val="595959"/>
                </a:solidFill>
              </a:rPr>
              <a:t> → Step 3. Whisper 전사 검증 → Step 4. 화자 분리 + 수동 QC</a:t>
            </a:r>
          </a:p>
          <a:p>
            <a:pPr marL="285750" indent="-285750">
              <a:lnSpc>
                <a:spcPts val="2000"/>
              </a:lnSpc>
              <a:spcBef>
                <a:spcPts val="200"/>
              </a:spcBef>
              <a:buFont typeface="Arial"/>
              <a:buChar char="•"/>
            </a:pPr>
            <a:r>
              <a:rPr lang="ko-KR" sz="1500" b="1" dirty="0">
                <a:solidFill>
                  <a:srgbClr val="19264B"/>
                </a:solidFill>
              </a:rPr>
              <a:t>[VITS 적용]</a:t>
            </a:r>
            <a:r>
              <a:rPr lang="ko-KR" sz="1500" dirty="0">
                <a:solidFill>
                  <a:srgbClr val="595959"/>
                </a:solidFill>
              </a:rPr>
              <a:t> Step 5. 정제된 데이터로 MMS-TTS-kor(VITS) fine-tuning → Step 6. 경상도 사투리 TTS 완성</a:t>
            </a:r>
          </a:p>
          <a:p>
            <a:pPr marL="0" indent="0" algn="ctr">
              <a:lnSpc>
                <a:spcPts val="2200"/>
              </a:lnSpc>
              <a:spcBef>
                <a:spcPts val="700"/>
              </a:spcBef>
              <a:buNone/>
            </a:pPr>
            <a:r>
              <a:rPr lang="ko-KR" sz="1500" b="1" i="1" dirty="0">
                <a:solidFill>
                  <a:srgbClr val="C00000"/>
                </a:solidFill>
              </a:rPr>
              <a:t>한 문장 요약: LLM-to-Speech의 "데이터 만드는 법"으로 재료를 준비하고, </a:t>
            </a:r>
            <a:endParaRPr lang="en-US" altLang="ko-KR" sz="1500" b="1" i="1" dirty="0">
              <a:solidFill>
                <a:srgbClr val="C00000"/>
              </a:solidFill>
            </a:endParaRPr>
          </a:p>
          <a:p>
            <a:pPr marL="0" indent="0" algn="ctr">
              <a:lnSpc>
                <a:spcPts val="2200"/>
              </a:lnSpc>
              <a:spcBef>
                <a:spcPts val="700"/>
              </a:spcBef>
              <a:buNone/>
            </a:pPr>
            <a:r>
              <a:rPr lang="ko-KR" sz="1500" b="1" i="1" dirty="0" err="1">
                <a:solidFill>
                  <a:srgbClr val="C00000"/>
                </a:solidFill>
              </a:rPr>
              <a:t>VITS라는</a:t>
            </a:r>
            <a:r>
              <a:rPr lang="ko-KR" sz="1500" b="1" i="1" dirty="0">
                <a:solidFill>
                  <a:srgbClr val="C00000"/>
                </a:solidFill>
              </a:rPr>
              <a:t> "엔진"에 넣어 학습시킨다</a:t>
            </a:r>
          </a:p>
        </p:txBody>
      </p:sp>
    </p:spTree>
    <p:extLst>
      <p:ext uri="{BB962C8B-B14F-4D97-AF65-F5344CB8AC3E}">
        <p14:creationId xmlns:p14="http://schemas.microsoft.com/office/powerpoint/2010/main" val="2899492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3AB6583-2483-8C78-B5B0-BD733AEE7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42971BA7-0E05-C4AE-2574-9FF8CA74D1F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02864EC8-6E56-99F2-FE13-4F48F59C6291}"/>
              </a:ext>
            </a:extLst>
          </p:cNvPr>
          <p:cNvSpPr txBox="1"/>
          <p:nvPr/>
        </p:nvSpPr>
        <p:spPr>
          <a:xfrm>
            <a:off x="1777073" y="1925434"/>
            <a:ext cx="6831484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4800" b="1" dirty="0">
                <a:solidFill>
                  <a:srgbClr val="19264B"/>
                </a:solidFill>
              </a:rPr>
              <a:t>감사합니다</a:t>
            </a:r>
            <a:endParaRPr lang="en-US" altLang="ko-KR" sz="4800" b="1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A3FF8374-6131-F632-96C0-F6FE1D3FE9F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A08B9C54-F657-D515-4B77-B67C3B4002D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315930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C9B73D3-056A-AF47-9CA3-CDC8EB39AF8D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0cf8d17-00d9-4a35-b961-778ffce32dd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2009</TotalTime>
  <Words>647</Words>
  <Application>Microsoft Macintosh PowerPoint</Application>
  <PresentationFormat>화면 슬라이드 쇼(16:9)</PresentationFormat>
  <Paragraphs>85</Paragraphs>
  <Slides>12</Slides>
  <Notes>11</Notes>
  <HiddenSlides>0</HiddenSlides>
  <MMClips>1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4" baseType="lpstr"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정성룡</dc:creator>
  <cp:lastModifiedBy>최영현</cp:lastModifiedBy>
  <cp:revision>43</cp:revision>
  <dcterms:modified xsi:type="dcterms:W3CDTF">2026-05-26T03:45:29Z</dcterms:modified>
</cp:coreProperties>
</file>