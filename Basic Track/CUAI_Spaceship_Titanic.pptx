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Accuracy</c:v>
                </c:pt>
              </c:strCache>
            </c:strRef>
          </c:tx>
          <c:spPr>
            <a:solidFill>
              <a:srgbClr val="F4B860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B8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0C-584D-A0F2-D44FBE1300E7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0C-584D-A0F2-D44FBE1300E7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0C-584D-A0F2-D44FBE1300E7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0C-584D-A0F2-D44FBE1300E7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0C-584D-A0F2-D44FBE1300E7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0C-584D-A0F2-D44FBE1300E7}"/>
              </c:ext>
            </c:extLst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40C-584D-A0F2-D44FBE1300E7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238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XGBoost</c:v>
                </c:pt>
                <c:pt idx="1">
                  <c:v>CatBoost</c:v>
                </c:pt>
                <c:pt idx="2">
                  <c:v>LightGBM</c:v>
                </c:pt>
                <c:pt idx="3">
                  <c:v>HistGB</c:v>
                </c:pt>
                <c:pt idx="4">
                  <c:v>RandomForest</c:v>
                </c:pt>
                <c:pt idx="5">
                  <c:v>ExtraTrees</c:v>
                </c:pt>
                <c:pt idx="6">
                  <c:v>LogisticReg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0.81799999999999995</c:v>
                </c:pt>
                <c:pt idx="1">
                  <c:v>0.81610000000000005</c:v>
                </c:pt>
                <c:pt idx="2">
                  <c:v>0.81179999999999997</c:v>
                </c:pt>
                <c:pt idx="3">
                  <c:v>0.81169999999999998</c:v>
                </c:pt>
                <c:pt idx="4">
                  <c:v>0.80689999999999995</c:v>
                </c:pt>
                <c:pt idx="5">
                  <c:v>0.8</c:v>
                </c:pt>
                <c:pt idx="6">
                  <c:v>0.79749999999999999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40C-584D-A0F2-D44FBE130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3"/>
          <c:min val="0.78"/>
        </c:scaling>
        <c:delete val="0"/>
        <c:axPos val="b"/>
        <c:majorGridlines>
          <c:spPr>
            <a:ln w="6350" cap="flat">
              <a:solidFill>
                <a:srgbClr val="D4D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81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0" y="548640"/>
            <a:ext cx="45720" cy="45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0" y="82296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0" y="457200"/>
            <a:ext cx="45720" cy="45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0" y="118872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03920" y="73152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0" y="438912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26080" y="466344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89120" y="4206240"/>
            <a:ext cx="45720" cy="45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943600" y="457200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15200" y="448056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321040" y="411480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686800" y="274320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64592" cy="164592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CUAI BASIC · STUDY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Spaceship Titanic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승객의 다른 차원 이송 여부 예측 — Kaggle Binary Classification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097280" cy="0"/>
          </a:xfrm>
          <a:prstGeom prst="line">
            <a:avLst/>
          </a:prstGeom>
          <a:noFill/>
          <a:ln w="1905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CUAI Basic Track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발표 순서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대회 소개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7863840" cy="0"/>
          </a:xfrm>
          <a:prstGeom prst="line">
            <a:avLst/>
          </a:prstGeom>
          <a:noFill/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살펴보기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구조와 주요 변수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7863840" cy="0"/>
          </a:xfrm>
          <a:prstGeom prst="line">
            <a:avLst/>
          </a:prstGeom>
          <a:noFill/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&amp; 피처 엔지니어링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PassengerId·Cabin 분해, 지출 파생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44952"/>
            <a:ext cx="7863840" cy="0"/>
          </a:xfrm>
          <a:prstGeom prst="line">
            <a:avLst/>
          </a:prstGeom>
          <a:noFill/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전략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Baseline부터 Gradient Boosting까지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7863840" cy="0"/>
          </a:xfrm>
          <a:prstGeom prst="line">
            <a:avLst/>
          </a:prstGeom>
          <a:noFill/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&amp; 성과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566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비교, 최종 제출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050792"/>
            <a:ext cx="7863840" cy="0"/>
          </a:xfrm>
          <a:prstGeom prst="line">
            <a:avLst/>
          </a:prstGeom>
          <a:noFill/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4069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점 &amp; 다음 단계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회고와 개선 아이디어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어떤 승객이 다른 차원으로 이송되었을까?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2912년, 우주선 Spaceship Titanic이 시공간 이상 현상과 충돌했다. 절반에 가까운 승객이 다른 차원으로 이송되었고, 우리는 남은 기록을 토대로 누가 이송되었는지를 예측해야 한다.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변수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Transported (True / False) — 이진 분류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508760"/>
            <a:ext cx="2926080" cy="292608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73152" cy="292608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8,693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승객 데이터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4,277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승객 데이터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변수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데이터 살펴보기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어떤 정보가 주어졌나?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41732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3152" cy="141732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승객 식별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PassengerId ·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번호와 성씨를 분해해 동행 정보로 활용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141732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2044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객실 정보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Cabin (Deck/Num/Side)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258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갑판·위치·좌우(P/S)로 분해하여 입지 효과 포착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인구통계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HomePlanet · Age · VIP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258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출신 행성, 연령대, VIP 여부 등 기본 속성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2606040" cy="141732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73152" cy="141732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772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 상태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CryoSleep · Destination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8130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동면 여부와 목적지 — 핵심 신호 변수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606040" cy="141732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5204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데이터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RoomService · FoodCourt · Spa ...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8130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편의시설 지출 — 강력한 예측 신호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06040" cy="141732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636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8130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이진 — 우리가 맞춰야 할 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결측치가 거의 모든 컬럼에 존재 → 견고한 imputation 전략이 필요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전처리 &amp; 피처 엔지니어링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원본 14개 → 최종 41개 피처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320040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50292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 분해 · 추출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GroupId, GroupNumber, GroupSize, IsAlone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CabinDeck, CabinNum, CabinSide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Surname (가족 단위 분석)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AgeBin (Child / Teen / Adult / Senior)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50292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8348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 파생 · 조합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파생변수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TotalSpend · LuxurySpend · NoSpend 플래그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log1p 변환으로 skew 완화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CryoSleep 기반 결측 보정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동면 승객의 지출 결측 → 0으로 채움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조합형 범주 변수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HomePlanet × CabinDeck, Deck × Side 등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median impute + One-Hot (min_frequency=5)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모델링 전략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Baseline에서 Boosting까지, 단계적 확장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A96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1580" y="1280160"/>
            <a:ext cx="548640" cy="548640"/>
          </a:xfrm>
          <a:prstGeom prst="ellipse">
            <a:avLst/>
          </a:prstGeom>
          <a:solidFill>
            <a:srgbClr val="8A96B8"/>
          </a:solidFill>
          <a:ln w="12700">
            <a:solidFill>
              <a:srgbClr val="8A96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115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기준점 확보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459736" y="2578608"/>
            <a:ext cx="109728" cy="146304"/>
          </a:xfrm>
          <a:prstGeom prst="rtTriangle">
            <a:avLst/>
          </a:prstGeom>
          <a:solidFill>
            <a:srgbClr val="8A96B8"/>
          </a:solidFill>
          <a:ln w="12700">
            <a:solidFill>
              <a:srgbClr val="8A96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874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68980" y="1280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689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계열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517136" y="2578608"/>
            <a:ext cx="109728" cy="146304"/>
          </a:xfrm>
          <a:prstGeom prst="rtTriangle">
            <a:avLst/>
          </a:prstGeom>
          <a:solidFill>
            <a:srgbClr val="8A96B8"/>
          </a:solidFill>
          <a:ln w="12700">
            <a:solidFill>
              <a:srgbClr val="8A96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874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6380" y="1280160"/>
            <a:ext cx="548640" cy="54864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263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 · CatBoost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XGBoost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574536" y="2578608"/>
            <a:ext cx="109728" cy="146304"/>
          </a:xfrm>
          <a:prstGeom prst="rtTriangle">
            <a:avLst/>
          </a:prstGeom>
          <a:solidFill>
            <a:srgbClr val="8A96B8"/>
          </a:solidFill>
          <a:ln w="12700">
            <a:solidFill>
              <a:srgbClr val="8A96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720840" y="1554480"/>
            <a:ext cx="1874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383780" y="12801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837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8092440" cy="68580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설계  ·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ColumnTransformer 파이프라인 + StratifiedKFold(5)로 모든 모델을 같은 조건에서 공정 비교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5-Fold Cross Validation 비교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463040"/>
            <a:ext cx="2743200" cy="320040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943600" y="1463040"/>
            <a:ext cx="274320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1264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12648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0.818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1264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Accuracy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886200"/>
            <a:ext cx="2377440" cy="0"/>
          </a:xfrm>
          <a:prstGeom prst="line">
            <a:avLst/>
          </a:prstGeom>
          <a:noFill/>
          <a:ln w="6350">
            <a:solidFill>
              <a:srgbClr val="8A96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12648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±0.0097</a:t>
            </a:r>
            <a:r>
              <a:rPr lang="en-US" sz="11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Baseline 대비 +2.1%p 향상  ·  최종 submission.csv 생성 완료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무엇이 성능을 끌어올렸나?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92608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패턴이 가장 강한 신호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편의시설 지출의 합·로그변환·서비스 개수 플래그가 “이송 여부”와 강하게 연관됨.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51760" cy="292608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 기반 결측 보정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CryoSleep=True 승객은 정의상 지출 불가 → 결측을 0으로. 단순 median보다 의미적으로 정확.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926080"/>
          </a:xfrm>
          <a:prstGeom prst="rect">
            <a:avLst/>
          </a:prstGeom>
          <a:solidFill>
            <a:srgbClr val="F4F6FB"/>
          </a:solidFill>
          <a:ln w="6350">
            <a:solidFill>
              <a:srgbClr val="D4D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 기반 부스팅의 우세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조합 변수가 많아 Linear는 한계. XGBoost·CatBoost가 +2%p 이상 향상.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동일한 데이터·파이프라인 위에서 “모델 선택”과 “피처 의미 부여”의 두 축이 정확도를 좌우했음.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배운 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이번 프로젝트에서 얻은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50292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91440" cy="50292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학습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ColumnTransformer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전처리·모델을 하나의 객체로 묶어 데이터 누수(leakage) 없이 CV 수행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274320" cy="2743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StratifiedKFold의 가치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3284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비율 유지로 분산이 작은 안정적 평가 (std 0.005~0.010)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엔지니어링의 우선순위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1970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튜닝보다 ‘의미 있는 변수 만들기’가 더 큰 점수 향상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3931920" cy="502920"/>
          </a:xfrm>
          <a:prstGeom prst="rect">
            <a:avLst/>
          </a:prstGeom>
          <a:solidFill>
            <a:srgbClr val="0B1638"/>
          </a:solidFill>
          <a:ln w="12700">
            <a:solidFill>
              <a:srgbClr val="0B16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학습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219456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634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148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기준선부터 세우기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2459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Regression으로 0.789 baseline 확보 → 개선의 기준점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663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017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비교 환경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3284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X·y·CV·전처리로 7개 모델을 일관되게 비교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1970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고정, sample_submission 포맷 그대로 사용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앞으로 더 시도해볼 것들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82684" y="1533869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0378" y="15245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기반 결측 보정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0378" y="18445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GroupId 내 승객의 HomePlanet, Cabin, Destination 정보를 활용해 결측치를 더 정교하게 채우기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0378" y="22743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네이티브 범주형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0378" y="25943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없이 categorical feature를 그대로 넣는 버전과 비교 — 트리 분할 효율 검증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0378" y="30241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튜닝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0378" y="33441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또는 GridSearchCV로 XGBoost·CatBoost·LightGBM 핵심 파라미터 탐색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0378" y="37739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· Ensemble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0378" y="40939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모델(XGB, CatBoost, LGBM)의 OOF 예측을 결합해 단일 모델 한계 돌파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103120" y="73152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91840" y="1371600"/>
            <a:ext cx="45720" cy="45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0" y="64008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0" y="100584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63840" y="822960"/>
            <a:ext cx="45720" cy="45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12480" y="146304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80160" y="402336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0" y="4297680"/>
            <a:ext cx="45720" cy="45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0" y="3931920"/>
            <a:ext cx="27432" cy="274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420624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114800" y="2971800"/>
            <a:ext cx="914400" cy="0"/>
          </a:xfrm>
          <a:prstGeom prst="line">
            <a:avLst/>
          </a:prstGeom>
          <a:noFill/>
          <a:ln w="254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질문과 피드백을 환영합니다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CUAI Basic  ·  Spaceship Titanic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</Words>
  <Application>Microsoft Macintosh PowerPoint</Application>
  <PresentationFormat>화면 슬라이드 쇼(16:9)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Spaceship Titanic - CUAI Basic</dc:title>
  <dc:subject>PptxGenJS Presentation</dc:subject>
  <dc:creator>배기현</dc:creator>
  <cp:lastModifiedBy>배 기현</cp:lastModifiedBy>
  <cp:revision>2</cp:revision>
  <dcterms:created xsi:type="dcterms:W3CDTF">2026-05-25T09:21:28Z</dcterms:created>
  <dcterms:modified xsi:type="dcterms:W3CDTF">2026-05-25T09:24:47Z</dcterms:modified>
</cp:coreProperties>
</file>