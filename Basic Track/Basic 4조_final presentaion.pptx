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1" name="Google Shape;91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0" name="Google Shape;100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7" name="Google Shape;117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7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48" name="Google Shape;148;p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64" name="Google Shape;164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8" name="Google Shape;178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4a1d1042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93" name="Google Shape;193;g3e4a1d10428_0_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07" name="Google Shape;207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1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Relationship Id="rId8" Type="http://schemas.openxmlformats.org/officeDocument/2006/relationships/image" Target="../media/image12.png"  /><Relationship Id="rId9" Type="http://schemas.openxmlformats.org/officeDocument/2006/relationships/image" Target="../media/image1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Relationship Id="rId7" Type="http://schemas.openxmlformats.org/officeDocument/2006/relationships/image" Target="../media/image1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.png"  /><Relationship Id="rId4" Type="http://schemas.openxmlformats.org/officeDocument/2006/relationships/image" Target="../media/image18.png"  /><Relationship Id="rId5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.png"  /><Relationship Id="rId4" Type="http://schemas.openxmlformats.org/officeDocument/2006/relationships/image" Target="../media/image23.png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Predicting F1 Pit Stops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4668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Kaggle Playground Series 머신러닝 프로젝트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36979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31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Basic 4조 : 이경환, 강태혁, 인선우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0961" y="2407890"/>
            <a:ext cx="16311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5873650" y="1217265"/>
            <a:ext cx="4445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595437" y="2453878"/>
            <a:ext cx="9001125" cy="12799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0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"Overfitting의 해결법은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00ff4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데이터를 늘리는 것이다.</a:t>
            </a:r>
            <a:r>
              <a:rPr lang="en-US" sz="3600" b="0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809750" y="4113162"/>
            <a:ext cx="8572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1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— Prof. Andrew 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809750" y="4760862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데이터와 자원이 충분하다면, 모델을 복잡하게 설계하여 성능을 극한으로 끌어올려도 무방합니다.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9043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375743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Predicting Pit Stops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871043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랩에서 F1 드라이버가 피트인 할 것인지를 예측하는 이진 분류 태스크입니다.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18568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52500" y="3766393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규모: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약 400,000개 샘플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4290268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 불균형: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True(1) : False(4) 비율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814143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변수: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랩 타임, 타이어 상태, 스틴트 번호 등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90353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TASK &amp; DATA OVERVIEW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903535"/>
            <a:ext cx="5715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61643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5518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09393"/>
            <a:ext cx="103733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571500" y="2166193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4349799" y="2166193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8128099" y="2166193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36659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결합: 세 모델의 예측치를 확률 기반 </a:t>
            </a:r>
            <a:r>
              <a:rPr lang="en-US" sz="1500" b="1" i="0" u="none" strike="noStrike" cap="none">
                <a:solidFill>
                  <a:srgbClr val="00ff41"/>
                </a:solidFill>
                <a:latin typeface="Noto Sans KR"/>
                <a:ea typeface="Noto Sans KR"/>
                <a:cs typeface="Noto Sans KR"/>
                <a:sym typeface="Noto Sans KR"/>
              </a:rPr>
              <a:t>Soft Voting</a:t>
            </a: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앙상블 적용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34230" y="3318718"/>
            <a:ext cx="2967089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CatBoost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04875" y="3814018"/>
            <a:ext cx="2825799" cy="338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12529" y="3318718"/>
            <a:ext cx="2967089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XGBoost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83174" y="3814018"/>
            <a:ext cx="2825799" cy="338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90829" y="3318718"/>
            <a:ext cx="2967089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LightGBM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61474" y="3814018"/>
            <a:ext cx="2825799" cy="338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30" name="Google Shape;130;p16" descr="image.png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2132409" y="2537668"/>
            <a:ext cx="370582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5910708" y="2537668"/>
            <a:ext cx="370582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9689008" y="2537668"/>
            <a:ext cx="370582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90353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MODELING STRATEGY: THE ENSEMBLE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903535"/>
            <a:ext cx="5715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3166325"/>
            <a:ext cx="5650200" cy="161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0" b="1" i="0" u="none" strike="noStrike" cap="none">
                <a:solidFill>
                  <a:srgbClr val="00ff41"/>
                </a:solidFill>
                <a:latin typeface="Poppins"/>
                <a:ea typeface="Poppins"/>
                <a:cs typeface="Poppins"/>
                <a:sym typeface="Poppins"/>
              </a:rPr>
              <a:t>0.94387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37914" y="4595068"/>
            <a:ext cx="482039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Base AUC Score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491287" y="3318718"/>
            <a:ext cx="50006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준수한 출발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491287" y="3871168"/>
            <a:ext cx="4896970" cy="7294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앙상블 모델만으로도 0.94 수준의 높은 AUC 스코어를 달성했습니다.</a:t>
            </a:r>
            <a:r>
              <a:rPr lang="ko-KR" alt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더</a:t>
            </a:r>
            <a:r>
              <a:rPr lang="ko-KR" alt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성능을 개선할 수 있는 여지를 탐색했습니다.</a:t>
            </a:r>
            <a:endParaRPr lang="en-US" sz="1500" b="0" i="0" u="none" strike="noStrike" cap="none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762000" y="90353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INITIAL BASELINE PERFORMANCE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903535"/>
            <a:ext cx="5715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8118"/>
            <a:ext cx="53340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28118"/>
            <a:ext cx="53340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718643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962025" y="3461593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피처 압축 시도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4014043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타이어 피로도: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TyreLife, Degradation, Stint를 2개로 압축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25" y="4814143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속도 정보: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LapTime, LapTime_Delta를 1개로 압축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718643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677025" y="3461593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 성능 하락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677025" y="4014043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AUC score가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0.93835</a:t>
            </a:r>
            <a:r>
              <a:rPr b="0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 감소했습니다. 차원 축소가 오히려 모델 성능에 독이 된 사례입니다.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90353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EXPERIMENT 1: DIMENSION REDUCTION (PCA)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903535"/>
            <a:ext cx="5715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8155"/>
            <a:ext cx="110490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1333500" y="3161555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정보량의 부족: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방대한 데이터(40만 개)에 비해 피처를 압축하며 중요한 비선형 관계가 유실되었습니다.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333500" y="3685430"/>
            <a:ext cx="990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풍요의 역설: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데이터가 많을 때는 차원 축소보다 오히려 더 많은 피처를 생성하여 복잡성을 높여야 합니다.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333500" y="4495055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전략 수정: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단순화(Simple)가 아닌 복잡화(Complexity)로 방향을 전환했습니다.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90353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DID THE SCORE DROP?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903535"/>
            <a:ext cx="57150" cy="4572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256805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780680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590305"/>
            <a:ext cx="103733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62000" y="90353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EXPERIMENT 2: COMPLEXITY BOOST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903535"/>
            <a:ext cx="5715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198935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e10600"/>
                </a:solidFill>
                <a:latin typeface="Noto Sans KR"/>
                <a:ea typeface="Noto Sans KR"/>
                <a:cs typeface="Noto Sans KR"/>
                <a:sym typeface="Noto Sans KR"/>
              </a:rPr>
              <a:t>Brute Force Feature Engineering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269423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데이터가 많으므로 피처를 늘리는 전략을 취했습니다.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85825" y="3979960"/>
            <a:ext cx="4572000" cy="25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Polynomial Feature 생성</a:t>
            </a:r>
            <a:endParaRPr/>
          </a:p>
        </p:txBody>
      </p:sp>
      <p:pic>
        <p:nvPicPr>
          <p:cNvPr id="186" name="Google Shape;186;p20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6707050" y="-2426175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571500" y="4113460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/>
          <p:nvPr/>
        </p:nvPicPr>
        <p:blipFill rotWithShape="1">
          <a:blip r:embed="rId6">
            <a:alphaModFix/>
          </a:blip>
          <a:stretch>
            <a:fillRect/>
          </a:stretch>
        </p:blipFill>
        <p:spPr>
          <a:xfrm>
            <a:off x="5772150" y="847725"/>
            <a:ext cx="6391275" cy="42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279575" y="5488550"/>
            <a:ext cx="8281500" cy="677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"/>
          <p:cNvSpPr/>
          <p:nvPr/>
        </p:nvSpPr>
        <p:spPr>
          <a:xfrm>
            <a:off x="711462" y="5090216"/>
            <a:ext cx="4202430" cy="5772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>
              <a:defRPr/>
            </a:pPr>
            <a:r>
              <a:rPr xmlns:mc="http://schemas.openxmlformats.org/markup-compatibility/2006" xmlns:hp="http://schemas.haansoft.com/office/presentation/8.0" sz="3200" b="0" i="0" strike="noStrike" mc:Ignorable="hp" hp:hslEmbossed="0">
                <a:solidFill>
                  <a:srgbClr val="ffffff">
                    <a:alpha val="100000"/>
                  </a:srgbClr>
                </a:solidFill>
                <a:latin typeface="Arial"/>
                <a:ea typeface="Calibri"/>
              </a:rPr>
              <a:t>AUC SCORE 0.94</a:t>
            </a:r>
            <a:r>
              <a:rPr xmlns:mc="http://schemas.openxmlformats.org/markup-compatibility/2006" xmlns:hp="http://schemas.haansoft.com/office/presentation/8.0" lang="en-US" altLang="ko-KR" sz="3200" b="0" i="0" strike="noStrike" mc:Ignorable="hp" hp:hslEmbossed="0">
                <a:solidFill>
                  <a:srgbClr val="ffffff">
                    <a:alpha val="100000"/>
                  </a:srgbClr>
                </a:solidFill>
                <a:latin typeface="Arial"/>
                <a:ea typeface="Calibri"/>
              </a:rPr>
              <a:t>665</a:t>
            </a:r>
            <a:endParaRPr xmlns:mc="http://schemas.openxmlformats.org/markup-compatibility/2006" xmlns:hp="http://schemas.haansoft.com/office/presentation/8.0" lang="en-US" altLang="ko-KR" sz="3200" b="0" i="0" strike="noStrike" mc:Ignorable="hp" hp:hslEmbossed="0">
              <a:solidFill>
                <a:srgbClr val="ffffff">
                  <a:alpha val="100000"/>
                </a:srgbClr>
              </a:solidFill>
              <a:latin typeface="Arial"/>
              <a:ea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762000" y="903535"/>
            <a:ext cx="5000700" cy="95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EXPERIMENT </a:t>
            </a:r>
            <a:r>
              <a:rPr lang="en-US" sz="315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lang="en-US" sz="315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31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 Hyperparameter</a:t>
            </a:r>
            <a:endParaRPr lang="en-US" altLang="ko-KR" sz="315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903535"/>
            <a:ext cx="57300" cy="9144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2198935"/>
            <a:ext cx="5200800" cy="21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2694235"/>
            <a:ext cx="4953000" cy="3537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최적의 </a:t>
            </a:r>
            <a:r>
              <a:rPr lang="ko-KR" altLang="en-US" sz="150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하이퍼 </a:t>
            </a:r>
            <a:r>
              <a:rPr lang="en-US" sz="150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파라미터 찾기</a:t>
            </a:r>
            <a:endParaRPr lang="en-US" sz="150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885825" y="3979960"/>
            <a:ext cx="4572000" cy="254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학습률과 트리 크기 실험</a:t>
            </a:r>
            <a:endParaRPr/>
          </a:p>
        </p:txBody>
      </p:sp>
      <p:pic>
        <p:nvPicPr>
          <p:cNvPr id="201" name="Google Shape;201;p21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6707050" y="-2426175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571500" y="4113460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/>
          <p:nvPr/>
        </p:nvPicPr>
        <p:blipFill rotWithShape="1">
          <a:blip r:embed="rId6">
            <a:alphaModFix/>
          </a:blip>
          <a:stretch>
            <a:fillRect/>
          </a:stretch>
        </p:blipFill>
        <p:spPr>
          <a:xfrm>
            <a:off x="5686250" y="1374926"/>
            <a:ext cx="6096000" cy="365756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28800" y="4741150"/>
            <a:ext cx="4572000" cy="677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 SCORE 0.94916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295275" y="1203870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FF41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22706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F1 Pit Stop Prediction Project - Basic 4조</a:t>
            </a:r>
            <a:endParaRPr/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5926" y="3204120"/>
            <a:ext cx="148232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236</ep:Words>
  <ep:PresentationFormat/>
  <ep:Paragraphs>44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dick0</cp:lastModifiedBy>
  <dcterms:modified xsi:type="dcterms:W3CDTF">2026-05-26T08:14:29.156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