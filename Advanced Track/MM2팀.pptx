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8" r:id="rId3"/>
    <p:sldId id="261" r:id="rId4"/>
    <p:sldId id="262" r:id="rId5"/>
    <p:sldId id="259" r:id="rId6"/>
    <p:sldId id="263" r:id="rId7"/>
    <p:sldId id="264" r:id="rId8"/>
    <p:sldId id="265" r:id="rId9"/>
    <p:sldId id="266" r:id="rId10"/>
    <p:sldId id="270" r:id="rId11"/>
    <p:sldId id="260" r:id="rId12"/>
  </p:sldIdLst>
  <p:sldSz cx="9144000" cy="5143500" type="screen16x9"/>
  <p:notesSz cx="6858000" cy="9144000"/>
  <p:embeddedFontLst>
    <p:embeddedFont>
      <p:font typeface="Nanum Gothic" panose="020B0604020202020204" charset="-127"/>
      <p:regular r:id="rId14"/>
      <p:bold r:id="rId15"/>
    </p:embeddedFont>
    <p:embeddedFont>
      <p:font typeface="NanumGothicExtraBold" panose="020D0904000000000000" pitchFamily="34" charset="-127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여기부터는 스터디 발표에 쓰이는 PPT 슬라이드입니다!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1640C86-A952-84CD-BE15-0E472E641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8D46D2F8-CAD8-BA8E-99E2-92BE0547C9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F149DA8F-CACB-AD4C-FB1D-4D70B24929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167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D4A6812-019A-7DD9-DD33-D8D373B13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BF95AE12-4895-A654-7AC6-3C8368F28F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586705E3-5827-1A40-3769-96A15D4907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8910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14F670E-10FC-F74F-3BDE-882577CA1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F46A1F03-FE60-3E7B-393B-3B10858F8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8CBA064A-91A2-4F3C-A763-0890DEB52D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1460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3B12134-3C81-6EAA-AB4E-8EEB39850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A46C5EDB-9EB4-5A0D-C04B-15C069AA69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C5392C0F-48D5-11CF-530E-22EF1394F9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311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45F6E70-555F-54A1-D061-81259204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F4AA97F4-62B9-6AF2-9ED7-5DBC929B91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181AA28D-7B13-5A78-2CCD-DD59794EB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6132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649D1A4-3890-9500-CFF6-124B669EC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C1D78B1D-4BA6-0063-E29C-621BDAC387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B2A89BB3-F240-B895-E091-D8C7DF5E7B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1614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752A562-4F50-A1FA-20AE-295015B7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24E9E64E-1EC6-D080-26B8-EEC71FC748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3B5A1E22-3CDF-D289-8B0E-151E144C9F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0315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76d74496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76d74496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" name="Google Shape;49;p1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10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8기 활동 소개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 b="1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9기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Github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Basic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스터디 소개</a:t>
            </a:r>
            <a:endParaRPr sz="800" b="1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AI 세미나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장학금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</a:rPr>
              <a:t>MM2</a:t>
            </a:r>
            <a:r>
              <a:rPr lang="ko-KR" altLang="en-US" sz="2500" b="1" dirty="0">
                <a:solidFill>
                  <a:srgbClr val="19264B"/>
                </a:solidFill>
              </a:rPr>
              <a:t>팀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6</a:t>
            </a:r>
            <a:r>
              <a:rPr lang="ko" dirty="0">
                <a:solidFill>
                  <a:srgbClr val="19264B"/>
                </a:solidFill>
              </a:rPr>
              <a:t>.0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26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solidFill>
                  <a:srgbClr val="19264B"/>
                </a:solidFill>
              </a:rPr>
              <a:t>김보형</a:t>
            </a:r>
            <a:r>
              <a:rPr lang="en-US" altLang="ko-KR" dirty="0">
                <a:solidFill>
                  <a:srgbClr val="19264B"/>
                </a:solidFill>
              </a:rPr>
              <a:t>, </a:t>
            </a:r>
            <a:r>
              <a:rPr lang="ko-KR" altLang="en-US" dirty="0">
                <a:solidFill>
                  <a:srgbClr val="19264B"/>
                </a:solidFill>
              </a:rPr>
              <a:t>이재권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이재권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목차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0185E8-C484-93D2-9B58-11A3AA6E8D4F}"/>
              </a:ext>
            </a:extLst>
          </p:cNvPr>
          <p:cNvSpPr txBox="1"/>
          <p:nvPr/>
        </p:nvSpPr>
        <p:spPr>
          <a:xfrm>
            <a:off x="1501698" y="1092820"/>
            <a:ext cx="160653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1. </a:t>
            </a:r>
            <a:r>
              <a:rPr lang="ko-KR" altLang="en-US" sz="1600" dirty="0"/>
              <a:t>프로젝트 소개</a:t>
            </a:r>
            <a:endParaRPr lang="en-US" altLang="ko-KR" sz="1600" dirty="0"/>
          </a:p>
          <a:p>
            <a:endParaRPr lang="ko-KR" altLang="en-US" sz="1600" dirty="0"/>
          </a:p>
          <a:p>
            <a:r>
              <a:rPr lang="en-US" altLang="ko-KR" sz="1600" dirty="0"/>
              <a:t>2. </a:t>
            </a:r>
            <a:r>
              <a:rPr lang="ko-KR" altLang="en-US" sz="1600" dirty="0"/>
              <a:t>문제 정의</a:t>
            </a:r>
            <a:endParaRPr lang="en-US" altLang="ko-KR" sz="1600" dirty="0"/>
          </a:p>
          <a:p>
            <a:endParaRPr lang="ko-KR" altLang="en-US" sz="1600" dirty="0"/>
          </a:p>
          <a:p>
            <a:r>
              <a:rPr lang="en-US" altLang="ko-KR" sz="1600" dirty="0"/>
              <a:t>3. </a:t>
            </a:r>
            <a:r>
              <a:rPr lang="ko-KR" altLang="en-US" sz="1600" dirty="0"/>
              <a:t>모델 구조</a:t>
            </a:r>
            <a:endParaRPr lang="en-US" altLang="ko-KR" sz="1600" dirty="0"/>
          </a:p>
          <a:p>
            <a:endParaRPr lang="ko-KR" altLang="en-US" sz="1600" dirty="0"/>
          </a:p>
          <a:p>
            <a:r>
              <a:rPr lang="en-US" altLang="ko-KR" sz="1600" dirty="0"/>
              <a:t>4. </a:t>
            </a:r>
            <a:r>
              <a:rPr lang="ko-KR" altLang="en-US" sz="1600" dirty="0"/>
              <a:t>실험 계획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5. </a:t>
            </a:r>
            <a:r>
              <a:rPr lang="ko-KR" altLang="en-US" sz="1600" dirty="0"/>
              <a:t>성능 평가</a:t>
            </a:r>
            <a:endParaRPr lang="en-US" altLang="ko-KR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F6511CE6-06A4-AB5E-0A2E-FF0DBEB1B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20C9A16B-2EF5-25CE-5B8F-A368CEFF0B8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11306057-0AFC-2241-12DE-490D428C1AF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67896A0E-EFCD-1C19-1F7E-9C1BF634DE3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43D85223-771F-A08A-6730-B0DAD6FE089F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프로젝트 소개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329F8F-4FC0-5B83-681C-154081CF97AD}"/>
              </a:ext>
            </a:extLst>
          </p:cNvPr>
          <p:cNvSpPr txBox="1"/>
          <p:nvPr/>
        </p:nvSpPr>
        <p:spPr>
          <a:xfrm>
            <a:off x="1408975" y="845454"/>
            <a:ext cx="4461478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srgbClr val="19264B"/>
                </a:solidFill>
              </a:rPr>
              <a:t>Evoformer</a:t>
            </a:r>
            <a:r>
              <a:rPr lang="ko-KR" altLang="en-US" sz="1600" dirty="0">
                <a:solidFill>
                  <a:srgbClr val="19264B"/>
                </a:solidFill>
              </a:rPr>
              <a:t>와 </a:t>
            </a:r>
            <a:r>
              <a:rPr lang="en-US" altLang="ko-KR" sz="1600" dirty="0" err="1">
                <a:solidFill>
                  <a:srgbClr val="19264B"/>
                </a:solidFill>
              </a:rPr>
              <a:t>ChemBERTa</a:t>
            </a:r>
            <a:r>
              <a:rPr lang="en-US" altLang="ko-KR" sz="1600" dirty="0">
                <a:solidFill>
                  <a:srgbClr val="19264B"/>
                </a:solidFill>
              </a:rPr>
              <a:t> </a:t>
            </a:r>
            <a:r>
              <a:rPr lang="ko-KR" altLang="en-US" sz="1600" dirty="0">
                <a:solidFill>
                  <a:srgbClr val="19264B"/>
                </a:solidFill>
              </a:rPr>
              <a:t>기반</a:t>
            </a:r>
            <a:endParaRPr lang="en-US" altLang="ko-KR" sz="1600" dirty="0">
              <a:solidFill>
                <a:srgbClr val="19264B"/>
              </a:solidFill>
            </a:endParaRPr>
          </a:p>
          <a:p>
            <a:r>
              <a:rPr lang="ko-KR" altLang="en-US" sz="1600" dirty="0">
                <a:solidFill>
                  <a:srgbClr val="19264B"/>
                </a:solidFill>
              </a:rPr>
              <a:t>표적 단백질</a:t>
            </a:r>
            <a:r>
              <a:rPr lang="en-US" altLang="ko-KR" sz="1600" dirty="0">
                <a:solidFill>
                  <a:srgbClr val="19264B"/>
                </a:solidFill>
              </a:rPr>
              <a:t>-</a:t>
            </a:r>
            <a:r>
              <a:rPr lang="ko-KR" altLang="en-US" sz="1600" dirty="0">
                <a:solidFill>
                  <a:srgbClr val="19264B"/>
                </a:solidFill>
              </a:rPr>
              <a:t>화합물 결합 친화도 예측 모델</a:t>
            </a:r>
            <a:endParaRPr lang="en-US" altLang="ko-KR" sz="1600" dirty="0">
              <a:solidFill>
                <a:srgbClr val="19264B"/>
              </a:solidFill>
            </a:endParaRPr>
          </a:p>
          <a:p>
            <a:r>
              <a:rPr lang="en-US" altLang="ko-KR" sz="1600" dirty="0">
                <a:solidFill>
                  <a:srgbClr val="19264B"/>
                </a:solidFill>
              </a:rPr>
              <a:t>(Multimodal Drug-Target Interaction Prediction)</a:t>
            </a:r>
            <a:endParaRPr lang="ko-KR" altLang="en-US" sz="1600" dirty="0">
              <a:solidFill>
                <a:srgbClr val="19264B"/>
              </a:solidFill>
            </a:endParaRPr>
          </a:p>
          <a:p>
            <a:endParaRPr lang="ko-KR" altLang="en-US" dirty="0"/>
          </a:p>
        </p:txBody>
      </p:sp>
      <p:sp>
        <p:nvSpPr>
          <p:cNvPr id="6" name="Shape 10">
            <a:extLst>
              <a:ext uri="{FF2B5EF4-FFF2-40B4-BE49-F238E27FC236}">
                <a16:creationId xmlns:a16="http://schemas.microsoft.com/office/drawing/2014/main" id="{F889F1BC-9F5B-5C2A-9CC5-056386DEFF44}"/>
              </a:ext>
            </a:extLst>
          </p:cNvPr>
          <p:cNvSpPr/>
          <p:nvPr/>
        </p:nvSpPr>
        <p:spPr>
          <a:xfrm>
            <a:off x="2320941" y="1891894"/>
            <a:ext cx="2743200" cy="2459216"/>
          </a:xfrm>
          <a:prstGeom prst="rect">
            <a:avLst/>
          </a:prstGeom>
          <a:solidFill>
            <a:srgbClr val="1A0A0A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E7AC947-7013-9E19-EFDC-CACB3CE81CFA}"/>
              </a:ext>
            </a:extLst>
          </p:cNvPr>
          <p:cNvSpPr/>
          <p:nvPr/>
        </p:nvSpPr>
        <p:spPr>
          <a:xfrm>
            <a:off x="2320941" y="1891894"/>
            <a:ext cx="2743200" cy="4114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82A80866-3E88-4CD6-EEF5-76F70FF0D899}"/>
              </a:ext>
            </a:extLst>
          </p:cNvPr>
          <p:cNvSpPr/>
          <p:nvPr/>
        </p:nvSpPr>
        <p:spPr>
          <a:xfrm>
            <a:off x="2320941" y="189189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전체 AlphaFold2</a:t>
            </a:r>
            <a:endParaRPr lang="en-US" sz="1300" dirty="0"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EB2A7A8D-E4AD-D07F-ECFF-28560E0D1ED0}"/>
              </a:ext>
            </a:extLst>
          </p:cNvPr>
          <p:cNvSpPr/>
          <p:nvPr/>
        </p:nvSpPr>
        <p:spPr>
          <a:xfrm>
            <a:off x="2458101" y="253197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EC8"/>
                </a:solidFill>
              </a:rPr>
              <a:t>Evoformer (MSA 표현 학습)</a:t>
            </a:r>
            <a:endParaRPr lang="en-US" sz="1200" dirty="0"/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D3773230-D073-B0B4-A578-9DF24147BC26}"/>
              </a:ext>
            </a:extLst>
          </p:cNvPr>
          <p:cNvSpPr/>
          <p:nvPr/>
        </p:nvSpPr>
        <p:spPr>
          <a:xfrm>
            <a:off x="2458101" y="321777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EC8"/>
                </a:solidFill>
              </a:rPr>
              <a:t>Structure Module (3D 렌더링)</a:t>
            </a:r>
            <a:endParaRPr lang="en-US" sz="12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195B9075-400D-CF70-1A47-F023780382ED}"/>
              </a:ext>
            </a:extLst>
          </p:cNvPr>
          <p:cNvSpPr/>
          <p:nvPr/>
        </p:nvSpPr>
        <p:spPr>
          <a:xfrm>
            <a:off x="2458101" y="3387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8BDF8"/>
                </a:solidFill>
              </a:rPr>
              <a:t>→ TPU 수준 연산 필요</a:t>
            </a:r>
            <a:endParaRPr lang="en-US" sz="1200" dirty="0"/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C634B891-F8CE-0312-579F-1BD133756DEA}"/>
              </a:ext>
            </a:extLst>
          </p:cNvPr>
          <p:cNvSpPr/>
          <p:nvPr/>
        </p:nvSpPr>
        <p:spPr>
          <a:xfrm>
            <a:off x="5247021" y="1891894"/>
            <a:ext cx="2743200" cy="2459216"/>
          </a:xfrm>
          <a:prstGeom prst="rect">
            <a:avLst/>
          </a:prstGeom>
          <a:solidFill>
            <a:srgbClr val="0A1A12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Shape 19">
            <a:extLst>
              <a:ext uri="{FF2B5EF4-FFF2-40B4-BE49-F238E27FC236}">
                <a16:creationId xmlns:a16="http://schemas.microsoft.com/office/drawing/2014/main" id="{FE084F16-B87B-10A5-99CC-0C86DE322A5F}"/>
              </a:ext>
            </a:extLst>
          </p:cNvPr>
          <p:cNvSpPr/>
          <p:nvPr/>
        </p:nvSpPr>
        <p:spPr>
          <a:xfrm>
            <a:off x="5247021" y="1891894"/>
            <a:ext cx="2743200" cy="411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9AAA7832-3218-F069-33BE-F8E1D13B8805}"/>
              </a:ext>
            </a:extLst>
          </p:cNvPr>
          <p:cNvSpPr/>
          <p:nvPr/>
        </p:nvSpPr>
        <p:spPr>
          <a:xfrm>
            <a:off x="5247021" y="189189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이 프로젝트</a:t>
            </a:r>
            <a:endParaRPr lang="en-US" sz="1300" dirty="0"/>
          </a:p>
        </p:txBody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45AF272F-FA3A-9539-D486-4101F8972FD2}"/>
              </a:ext>
            </a:extLst>
          </p:cNvPr>
          <p:cNvSpPr/>
          <p:nvPr/>
        </p:nvSpPr>
        <p:spPr>
          <a:xfrm>
            <a:off x="5384181" y="253197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EC8"/>
                </a:solidFill>
              </a:rPr>
              <a:t>Evoformer (MSA 표현 학습)</a:t>
            </a:r>
            <a:endParaRPr lang="en-US" sz="1200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DB26BD54-3711-237F-F9D2-B90478781F8C}"/>
              </a:ext>
            </a:extLst>
          </p:cNvPr>
          <p:cNvSpPr/>
          <p:nvPr/>
        </p:nvSpPr>
        <p:spPr>
          <a:xfrm>
            <a:off x="5384181" y="3094271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EC8"/>
                </a:solidFill>
              </a:rPr>
              <a:t>✕ Structure Module </a:t>
            </a:r>
            <a:r>
              <a:rPr lang="en-US" sz="1200" dirty="0" err="1">
                <a:solidFill>
                  <a:srgbClr val="8FAEC8"/>
                </a:solidFill>
              </a:rPr>
              <a:t>생략</a:t>
            </a:r>
            <a:endParaRPr lang="en-US" sz="1200" dirty="0">
              <a:solidFill>
                <a:srgbClr val="8FAEC8"/>
              </a:solidFill>
            </a:endParaRPr>
          </a:p>
          <a:p>
            <a:endParaRPr lang="en-US" sz="1200" dirty="0">
              <a:solidFill>
                <a:srgbClr val="8FAEC8"/>
              </a:solidFill>
            </a:endParaRPr>
          </a:p>
          <a:p>
            <a:r>
              <a:rPr lang="en-US" sz="1200" dirty="0" err="1">
                <a:solidFill>
                  <a:srgbClr val="8FAEC8"/>
                </a:solidFill>
              </a:rPr>
              <a:t>ChemBERTa</a:t>
            </a:r>
            <a:r>
              <a:rPr lang="ko-KR" altLang="en-US" sz="1200" dirty="0">
                <a:solidFill>
                  <a:srgbClr val="8FAEC8"/>
                </a:solidFill>
              </a:rPr>
              <a:t>와 결합</a:t>
            </a:r>
            <a:endParaRPr lang="en-US" sz="1200" dirty="0">
              <a:solidFill>
                <a:srgbClr val="8FAEC8"/>
              </a:solidFill>
            </a:endParaRPr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F27D175B-8B6E-670C-9D42-8220D0349E00}"/>
              </a:ext>
            </a:extLst>
          </p:cNvPr>
          <p:cNvSpPr/>
          <p:nvPr/>
        </p:nvSpPr>
        <p:spPr>
          <a:xfrm>
            <a:off x="5384181" y="390357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8BDF8"/>
                </a:solidFill>
              </a:rPr>
              <a:t>→ 표현 학습 + 결합력 예측에 집중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0411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DFEC338B-AD8C-AC3C-645C-6E72A00E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EAB90DC8-E27E-EF23-900A-23E52B5F73E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5F804087-1E10-E81A-476C-DA2822FFABD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74808A25-DDBA-50A5-CA44-86C3C24530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B3F2D16B-E4E5-F7EF-5787-6AAE61782774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문제 정의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F2DA17-C249-E38A-6E96-37B0C64BC6FD}"/>
              </a:ext>
            </a:extLst>
          </p:cNvPr>
          <p:cNvSpPr txBox="1"/>
          <p:nvPr/>
        </p:nvSpPr>
        <p:spPr>
          <a:xfrm>
            <a:off x="1408975" y="845454"/>
            <a:ext cx="731161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19264B"/>
                </a:solidFill>
              </a:rPr>
              <a:t>기존의 신약 개발</a:t>
            </a:r>
            <a:endParaRPr lang="en-US" altLang="ko-KR" dirty="0">
              <a:solidFill>
                <a:srgbClr val="19264B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dirty="0"/>
              <a:t>후보 물질 발굴 및 최적화</a:t>
            </a:r>
            <a:r>
              <a:rPr lang="en-US" altLang="ko-KR" dirty="0"/>
              <a:t>(3~4</a:t>
            </a:r>
            <a:r>
              <a:rPr lang="ko-KR" altLang="en-US" dirty="0"/>
              <a:t>년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비임상</a:t>
            </a:r>
            <a:r>
              <a:rPr lang="en-US" altLang="ko-KR" dirty="0"/>
              <a:t>/</a:t>
            </a:r>
            <a:r>
              <a:rPr lang="ko-KR" altLang="en-US" dirty="0"/>
              <a:t>독성 시험</a:t>
            </a:r>
            <a:r>
              <a:rPr lang="en-US" altLang="ko-KR" dirty="0"/>
              <a:t>(1~3</a:t>
            </a:r>
            <a:r>
              <a:rPr lang="ko-KR" altLang="en-US" dirty="0"/>
              <a:t>년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임상시험 </a:t>
            </a:r>
            <a:r>
              <a:rPr lang="en-US" altLang="ko-KR" dirty="0"/>
              <a:t>1~3</a:t>
            </a:r>
            <a:r>
              <a:rPr lang="ko-KR" altLang="en-US" dirty="0"/>
              <a:t>상</a:t>
            </a:r>
            <a:r>
              <a:rPr lang="en-US" altLang="ko-KR" dirty="0"/>
              <a:t>(5~6</a:t>
            </a:r>
            <a:r>
              <a:rPr lang="ko-KR" altLang="en-US" dirty="0"/>
              <a:t>년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규제 기관 승인</a:t>
            </a:r>
            <a:r>
              <a:rPr lang="en-US" altLang="ko-KR" dirty="0"/>
              <a:t>(1~2</a:t>
            </a:r>
            <a:r>
              <a:rPr lang="ko-KR" altLang="en-US" dirty="0"/>
              <a:t>년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ko-KR" altLang="en-US" dirty="0"/>
              <a:t>총 </a:t>
            </a:r>
            <a:r>
              <a:rPr lang="en-US" altLang="ko-KR" dirty="0"/>
              <a:t>10</a:t>
            </a:r>
            <a:r>
              <a:rPr lang="ko-KR" altLang="en-US" dirty="0"/>
              <a:t>년 이상 소요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olidFill>
                  <a:srgbClr val="19264B"/>
                </a:solidFill>
              </a:rPr>
              <a:t>DTI</a:t>
            </a:r>
            <a:r>
              <a:rPr lang="ko-KR" altLang="en-US" dirty="0">
                <a:solidFill>
                  <a:srgbClr val="19264B"/>
                </a:solidFill>
              </a:rPr>
              <a:t> 모델에 약물 구조 </a:t>
            </a:r>
            <a:r>
              <a:rPr lang="en-US" altLang="ko-KR" dirty="0">
                <a:solidFill>
                  <a:srgbClr val="19264B"/>
                </a:solidFill>
              </a:rPr>
              <a:t>+ </a:t>
            </a:r>
            <a:r>
              <a:rPr lang="ko-KR" altLang="en-US" dirty="0">
                <a:solidFill>
                  <a:srgbClr val="19264B"/>
                </a:solidFill>
              </a:rPr>
              <a:t>단백질 정보 입력하여 결합 강도 예측 반환</a:t>
            </a:r>
            <a:endParaRPr lang="en-US" altLang="ko-KR" dirty="0">
              <a:solidFill>
                <a:srgbClr val="19264B"/>
              </a:solidFill>
            </a:endParaRPr>
          </a:p>
          <a:p>
            <a:r>
              <a:rPr lang="en-US" altLang="ko-KR" dirty="0">
                <a:solidFill>
                  <a:srgbClr val="19264B"/>
                </a:solidFill>
              </a:rPr>
              <a:t>-&gt;</a:t>
            </a:r>
            <a:r>
              <a:rPr lang="ko-KR" altLang="en-US" dirty="0">
                <a:solidFill>
                  <a:srgbClr val="19264B"/>
                </a:solidFill>
              </a:rPr>
              <a:t> </a:t>
            </a:r>
            <a:r>
              <a:rPr lang="en-US" altLang="ko-KR" dirty="0">
                <a:solidFill>
                  <a:srgbClr val="19264B"/>
                </a:solidFill>
              </a:rPr>
              <a:t>1</a:t>
            </a:r>
            <a:r>
              <a:rPr lang="ko-KR" altLang="en-US" dirty="0">
                <a:solidFill>
                  <a:srgbClr val="19264B"/>
                </a:solidFill>
              </a:rPr>
              <a:t>번의 기간을 몇 개월로 단축</a:t>
            </a:r>
            <a:r>
              <a:rPr lang="en-US" altLang="ko-KR" dirty="0">
                <a:solidFill>
                  <a:srgbClr val="19264B"/>
                </a:solidFill>
              </a:rPr>
              <a:t>, 2</a:t>
            </a:r>
            <a:r>
              <a:rPr lang="ko-KR" altLang="en-US" dirty="0">
                <a:solidFill>
                  <a:srgbClr val="19264B"/>
                </a:solidFill>
              </a:rPr>
              <a:t>번의 실패 확률 크게 낮춰 개발 기간 수년 단축 가능</a:t>
            </a:r>
          </a:p>
          <a:p>
            <a:endParaRPr lang="en-US" altLang="ko-KR" dirty="0"/>
          </a:p>
          <a:p>
            <a:r>
              <a:rPr lang="ko-KR" altLang="en-US" dirty="0"/>
              <a:t>기존 </a:t>
            </a:r>
            <a:r>
              <a:rPr lang="en-US" altLang="ko-KR" dirty="0"/>
              <a:t>DTI </a:t>
            </a:r>
            <a:r>
              <a:rPr lang="ko-KR" altLang="en-US" dirty="0"/>
              <a:t>모델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대부분 단백질과 화합물</a:t>
            </a:r>
            <a:r>
              <a:rPr lang="en-US" altLang="ko-KR" dirty="0"/>
              <a:t>(</a:t>
            </a:r>
            <a:r>
              <a:rPr lang="ko-KR" altLang="en-US" dirty="0"/>
              <a:t>약물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1D</a:t>
            </a:r>
            <a:r>
              <a:rPr lang="ko-KR" altLang="en-US" dirty="0"/>
              <a:t>로 처리하거나 단백질 구조와 화학 정보 동시 사용이 적음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>
                <a:solidFill>
                  <a:srgbClr val="19264B"/>
                </a:solidFill>
              </a:rPr>
              <a:t>Evoformer</a:t>
            </a:r>
            <a:r>
              <a:rPr lang="en-US" altLang="ko-KR" dirty="0">
                <a:solidFill>
                  <a:srgbClr val="19264B"/>
                </a:solidFill>
              </a:rPr>
              <a:t>(3D) + </a:t>
            </a:r>
            <a:r>
              <a:rPr lang="en-US" altLang="ko-KR" dirty="0" err="1">
                <a:solidFill>
                  <a:srgbClr val="19264B"/>
                </a:solidFill>
              </a:rPr>
              <a:t>ChemBERTa</a:t>
            </a:r>
            <a:r>
              <a:rPr lang="en-US" altLang="ko-KR" dirty="0">
                <a:solidFill>
                  <a:srgbClr val="19264B"/>
                </a:solidFill>
              </a:rPr>
              <a:t>(1D)</a:t>
            </a:r>
            <a:r>
              <a:rPr lang="ko-KR" altLang="en-US" dirty="0">
                <a:solidFill>
                  <a:srgbClr val="19264B"/>
                </a:solidFill>
              </a:rPr>
              <a:t>의</a:t>
            </a:r>
            <a:r>
              <a:rPr lang="en-US" altLang="ko-KR" dirty="0">
                <a:solidFill>
                  <a:srgbClr val="19264B"/>
                </a:solidFill>
              </a:rPr>
              <a:t> Cross-Attention</a:t>
            </a:r>
            <a:r>
              <a:rPr lang="ko-KR" altLang="en-US" dirty="0">
                <a:solidFill>
                  <a:srgbClr val="19264B"/>
                </a:solidFill>
              </a:rPr>
              <a:t>으로 두 정보를 동시 활용</a:t>
            </a:r>
            <a:endParaRPr lang="en-US" altLang="ko-KR" dirty="0">
              <a:solidFill>
                <a:srgbClr val="19264B"/>
              </a:solidFill>
            </a:endParaRPr>
          </a:p>
          <a:p>
            <a:r>
              <a:rPr lang="ko-KR" altLang="en-US" dirty="0"/>
              <a:t>수많은 화합물 후보 중 어떤 것이 표적 단백질에 상호작용</a:t>
            </a:r>
            <a:r>
              <a:rPr lang="en-US" altLang="ko-KR" dirty="0"/>
              <a:t>(</a:t>
            </a:r>
            <a:r>
              <a:rPr lang="ko-KR" altLang="en-US" dirty="0"/>
              <a:t>잘 결합</a:t>
            </a:r>
            <a:r>
              <a:rPr lang="en-US" altLang="ko-KR" dirty="0"/>
              <a:t>)</a:t>
            </a:r>
            <a:r>
              <a:rPr lang="ko-KR" altLang="en-US" dirty="0"/>
              <a:t>할지 예측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44759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모델 구조 </a:t>
            </a:r>
            <a:r>
              <a:rPr lang="en-US" altLang="ko-KR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: </a:t>
            </a:r>
            <a:r>
              <a:rPr lang="en-US" altLang="ko-KR" sz="2000" dirty="0" err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Evoformer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579A9A-CD46-5036-FD25-4F3E76BBB001}"/>
              </a:ext>
            </a:extLst>
          </p:cNvPr>
          <p:cNvSpPr txBox="1"/>
          <p:nvPr/>
        </p:nvSpPr>
        <p:spPr>
          <a:xfrm>
            <a:off x="1590907" y="4528848"/>
            <a:ext cx="7680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>
                <a:solidFill>
                  <a:srgbClr val="323232"/>
                </a:solidFill>
              </a:defRPr>
            </a:pPr>
            <a:r>
              <a:rPr lang="ko-KR" altLang="en-US" dirty="0"/>
              <a:t>출력 </a:t>
            </a:r>
            <a:r>
              <a:rPr lang="en-US" altLang="ko-KR" dirty="0"/>
              <a:t>: </a:t>
            </a:r>
            <a:r>
              <a:rPr dirty="0" err="1"/>
              <a:t>single_repr</a:t>
            </a:r>
            <a:r>
              <a:rPr lang="en-US" dirty="0"/>
              <a:t>(</a:t>
            </a:r>
            <a:r>
              <a:rPr lang="ko-KR" altLang="en-US" dirty="0"/>
              <a:t>각 </a:t>
            </a:r>
            <a:r>
              <a:rPr dirty="0" err="1"/>
              <a:t>위치별</a:t>
            </a:r>
            <a:r>
              <a:rPr dirty="0"/>
              <a:t> </a:t>
            </a:r>
            <a:r>
              <a:rPr dirty="0" err="1"/>
              <a:t>임베딩</a:t>
            </a:r>
            <a:r>
              <a:rPr lang="en-US" dirty="0"/>
              <a:t>)</a:t>
            </a:r>
            <a:r>
              <a:rPr dirty="0"/>
              <a:t> + </a:t>
            </a:r>
            <a:r>
              <a:rPr dirty="0" err="1"/>
              <a:t>pair_repr</a:t>
            </a:r>
            <a:r>
              <a:rPr lang="en-US" dirty="0"/>
              <a:t>(</a:t>
            </a:r>
            <a:r>
              <a:rPr dirty="0" err="1"/>
              <a:t>위치</a:t>
            </a:r>
            <a:r>
              <a:rPr dirty="0"/>
              <a:t> 쌍 </a:t>
            </a:r>
            <a:r>
              <a:rPr dirty="0" err="1"/>
              <a:t>거리</a:t>
            </a:r>
            <a:r>
              <a:rPr dirty="0"/>
              <a:t> </a:t>
            </a:r>
            <a:r>
              <a:rPr dirty="0" err="1"/>
              <a:t>정보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4080B6-6D7F-1DD7-16FE-223EB4E5ED9F}"/>
              </a:ext>
            </a:extLst>
          </p:cNvPr>
          <p:cNvSpPr txBox="1"/>
          <p:nvPr/>
        </p:nvSpPr>
        <p:spPr>
          <a:xfrm>
            <a:off x="1590907" y="3094538"/>
            <a:ext cx="7680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>
                <a:solidFill>
                  <a:srgbClr val="323232"/>
                </a:solidFill>
              </a:defRPr>
            </a:pPr>
            <a:r>
              <a:rPr dirty="0"/>
              <a:t>MSA (Multiple Sequence Alignment)</a:t>
            </a:r>
            <a:r>
              <a:rPr lang="en-US" dirty="0"/>
              <a:t>: </a:t>
            </a:r>
            <a:r>
              <a:rPr lang="ko-KR" altLang="en-US" dirty="0"/>
              <a:t>표적 단백질 서열</a:t>
            </a:r>
            <a:r>
              <a:rPr lang="en-US" altLang="ko-KR" dirty="0"/>
              <a:t> </a:t>
            </a:r>
            <a:r>
              <a:rPr lang="ko-KR" altLang="en-US" dirty="0"/>
              <a:t>및 이와 유사한 서열을 나열한 행렬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34D7A9-D46E-19D9-3DB7-FADAE66BDE43}"/>
              </a:ext>
            </a:extLst>
          </p:cNvPr>
          <p:cNvSpPr txBox="1"/>
          <p:nvPr/>
        </p:nvSpPr>
        <p:spPr>
          <a:xfrm>
            <a:off x="1590907" y="3475432"/>
            <a:ext cx="7680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>
                <a:solidFill>
                  <a:srgbClr val="323232"/>
                </a:solidFill>
              </a:defRPr>
            </a:pPr>
            <a:r>
              <a:rPr dirty="0"/>
              <a:t>Row Attn</a:t>
            </a:r>
            <a:r>
              <a:rPr lang="en-US" dirty="0"/>
              <a:t> </a:t>
            </a:r>
            <a:r>
              <a:rPr dirty="0"/>
              <a:t>:</a:t>
            </a:r>
            <a:r>
              <a:rPr lang="en-US" dirty="0"/>
              <a:t> </a:t>
            </a:r>
            <a:r>
              <a:rPr lang="ko-KR" altLang="en-US" dirty="0"/>
              <a:t>단백질 서열 내에서 아미노산끼리 어떤 관계가 있는지 파악</a:t>
            </a:r>
            <a:endParaRPr lang="en-US" dirty="0"/>
          </a:p>
          <a:p>
            <a:pPr lvl="1">
              <a:defRPr sz="1400">
                <a:solidFill>
                  <a:srgbClr val="323232"/>
                </a:solidFill>
              </a:defRPr>
            </a:pPr>
            <a:r>
              <a:rPr dirty="0"/>
              <a:t>Col Attn</a:t>
            </a:r>
            <a:r>
              <a:rPr lang="en-US" dirty="0"/>
              <a:t> </a:t>
            </a:r>
            <a:r>
              <a:rPr dirty="0"/>
              <a:t>:</a:t>
            </a:r>
            <a:r>
              <a:rPr lang="en-US" dirty="0"/>
              <a:t> </a:t>
            </a:r>
            <a:r>
              <a:rPr lang="ko-KR" altLang="en-US" dirty="0"/>
              <a:t>다른 단백질 서열들 간 같은 위치를 세로로 비교하여 진화적 관계 추출</a:t>
            </a:r>
            <a:endParaRPr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6BCB957-246E-BEFF-597D-EC88CC030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252" y="858292"/>
            <a:ext cx="7835943" cy="21109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5E168D-6B7A-BC94-D5E2-9ABB395016DE}"/>
              </a:ext>
            </a:extLst>
          </p:cNvPr>
          <p:cNvSpPr txBox="1"/>
          <p:nvPr/>
        </p:nvSpPr>
        <p:spPr>
          <a:xfrm>
            <a:off x="1593350" y="4221071"/>
            <a:ext cx="7680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>
                <a:solidFill>
                  <a:srgbClr val="323232"/>
                </a:solidFill>
              </a:defRPr>
            </a:pPr>
            <a:r>
              <a:rPr lang="en-US" altLang="ko-KR" dirty="0"/>
              <a:t>Pair </a:t>
            </a:r>
            <a:r>
              <a:rPr lang="en-US" altLang="ko-KR" dirty="0" err="1"/>
              <a:t>repr</a:t>
            </a:r>
            <a:r>
              <a:rPr lang="en-US" altLang="ko-KR" dirty="0"/>
              <a:t> : </a:t>
            </a:r>
            <a:r>
              <a:rPr lang="ko-KR" altLang="en-US" dirty="0"/>
              <a:t>한 단백질 서열 내 모든 아미노산 쌍 관계 파악</a:t>
            </a:r>
            <a:r>
              <a:rPr lang="en-US" altLang="ko-KR" dirty="0"/>
              <a:t>, </a:t>
            </a:r>
            <a:r>
              <a:rPr lang="ko-KR" altLang="en-US" dirty="0"/>
              <a:t>삼각 부등식 규칙으로 </a:t>
            </a:r>
            <a:r>
              <a:rPr lang="en-US" altLang="ko-KR" dirty="0"/>
              <a:t>3</a:t>
            </a:r>
            <a:r>
              <a:rPr lang="ko-KR" altLang="en-US" dirty="0"/>
              <a:t>차원 정보 학습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B5CE225E-848F-669F-A61E-DC0C2278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AAF4CD30-28DE-621B-9168-99584A55A99A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744A7D54-46C4-2AD3-A2F2-DA9541EC22C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A4CD36FB-41EF-665F-BF48-75E91CCD0A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F625AACB-CCAF-7511-B192-C594D1F0F0E2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모델</a:t>
            </a:r>
            <a:r>
              <a:rPr lang="en-US" altLang="ko-KR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 </a:t>
            </a: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구조 </a:t>
            </a:r>
            <a:r>
              <a:rPr lang="en-US" altLang="ko-KR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: </a:t>
            </a:r>
            <a:r>
              <a:rPr lang="en-US" altLang="ko-KR" sz="2000" dirty="0" err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ChemBERTa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025AC8-4D9A-78CF-9F33-7D3F44D9A02F}"/>
              </a:ext>
            </a:extLst>
          </p:cNvPr>
          <p:cNvSpPr txBox="1"/>
          <p:nvPr/>
        </p:nvSpPr>
        <p:spPr>
          <a:xfrm>
            <a:off x="1590907" y="3564730"/>
            <a:ext cx="65469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왜 </a:t>
            </a:r>
            <a:r>
              <a:rPr lang="en-US" altLang="ko-KR" dirty="0" err="1"/>
              <a:t>chemberta</a:t>
            </a:r>
            <a:r>
              <a:rPr lang="ko-KR" altLang="en-US" dirty="0"/>
              <a:t> 선택</a:t>
            </a:r>
            <a:r>
              <a:rPr lang="en-US" altLang="ko-KR" dirty="0"/>
              <a:t>? </a:t>
            </a:r>
          </a:p>
          <a:p>
            <a:r>
              <a:rPr lang="ko-KR" altLang="en-US" dirty="0"/>
              <a:t>경량</a:t>
            </a:r>
            <a:r>
              <a:rPr lang="en-US" altLang="ko-KR" dirty="0"/>
              <a:t>~</a:t>
            </a:r>
            <a:r>
              <a:rPr lang="ko-KR" altLang="en-US" dirty="0"/>
              <a:t>중형 모델로 가볍지만 약물 화학적 구조 정보 가짐</a:t>
            </a:r>
            <a:r>
              <a:rPr lang="en-US" altLang="ko-KR" dirty="0"/>
              <a:t>, Transformer(Attention) </a:t>
            </a:r>
            <a:r>
              <a:rPr lang="ko-KR" altLang="en-US" dirty="0"/>
              <a:t>기반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4A9072-575B-D9CE-1C86-736D67DF59DF}"/>
              </a:ext>
            </a:extLst>
          </p:cNvPr>
          <p:cNvSpPr txBox="1"/>
          <p:nvPr/>
        </p:nvSpPr>
        <p:spPr>
          <a:xfrm>
            <a:off x="1590907" y="1055550"/>
            <a:ext cx="7225055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입력</a:t>
            </a:r>
            <a:r>
              <a:rPr lang="en-US" altLang="ko-KR" dirty="0"/>
              <a:t>(SMILES) : </a:t>
            </a:r>
            <a:r>
              <a:rPr lang="ko-KR" altLang="en-US" dirty="0"/>
              <a:t>화학 분자 </a:t>
            </a:r>
            <a:r>
              <a:rPr lang="en-US" altLang="ko-KR" dirty="0"/>
              <a:t>2D </a:t>
            </a:r>
            <a:r>
              <a:rPr lang="ko-KR" altLang="en-US" dirty="0"/>
              <a:t>구조를 텍스트로 표현</a:t>
            </a:r>
            <a:r>
              <a:rPr lang="en-US" altLang="ko-KR" dirty="0"/>
              <a:t>(C,</a:t>
            </a:r>
            <a:r>
              <a:rPr lang="ko-KR" altLang="en-US" dirty="0"/>
              <a:t> </a:t>
            </a:r>
            <a:r>
              <a:rPr lang="en-US" altLang="ko-KR" dirty="0"/>
              <a:t>O</a:t>
            </a:r>
            <a:r>
              <a:rPr lang="ko-KR" altLang="en-US" dirty="0"/>
              <a:t> 등 원소나 </a:t>
            </a:r>
            <a:r>
              <a:rPr lang="en-US" altLang="ko-KR" dirty="0"/>
              <a:t>= </a:t>
            </a:r>
            <a:r>
              <a:rPr lang="ko-KR" altLang="en-US" dirty="0"/>
              <a:t>등 결합기호로 표현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ko-KR" dirty="0"/>
              <a:t>아세톤: CC(=</a:t>
            </a:r>
            <a:r>
              <a:rPr lang="ko-KR" altLang="ko-KR" dirty="0" err="1"/>
              <a:t>O</a:t>
            </a:r>
            <a:r>
              <a:rPr lang="ko-KR" altLang="ko-KR" dirty="0"/>
              <a:t>)C</a:t>
            </a:r>
            <a:r>
              <a:rPr lang="en-US" altLang="ko-KR" dirty="0"/>
              <a:t>, </a:t>
            </a:r>
            <a:r>
              <a:rPr lang="ko-KR" altLang="ko-KR" dirty="0"/>
              <a:t>아스피린: CC(=</a:t>
            </a:r>
            <a:r>
              <a:rPr lang="ko-KR" altLang="ko-KR" dirty="0" err="1"/>
              <a:t>O</a:t>
            </a:r>
            <a:r>
              <a:rPr lang="ko-KR" altLang="ko-KR" dirty="0"/>
              <a:t>)Oc1ccccc1C(=</a:t>
            </a:r>
            <a:r>
              <a:rPr lang="ko-KR" altLang="ko-KR" dirty="0" err="1"/>
              <a:t>O</a:t>
            </a:r>
            <a:r>
              <a:rPr lang="ko-KR" altLang="ko-KR" dirty="0"/>
              <a:t>)</a:t>
            </a:r>
            <a:r>
              <a:rPr lang="ko-KR" altLang="ko-KR" dirty="0" err="1"/>
              <a:t>O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Pre-Training : Masked Language Modeling</a:t>
            </a:r>
            <a:r>
              <a:rPr lang="ko-KR" altLang="en-US" dirty="0"/>
              <a:t>으로 화학적 구조의 규칙을 독학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BERT</a:t>
            </a:r>
            <a:r>
              <a:rPr lang="ko-KR" altLang="en-US" dirty="0"/>
              <a:t>의 </a:t>
            </a:r>
            <a:r>
              <a:rPr lang="en-US" altLang="ko-KR" dirty="0"/>
              <a:t>Self-Attention </a:t>
            </a:r>
            <a:r>
              <a:rPr lang="ko-KR" altLang="en-US" dirty="0"/>
              <a:t>활용하여 어떤 원소들이 구조적으로 연결되어 있는지 파악</a:t>
            </a:r>
            <a:endParaRPr lang="en-US" altLang="ko-KR" dirty="0"/>
          </a:p>
          <a:p>
            <a:r>
              <a:rPr lang="ko-KR" altLang="en-US" dirty="0"/>
              <a:t>화학적으로 유사한 분자들을 </a:t>
            </a:r>
            <a:r>
              <a:rPr lang="ko-KR" altLang="en-US" dirty="0" err="1"/>
              <a:t>임베딩</a:t>
            </a:r>
            <a:r>
              <a:rPr lang="ko-KR" altLang="en-US" dirty="0"/>
              <a:t> 공간에서 가깝게 배치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출력 </a:t>
            </a:r>
            <a:r>
              <a:rPr lang="en-US" altLang="ko-KR" dirty="0"/>
              <a:t>: </a:t>
            </a:r>
            <a:r>
              <a:rPr lang="ko-KR" altLang="en-US" dirty="0"/>
              <a:t>원소들이 어떤 화학적 성질을 가지는지에 대한 특성 </a:t>
            </a:r>
            <a:r>
              <a:rPr lang="ko-KR" altLang="en-US" dirty="0" err="1"/>
              <a:t>임베딩</a:t>
            </a:r>
            <a:r>
              <a:rPr lang="ko-KR" altLang="en-US" dirty="0"/>
              <a:t> 벡터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신약과 어떤 단백질이 잘 결합 </a:t>
            </a:r>
            <a:r>
              <a:rPr lang="en-US" altLang="ko-KR" dirty="0"/>
              <a:t>-&gt; </a:t>
            </a:r>
            <a:r>
              <a:rPr lang="ko-KR" altLang="en-US" dirty="0"/>
              <a:t>유사한 약물들도 잘 결합할 가능성 높음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63300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B24DC7CD-BDE6-BC7E-1431-35F4A398A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3C4CBE12-749C-CDC3-51E5-8FD1095E0E2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A31F5C0D-6894-2785-25DA-FD715B74B7B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50957C56-36A1-D931-1470-DA4A5D31E66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292F6AD7-29A3-4DF3-E3E8-437F567A94FB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모델 구조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3" name="Shape 10">
            <a:extLst>
              <a:ext uri="{FF2B5EF4-FFF2-40B4-BE49-F238E27FC236}">
                <a16:creationId xmlns:a16="http://schemas.microsoft.com/office/drawing/2014/main" id="{02E36514-24BD-4226-D619-6E91818B0F8C}"/>
              </a:ext>
            </a:extLst>
          </p:cNvPr>
          <p:cNvSpPr/>
          <p:nvPr/>
        </p:nvSpPr>
        <p:spPr>
          <a:xfrm>
            <a:off x="2213230" y="2858841"/>
            <a:ext cx="576072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hape 11">
            <a:extLst>
              <a:ext uri="{FF2B5EF4-FFF2-40B4-BE49-F238E27FC236}">
                <a16:creationId xmlns:a16="http://schemas.microsoft.com/office/drawing/2014/main" id="{335443C7-BB49-B99D-47DC-370ABC4924B0}"/>
              </a:ext>
            </a:extLst>
          </p:cNvPr>
          <p:cNvSpPr/>
          <p:nvPr/>
        </p:nvSpPr>
        <p:spPr>
          <a:xfrm>
            <a:off x="2213230" y="2858841"/>
            <a:ext cx="54864" cy="137160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4A8C57EA-E1D0-8A35-AAB0-76916FD133C8}"/>
              </a:ext>
            </a:extLst>
          </p:cNvPr>
          <p:cNvSpPr/>
          <p:nvPr/>
        </p:nvSpPr>
        <p:spPr>
          <a:xfrm>
            <a:off x="2396110" y="2922849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6AF7"/>
                </a:solidFill>
              </a:rPr>
              <a:t>Cross-Attention Fusion</a:t>
            </a:r>
            <a:endParaRPr lang="en-US" sz="1300" dirty="0"/>
          </a:p>
        </p:txBody>
      </p:sp>
      <p:sp>
        <p:nvSpPr>
          <p:cNvPr id="6" name="Text 13">
            <a:extLst>
              <a:ext uri="{FF2B5EF4-FFF2-40B4-BE49-F238E27FC236}">
                <a16:creationId xmlns:a16="http://schemas.microsoft.com/office/drawing/2014/main" id="{C9C2391E-5D2B-B2AE-A775-64BC71E1E10E}"/>
              </a:ext>
            </a:extLst>
          </p:cNvPr>
          <p:cNvSpPr/>
          <p:nvPr/>
        </p:nvSpPr>
        <p:spPr>
          <a:xfrm>
            <a:off x="2396110" y="3288609"/>
            <a:ext cx="5394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EC8"/>
                </a:solidFill>
              </a:rPr>
              <a:t>단백질 잔기(Query) ↔ 화합물 원자(Key/Value)  ·  2 layers, bidirectional </a:t>
            </a:r>
            <a:r>
              <a:rPr lang="ko-KR" altLang="en-US" sz="1100" dirty="0">
                <a:solidFill>
                  <a:srgbClr val="8FAEC8"/>
                </a:solidFill>
              </a:rPr>
              <a:t>로 깊은 학습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EC8"/>
                </a:solidFill>
              </a:rPr>
              <a:t>어떤 잔기가 어떤 원자와 상호작용하는지 </a:t>
            </a:r>
            <a:r>
              <a:rPr lang="en-US" sz="1100" dirty="0" err="1">
                <a:solidFill>
                  <a:srgbClr val="8FAEC8"/>
                </a:solidFill>
              </a:rPr>
              <a:t>명시적으로</a:t>
            </a:r>
            <a:r>
              <a:rPr lang="en-US" sz="1100" dirty="0">
                <a:solidFill>
                  <a:srgbClr val="8FAEC8"/>
                </a:solidFill>
              </a:rPr>
              <a:t> </a:t>
            </a:r>
            <a:r>
              <a:rPr lang="en-US" sz="1100" dirty="0" err="1">
                <a:solidFill>
                  <a:srgbClr val="8FAEC8"/>
                </a:solidFill>
              </a:rPr>
              <a:t>학습</a:t>
            </a:r>
            <a:endParaRPr lang="en-US" sz="1100" dirty="0">
              <a:solidFill>
                <a:srgbClr val="8FAEC8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8FAEC8"/>
                </a:solidFill>
              </a:rPr>
              <a:t> → fused [B, 256] </a:t>
            </a:r>
            <a:r>
              <a:rPr lang="ko-KR" altLang="en-US" sz="1100" dirty="0">
                <a:solidFill>
                  <a:srgbClr val="8FAEC8"/>
                </a:solidFill>
              </a:rPr>
              <a:t>상호작용 특성 벡터</a:t>
            </a:r>
            <a:r>
              <a:rPr lang="en-US" altLang="ko-KR" sz="1100" dirty="0">
                <a:solidFill>
                  <a:srgbClr val="8FAEC8"/>
                </a:solidFill>
              </a:rPr>
              <a:t>, </a:t>
            </a:r>
            <a:r>
              <a:rPr lang="en-US" sz="1100" dirty="0">
                <a:solidFill>
                  <a:srgbClr val="8FAEC8"/>
                </a:solidFill>
              </a:rPr>
              <a:t>MLP</a:t>
            </a:r>
            <a:r>
              <a:rPr lang="ko-KR" altLang="en-US" sz="1100" dirty="0">
                <a:solidFill>
                  <a:srgbClr val="8FAEC8"/>
                </a:solidFill>
              </a:rPr>
              <a:t>를 거쳐 결합 친화도 출력</a:t>
            </a:r>
            <a:endParaRPr lang="en-US" sz="11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4B20F0E0-A78F-9BB4-6EF3-DB78031623F7}"/>
              </a:ext>
            </a:extLst>
          </p:cNvPr>
          <p:cNvSpPr/>
          <p:nvPr/>
        </p:nvSpPr>
        <p:spPr>
          <a:xfrm>
            <a:off x="1451797" y="1365860"/>
            <a:ext cx="3554807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35811E90-9DB2-A5A6-CCE7-835DA2AE1935}"/>
              </a:ext>
            </a:extLst>
          </p:cNvPr>
          <p:cNvSpPr/>
          <p:nvPr/>
        </p:nvSpPr>
        <p:spPr>
          <a:xfrm>
            <a:off x="1451797" y="1365860"/>
            <a:ext cx="53072" cy="137160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95B314C7-FDC7-5AF4-239D-7430A9331C0C}"/>
              </a:ext>
            </a:extLst>
          </p:cNvPr>
          <p:cNvSpPr/>
          <p:nvPr/>
        </p:nvSpPr>
        <p:spPr>
          <a:xfrm>
            <a:off x="1634677" y="1429868"/>
            <a:ext cx="332910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7C6AF7"/>
                </a:solidFill>
              </a:rPr>
              <a:t>Evoformer</a:t>
            </a:r>
            <a:endParaRPr lang="en-US" sz="1300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43D32974-DD14-C290-BFFE-1B4C2C2D384C}"/>
              </a:ext>
            </a:extLst>
          </p:cNvPr>
          <p:cNvSpPr/>
          <p:nvPr/>
        </p:nvSpPr>
        <p:spPr>
          <a:xfrm>
            <a:off x="1634677" y="1795628"/>
            <a:ext cx="332910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8FAEC8"/>
                </a:solidFill>
              </a:rPr>
              <a:t>단백질 서열 및 </a:t>
            </a:r>
            <a:r>
              <a:rPr lang="en-US" altLang="ko-KR" sz="1100" dirty="0">
                <a:solidFill>
                  <a:srgbClr val="8FAEC8"/>
                </a:solidFill>
              </a:rPr>
              <a:t>MSA </a:t>
            </a:r>
            <a:r>
              <a:rPr lang="ko-KR" altLang="en-US" sz="1100" dirty="0">
                <a:solidFill>
                  <a:srgbClr val="8FAEC8"/>
                </a:solidFill>
              </a:rPr>
              <a:t>기반 </a:t>
            </a:r>
            <a:r>
              <a:rPr lang="en-US" altLang="ko-KR" sz="1100" dirty="0">
                <a:solidFill>
                  <a:srgbClr val="8FAEC8"/>
                </a:solidFill>
              </a:rPr>
              <a:t>3D </a:t>
            </a:r>
            <a:r>
              <a:rPr lang="ko-KR" altLang="en-US" sz="1100" dirty="0">
                <a:solidFill>
                  <a:srgbClr val="8FAEC8"/>
                </a:solidFill>
              </a:rPr>
              <a:t>입체 구조 특징 추출</a:t>
            </a:r>
            <a:endParaRPr lang="en-US" altLang="ko-KR" sz="1100" dirty="0">
              <a:solidFill>
                <a:srgbClr val="8FAEC8"/>
              </a:solidFill>
            </a:endParaRPr>
          </a:p>
          <a:p>
            <a:pPr marL="0" indent="0">
              <a:buNone/>
            </a:pPr>
            <a:r>
              <a:rPr lang="ko-KR" altLang="en-US" sz="1100" dirty="0">
                <a:solidFill>
                  <a:srgbClr val="8FAEC8"/>
                </a:solidFill>
              </a:rPr>
              <a:t>아미노산 쌍 위치 기하학 정보 인코딩</a:t>
            </a:r>
            <a:endParaRPr lang="en-US" altLang="ko-KR" sz="1100" dirty="0">
              <a:solidFill>
                <a:srgbClr val="8FAEC8"/>
              </a:solidFill>
            </a:endParaRPr>
          </a:p>
          <a:p>
            <a:pPr marL="0" indent="0">
              <a:buNone/>
            </a:pPr>
            <a:r>
              <a:rPr lang="ko-KR" altLang="en-US" sz="1100" dirty="0">
                <a:solidFill>
                  <a:srgbClr val="8FAEC8"/>
                </a:solidFill>
              </a:rPr>
              <a:t>아미노산 단위 </a:t>
            </a:r>
            <a:r>
              <a:rPr lang="ko-KR" altLang="en-US" sz="1100" dirty="0" err="1">
                <a:solidFill>
                  <a:srgbClr val="8FAEC8"/>
                </a:solidFill>
              </a:rPr>
              <a:t>풀링</a:t>
            </a:r>
            <a:r>
              <a:rPr lang="ko-KR" altLang="en-US" sz="1100" dirty="0">
                <a:solidFill>
                  <a:srgbClr val="8FAEC8"/>
                </a:solidFill>
              </a:rPr>
              <a:t> 및 선형 변환 </a:t>
            </a:r>
            <a:r>
              <a:rPr lang="en-US" sz="1100" dirty="0">
                <a:solidFill>
                  <a:srgbClr val="8FAEC8"/>
                </a:solidFill>
              </a:rPr>
              <a:t>→ [B, L, 256]</a:t>
            </a:r>
            <a:endParaRPr lang="en-US" sz="110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2DB7BEDA-B681-1FE3-E5C2-67A40F5EA9C9}"/>
              </a:ext>
            </a:extLst>
          </p:cNvPr>
          <p:cNvSpPr/>
          <p:nvPr/>
        </p:nvSpPr>
        <p:spPr>
          <a:xfrm>
            <a:off x="5093590" y="1365860"/>
            <a:ext cx="3554807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D0C1826C-F463-455F-8314-51CC3239F51D}"/>
              </a:ext>
            </a:extLst>
          </p:cNvPr>
          <p:cNvSpPr/>
          <p:nvPr/>
        </p:nvSpPr>
        <p:spPr>
          <a:xfrm>
            <a:off x="5093590" y="1365860"/>
            <a:ext cx="53072" cy="137160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BA90D1C9-750D-2FA9-1F61-AE39EF92DFF0}"/>
              </a:ext>
            </a:extLst>
          </p:cNvPr>
          <p:cNvSpPr/>
          <p:nvPr/>
        </p:nvSpPr>
        <p:spPr>
          <a:xfrm>
            <a:off x="5276470" y="1429868"/>
            <a:ext cx="332910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7C6AF7"/>
                </a:solidFill>
              </a:rPr>
              <a:t>ChemBERTa</a:t>
            </a:r>
            <a:endParaRPr lang="en-US" sz="13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A1D42ACB-4F6E-6346-C702-27FD9D0DBCCD}"/>
              </a:ext>
            </a:extLst>
          </p:cNvPr>
          <p:cNvSpPr/>
          <p:nvPr/>
        </p:nvSpPr>
        <p:spPr>
          <a:xfrm>
            <a:off x="5276470" y="1795628"/>
            <a:ext cx="332910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EC8"/>
                </a:solidFill>
              </a:rPr>
              <a:t>1D SMILES </a:t>
            </a:r>
            <a:r>
              <a:rPr lang="ko-KR" altLang="en-US" sz="1100" dirty="0">
                <a:solidFill>
                  <a:srgbClr val="8FAEC8"/>
                </a:solidFill>
              </a:rPr>
              <a:t>문자열 기반 대규모 화학 언어 모델 처리</a:t>
            </a:r>
            <a:endParaRPr lang="en-US" sz="11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8FAEC8"/>
                </a:solidFill>
              </a:rPr>
              <a:t>주변 원소 간 관계 분석을 통한 화학적 문맥 </a:t>
            </a:r>
            <a:r>
              <a:rPr lang="ko-KR" altLang="en-US" sz="1100" dirty="0" err="1">
                <a:solidFill>
                  <a:srgbClr val="8FAEC8"/>
                </a:solidFill>
              </a:rPr>
              <a:t>임베딩</a:t>
            </a:r>
            <a:r>
              <a:rPr lang="en-US" sz="1100" dirty="0">
                <a:solidFill>
                  <a:srgbClr val="8FAEC8"/>
                </a:solidFill>
              </a:rPr>
              <a:t> </a:t>
            </a:r>
          </a:p>
          <a:p>
            <a:pPr marL="0" indent="0">
              <a:buNone/>
            </a:pPr>
            <a:r>
              <a:rPr lang="ko-KR" altLang="en-US" sz="1100" dirty="0">
                <a:solidFill>
                  <a:srgbClr val="8FAEC8"/>
                </a:solidFill>
              </a:rPr>
              <a:t>선형</a:t>
            </a:r>
            <a:r>
              <a:rPr lang="en-US" sz="1100" dirty="0">
                <a:solidFill>
                  <a:srgbClr val="8FAEC8"/>
                </a:solidFill>
              </a:rPr>
              <a:t> </a:t>
            </a:r>
            <a:r>
              <a:rPr lang="ko-KR" altLang="en-US" sz="1100" dirty="0">
                <a:solidFill>
                  <a:srgbClr val="8FAEC8"/>
                </a:solidFill>
              </a:rPr>
              <a:t>변환을 통한 차원 일치 </a:t>
            </a:r>
            <a:r>
              <a:rPr lang="en-US" sz="1100" dirty="0">
                <a:solidFill>
                  <a:srgbClr val="8FAEC8"/>
                </a:solidFill>
              </a:rPr>
              <a:t>→ [B, S, 256]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0480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0ACEFAE8-7895-C92A-B31A-2DD17FD5C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808E6BAB-D544-4EC5-436B-77DFF09A6C15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05DB9B9B-6871-00D0-C5F2-049450369CF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6568678E-52FD-0C09-AC4B-ECF90C9BC1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E8C3102F-D785-A225-9D23-2756C2783183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실험 계획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99ABC-1BB5-1BDF-6762-8F159E397637}"/>
              </a:ext>
            </a:extLst>
          </p:cNvPr>
          <p:cNvSpPr txBox="1"/>
          <p:nvPr/>
        </p:nvSpPr>
        <p:spPr>
          <a:xfrm>
            <a:off x="1408975" y="845454"/>
            <a:ext cx="591386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>
                <a:solidFill>
                  <a:srgbClr val="323232"/>
                </a:solidFill>
              </a:defRPr>
            </a:pPr>
            <a:r>
              <a:rPr lang="ko-KR" altLang="en-US" dirty="0"/>
              <a:t>데이터셋 </a:t>
            </a:r>
            <a:r>
              <a:rPr lang="en-US" altLang="ko-KR" dirty="0"/>
              <a:t>: </a:t>
            </a:r>
            <a:r>
              <a:rPr lang="en-US" altLang="ko-KR" dirty="0" err="1"/>
              <a:t>BindingDB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100</a:t>
            </a:r>
            <a:r>
              <a:rPr lang="ko-KR" altLang="en-US" dirty="0"/>
              <a:t>만 개 약물</a:t>
            </a:r>
            <a:r>
              <a:rPr lang="en-US" altLang="ko-KR" dirty="0"/>
              <a:t>-</a:t>
            </a:r>
            <a:r>
              <a:rPr lang="ko-KR" altLang="en-US" dirty="0"/>
              <a:t>단백질 쌍</a:t>
            </a:r>
            <a:r>
              <a:rPr lang="en-US" altLang="ko-KR" dirty="0"/>
              <a:t>)</a:t>
            </a:r>
          </a:p>
          <a:p>
            <a:pPr lvl="1">
              <a:defRPr sz="1400">
                <a:solidFill>
                  <a:srgbClr val="323232"/>
                </a:solidFill>
              </a:defRPr>
            </a:pPr>
            <a:endParaRPr lang="en-US" altLang="ko-KR" dirty="0"/>
          </a:p>
          <a:p>
            <a:pPr lvl="1">
              <a:defRPr sz="1400">
                <a:solidFill>
                  <a:srgbClr val="323232"/>
                </a:solidFill>
              </a:defRPr>
            </a:pPr>
            <a:r>
              <a:rPr lang="ko-KR" altLang="en-US" dirty="0"/>
              <a:t>라벨 </a:t>
            </a:r>
            <a:r>
              <a:rPr lang="en-US" altLang="ko-KR" dirty="0"/>
              <a:t>: pIC50(</a:t>
            </a:r>
            <a:r>
              <a:rPr lang="ko-KR" altLang="en-US" dirty="0"/>
              <a:t>결합 강도 </a:t>
            </a:r>
            <a:r>
              <a:rPr lang="ko-KR" altLang="en-US" dirty="0" err="1"/>
              <a:t>로그값</a:t>
            </a:r>
            <a:r>
              <a:rPr lang="en-US" altLang="ko-KR" dirty="0"/>
              <a:t>, </a:t>
            </a:r>
            <a:r>
              <a:rPr lang="ko-KR" altLang="en-US" dirty="0"/>
              <a:t>높을수록 약효 좋음</a:t>
            </a:r>
            <a:r>
              <a:rPr lang="en-US" altLang="ko-KR" dirty="0"/>
              <a:t>)</a:t>
            </a:r>
          </a:p>
          <a:p>
            <a:pPr lvl="1">
              <a:defRPr sz="1400">
                <a:solidFill>
                  <a:srgbClr val="323232"/>
                </a:solidFill>
              </a:defRPr>
            </a:pPr>
            <a:endParaRPr lang="en-US" altLang="ko-KR" dirty="0"/>
          </a:p>
          <a:p>
            <a:pPr lvl="1">
              <a:defRPr sz="1400">
                <a:solidFill>
                  <a:srgbClr val="323232"/>
                </a:solidFill>
              </a:defRPr>
            </a:pPr>
            <a:r>
              <a:rPr lang="ko-KR" altLang="ko-KR" dirty="0" err="1"/>
              <a:t>Train</a:t>
            </a:r>
            <a:r>
              <a:rPr lang="ko-KR" altLang="ko-KR" dirty="0"/>
              <a:t> : </a:t>
            </a:r>
            <a:r>
              <a:rPr lang="ko-KR" altLang="ko-KR" dirty="0" err="1"/>
              <a:t>Val</a:t>
            </a:r>
            <a:r>
              <a:rPr lang="ko-KR" altLang="ko-KR" dirty="0"/>
              <a:t> : </a:t>
            </a:r>
            <a:r>
              <a:rPr lang="ko-KR" altLang="ko-KR" dirty="0" err="1"/>
              <a:t>Test</a:t>
            </a:r>
            <a:r>
              <a:rPr lang="ko-KR" altLang="ko-KR" dirty="0"/>
              <a:t> = 8 : 1 : 1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8C0A7-5EA9-10B7-DB9C-BCA8698C87E6}"/>
              </a:ext>
            </a:extLst>
          </p:cNvPr>
          <p:cNvSpPr txBox="1"/>
          <p:nvPr/>
        </p:nvSpPr>
        <p:spPr>
          <a:xfrm>
            <a:off x="1408975" y="2553584"/>
            <a:ext cx="621102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>
                <a:solidFill>
                  <a:srgbClr val="323232"/>
                </a:solidFill>
              </a:defRPr>
            </a:pPr>
            <a:r>
              <a:rPr lang="en-US" altLang="ko-KR" dirty="0"/>
              <a:t>3</a:t>
            </a:r>
            <a:r>
              <a:rPr lang="ko-KR" altLang="en-US" dirty="0"/>
              <a:t>단계 학습 전략</a:t>
            </a:r>
            <a:endParaRPr lang="en-US" altLang="ko-KR" dirty="0"/>
          </a:p>
          <a:p>
            <a:pPr lvl="1">
              <a:defRPr sz="1400">
                <a:solidFill>
                  <a:srgbClr val="323232"/>
                </a:solidFill>
              </a:defRPr>
            </a:pPr>
            <a:endParaRPr lang="en-US" altLang="ko-KR" dirty="0"/>
          </a:p>
          <a:p>
            <a:pPr lvl="1">
              <a:defRPr sz="1400">
                <a:solidFill>
                  <a:srgbClr val="323232"/>
                </a:solidFill>
              </a:defRPr>
            </a:pPr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- </a:t>
            </a:r>
            <a:r>
              <a:rPr lang="ko-KR" altLang="ko-KR" dirty="0" err="1"/>
              <a:t>Evoformer가</a:t>
            </a:r>
            <a:r>
              <a:rPr lang="ko-KR" altLang="ko-KR" dirty="0"/>
              <a:t> 단백질의 3D 입체 형태를</a:t>
            </a:r>
            <a:r>
              <a:rPr lang="en-US" altLang="ko-KR" dirty="0"/>
              <a:t> </a:t>
            </a:r>
            <a:r>
              <a:rPr lang="ko-KR" altLang="en-US" dirty="0"/>
              <a:t>학습하</a:t>
            </a:r>
            <a:r>
              <a:rPr lang="ko-KR" altLang="ko-KR" dirty="0"/>
              <a:t>는 단계</a:t>
            </a:r>
            <a:endParaRPr lang="en-US" altLang="ko-KR" dirty="0"/>
          </a:p>
          <a:p>
            <a:pPr lvl="1">
              <a:defRPr sz="1400">
                <a:solidFill>
                  <a:srgbClr val="323232"/>
                </a:solidFill>
              </a:defRPr>
            </a:pPr>
            <a:endParaRPr lang="en-US" altLang="ko-KR" dirty="0"/>
          </a:p>
          <a:p>
            <a:pPr lvl="1">
              <a:defRPr sz="1400">
                <a:solidFill>
                  <a:srgbClr val="323232"/>
                </a:solidFill>
              </a:defRPr>
            </a:pPr>
            <a:r>
              <a:rPr lang="ko-KR" altLang="ko-KR" dirty="0" err="1"/>
              <a:t>ChemBERTa</a:t>
            </a:r>
            <a:r>
              <a:rPr lang="ko-KR" altLang="en-US" dirty="0" err="1"/>
              <a:t>는</a:t>
            </a:r>
            <a:r>
              <a:rPr lang="ko-KR" altLang="en-US" dirty="0"/>
              <a:t> </a:t>
            </a:r>
            <a:r>
              <a:rPr lang="en-US" altLang="ko-KR" dirty="0"/>
              <a:t>freeze</a:t>
            </a:r>
            <a:r>
              <a:rPr lang="ko-KR" altLang="ko-KR" dirty="0"/>
              <a:t>, 단백질 내부 잔기들이 8</a:t>
            </a:r>
            <a:r>
              <a:rPr lang="en-US" altLang="ko-KR" dirty="0"/>
              <a:t>A</a:t>
            </a:r>
            <a:r>
              <a:rPr lang="ko-KR" altLang="ko-KR" dirty="0"/>
              <a:t> 이내로 접히는 </a:t>
            </a:r>
            <a:r>
              <a:rPr lang="ko-KR" altLang="ko-KR" dirty="0" err="1"/>
              <a:t>Contact</a:t>
            </a:r>
            <a:r>
              <a:rPr lang="ko-KR" altLang="ko-KR" dirty="0"/>
              <a:t> </a:t>
            </a:r>
            <a:r>
              <a:rPr lang="ko-KR" altLang="ko-KR" dirty="0" err="1"/>
              <a:t>Map을</a:t>
            </a:r>
            <a:r>
              <a:rPr lang="ko-KR" altLang="ko-KR" dirty="0"/>
              <a:t> 예측하는 BCE 손실을 통해 </a:t>
            </a:r>
            <a:r>
              <a:rPr lang="ko-KR" altLang="en-US" dirty="0"/>
              <a:t>기하학적 형태와 구조 학습</a:t>
            </a:r>
            <a:endParaRPr lang="en-US" altLang="ko-KR" dirty="0"/>
          </a:p>
          <a:p>
            <a:pPr lvl="1">
              <a:defRPr sz="1400">
                <a:solidFill>
                  <a:srgbClr val="323232"/>
                </a:solidFill>
              </a:defRPr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0164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DD421C46-4B2C-063E-CD44-AFBD6382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1666D7E2-FE23-8F5A-9AA6-C89DFCD8FBB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5DFF2EC6-5847-B7F7-64AD-D91ECF4BD40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DA4D7AAA-DEC1-AB7C-5353-5A9BF36AB3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2;p16">
            <a:extLst>
              <a:ext uri="{FF2B5EF4-FFF2-40B4-BE49-F238E27FC236}">
                <a16:creationId xmlns:a16="http://schemas.microsoft.com/office/drawing/2014/main" id="{2E536F79-FBF3-6DF8-D45C-6C3E7AB9BABC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실험 계획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BD78DA-30D0-5BAF-3604-2931024A99F4}"/>
              </a:ext>
            </a:extLst>
          </p:cNvPr>
          <p:cNvSpPr txBox="1"/>
          <p:nvPr/>
        </p:nvSpPr>
        <p:spPr>
          <a:xfrm>
            <a:off x="1408975" y="845454"/>
            <a:ext cx="609951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>
                <a:solidFill>
                  <a:srgbClr val="323232"/>
                </a:solidFill>
              </a:defRPr>
            </a:pPr>
            <a:r>
              <a:rPr lang="en-US" altLang="ko-KR" dirty="0"/>
              <a:t>3</a:t>
            </a:r>
            <a:r>
              <a:rPr lang="ko-KR" altLang="en-US" dirty="0"/>
              <a:t>단계 학습 전략</a:t>
            </a:r>
            <a:endParaRPr lang="en-US" altLang="ko-KR" dirty="0"/>
          </a:p>
          <a:p>
            <a:pPr lvl="1">
              <a:defRPr sz="1400">
                <a:solidFill>
                  <a:srgbClr val="323232"/>
                </a:solidFill>
              </a:defRPr>
            </a:pPr>
            <a:endParaRPr lang="en-US" altLang="ko-KR" dirty="0"/>
          </a:p>
          <a:p>
            <a:pPr lvl="1">
              <a:defRPr sz="1400">
                <a:solidFill>
                  <a:srgbClr val="323232"/>
                </a:solidFill>
              </a:defRPr>
            </a:pPr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en-US" altLang="ko-KR" dirty="0"/>
              <a:t>- </a:t>
            </a:r>
            <a:r>
              <a:rPr lang="ko-KR" altLang="ko-KR" dirty="0"/>
              <a:t>학습된 구조 정보를 활용하는 단계</a:t>
            </a:r>
            <a:endParaRPr lang="en-US" altLang="ko-KR" dirty="0"/>
          </a:p>
          <a:p>
            <a:pPr lvl="1">
              <a:defRPr sz="1400">
                <a:solidFill>
                  <a:srgbClr val="323232"/>
                </a:solidFill>
              </a:defRPr>
            </a:pPr>
            <a:endParaRPr lang="en-US" altLang="ko-KR" dirty="0"/>
          </a:p>
          <a:p>
            <a:pPr lvl="1">
              <a:defRPr sz="1400">
                <a:solidFill>
                  <a:srgbClr val="323232"/>
                </a:solidFill>
              </a:defRPr>
            </a:pPr>
            <a:r>
              <a:rPr lang="ko-KR" altLang="ko-KR" dirty="0"/>
              <a:t>이미 구조를 마스터한 </a:t>
            </a:r>
            <a:r>
              <a:rPr lang="ko-KR" altLang="ko-KR" dirty="0" err="1"/>
              <a:t>Evoformer를</a:t>
            </a:r>
            <a:r>
              <a:rPr lang="ko-KR" altLang="ko-KR" dirty="0"/>
              <a:t> </a:t>
            </a:r>
            <a:r>
              <a:rPr lang="en-US" altLang="ko-KR" dirty="0"/>
              <a:t>freeze, </a:t>
            </a:r>
            <a:r>
              <a:rPr lang="ko-KR" altLang="ko-KR" dirty="0" err="1"/>
              <a:t>Cross-Attention과</a:t>
            </a:r>
            <a:r>
              <a:rPr lang="ko-KR" altLang="ko-KR" dirty="0"/>
              <a:t> 예측 헤드만 활성화하여 </a:t>
            </a:r>
            <a:r>
              <a:rPr lang="ko-KR" altLang="en-US" dirty="0"/>
              <a:t>서로 다른 두 </a:t>
            </a:r>
            <a:r>
              <a:rPr lang="ko-KR" altLang="ko-KR" dirty="0"/>
              <a:t>데이터</a:t>
            </a:r>
            <a:r>
              <a:rPr lang="en-US" altLang="ko-KR" dirty="0"/>
              <a:t>(3D</a:t>
            </a:r>
            <a:r>
              <a:rPr lang="ko-KR" altLang="en-US" dirty="0"/>
              <a:t> 단백질 데이터</a:t>
            </a:r>
            <a:r>
              <a:rPr lang="en-US" altLang="ko-KR" dirty="0"/>
              <a:t>, 1D </a:t>
            </a:r>
            <a:r>
              <a:rPr lang="ko-KR" altLang="en-US" dirty="0"/>
              <a:t>화학 성질 데이터</a:t>
            </a:r>
            <a:r>
              <a:rPr lang="en-US" altLang="ko-KR" dirty="0"/>
              <a:t>) </a:t>
            </a:r>
            <a:r>
              <a:rPr lang="ko-KR" altLang="ko-KR" dirty="0"/>
              <a:t>간의 결합 친화도를 매칭하는 최적의 링크를 학습</a:t>
            </a:r>
            <a:endParaRPr lang="en-US" altLang="ko-KR" dirty="0"/>
          </a:p>
          <a:p>
            <a:pPr lvl="1">
              <a:defRPr sz="1400">
                <a:solidFill>
                  <a:srgbClr val="323232"/>
                </a:solidFill>
              </a:defRPr>
            </a:pPr>
            <a:endParaRPr lang="en-US" altLang="ko-KR" dirty="0"/>
          </a:p>
          <a:p>
            <a:pPr lvl="1">
              <a:defRPr sz="1400">
                <a:solidFill>
                  <a:srgbClr val="323232"/>
                </a:solidFill>
              </a:defRPr>
            </a:pPr>
            <a:endParaRPr lang="en-US" altLang="ko-KR" dirty="0"/>
          </a:p>
          <a:p>
            <a:pPr lvl="1">
              <a:defRPr sz="1400">
                <a:solidFill>
                  <a:srgbClr val="323232"/>
                </a:solidFill>
              </a:defRPr>
            </a:pPr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en-US" altLang="ko-KR" dirty="0"/>
              <a:t>- </a:t>
            </a:r>
            <a:r>
              <a:rPr lang="ko-KR" altLang="ko-KR" dirty="0"/>
              <a:t>미세조정 단계</a:t>
            </a:r>
            <a:endParaRPr lang="en-US" altLang="ko-KR" dirty="0"/>
          </a:p>
          <a:p>
            <a:pPr lvl="1">
              <a:defRPr sz="1400">
                <a:solidFill>
                  <a:srgbClr val="323232"/>
                </a:solidFill>
              </a:defRPr>
            </a:pPr>
            <a:endParaRPr lang="en-US" altLang="ko-KR" dirty="0"/>
          </a:p>
          <a:p>
            <a:pPr lvl="1">
              <a:defRPr sz="1400">
                <a:solidFill>
                  <a:srgbClr val="323232"/>
                </a:solidFill>
              </a:defRPr>
            </a:pPr>
            <a:r>
              <a:rPr lang="ko-KR" altLang="ko-KR" dirty="0"/>
              <a:t>아주 낮은 </a:t>
            </a:r>
            <a:r>
              <a:rPr lang="ko-KR" altLang="ko-KR" dirty="0" err="1"/>
              <a:t>학습률로</a:t>
            </a:r>
            <a:r>
              <a:rPr lang="ko-KR" altLang="ko-KR" dirty="0"/>
              <a:t> 모든 </a:t>
            </a:r>
            <a:r>
              <a:rPr lang="en-US" altLang="ko-KR" dirty="0"/>
              <a:t>freeze</a:t>
            </a:r>
            <a:r>
              <a:rPr lang="ko-KR" altLang="en-US" dirty="0"/>
              <a:t>를</a:t>
            </a:r>
            <a:r>
              <a:rPr lang="ko-KR" altLang="ko-KR" dirty="0"/>
              <a:t> 해제하여, 1</a:t>
            </a:r>
            <a:r>
              <a:rPr lang="ko-KR" altLang="en-US" dirty="0"/>
              <a:t>단계</a:t>
            </a:r>
            <a:r>
              <a:rPr lang="ko-KR" altLang="ko-KR" dirty="0"/>
              <a:t>에서 배운 구조 정보(가중치 0.1)를 잃지 않으면서도 최종 결합 친화도(가중치 1.0)를 완벽하게 예측하도록 최종 앙상블을 조율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1075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05C13915-A0B2-5156-2805-2E66B750D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838A721E-DC34-C5BC-200B-0B37DB13698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8B08DD34-F810-3A1B-72F0-CA24878DDBF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E7780935-A02F-D525-E725-4275B08118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2;p16">
            <a:extLst>
              <a:ext uri="{FF2B5EF4-FFF2-40B4-BE49-F238E27FC236}">
                <a16:creationId xmlns:a16="http://schemas.microsoft.com/office/drawing/2014/main" id="{7974F0E7-1A68-41D4-49B2-183CD15FB836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성능 평가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FC5842-989D-87B3-F861-9646BBA6515F}"/>
              </a:ext>
            </a:extLst>
          </p:cNvPr>
          <p:cNvSpPr txBox="1"/>
          <p:nvPr/>
        </p:nvSpPr>
        <p:spPr>
          <a:xfrm>
            <a:off x="1408974" y="845454"/>
            <a:ext cx="73410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신약 개발 AI 모델의 </a:t>
            </a:r>
            <a:r>
              <a:rPr lang="ko-KR" altLang="en-US" dirty="0"/>
              <a:t>결합 친화도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ko-KR" altLang="ko-KR" dirty="0"/>
              <a:t>을 검증하는 </a:t>
            </a:r>
            <a:r>
              <a:rPr lang="ko-KR" altLang="ko-KR" b="1" dirty="0"/>
              <a:t>글로벌 표준 평가지표(</a:t>
            </a:r>
            <a:r>
              <a:rPr lang="ko-KR" altLang="ko-KR" b="1" dirty="0" err="1"/>
              <a:t>Benchmark</a:t>
            </a:r>
            <a:r>
              <a:rPr lang="ko-KR" altLang="ko-KR" b="1" dirty="0"/>
              <a:t> </a:t>
            </a:r>
            <a:r>
              <a:rPr lang="ko-KR" altLang="ko-KR" b="1" dirty="0" err="1"/>
              <a:t>Metrics</a:t>
            </a:r>
            <a:r>
              <a:rPr lang="ko-KR" altLang="ko-KR" b="1" dirty="0"/>
              <a:t>)</a:t>
            </a:r>
            <a:endParaRPr lang="ko-KR" altLang="en-US" dirty="0"/>
          </a:p>
          <a:p>
            <a:endParaRPr lang="en-US" altLang="ko-KR" dirty="0"/>
          </a:p>
          <a:p>
            <a:r>
              <a:rPr lang="en-US" altLang="ko-KR" dirty="0"/>
              <a:t>| **RMSE** | : </a:t>
            </a:r>
            <a:r>
              <a:rPr lang="ko-KR" altLang="en-US" dirty="0"/>
              <a:t>예측 오차</a:t>
            </a:r>
            <a:endParaRPr lang="en-US" altLang="ko-KR" dirty="0"/>
          </a:p>
          <a:p>
            <a:r>
              <a:rPr lang="en-US" altLang="ko-KR" dirty="0"/>
              <a:t>| **Pearson ρ** | : </a:t>
            </a:r>
            <a:r>
              <a:rPr lang="ko-KR" altLang="en-US" dirty="0"/>
              <a:t>선형 상관</a:t>
            </a:r>
            <a:r>
              <a:rPr lang="en-US" altLang="ko-KR" dirty="0"/>
              <a:t>(-1~1</a:t>
            </a:r>
            <a:r>
              <a:rPr lang="ko-KR" altLang="en-US" dirty="0"/>
              <a:t>값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-&gt; </a:t>
            </a:r>
            <a:r>
              <a:rPr lang="ko-KR" altLang="en-US" dirty="0" err="1"/>
              <a:t>예측값</a:t>
            </a:r>
            <a:r>
              <a:rPr lang="ko-KR" altLang="en-US" dirty="0"/>
              <a:t> 자체 정확도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| **Spearman ρ** | : </a:t>
            </a:r>
            <a:r>
              <a:rPr lang="ko-KR" altLang="en-US" dirty="0"/>
              <a:t>순위 상관</a:t>
            </a:r>
            <a:r>
              <a:rPr lang="en-US" altLang="ko-KR" dirty="0"/>
              <a:t> &gt;= 0.70 (</a:t>
            </a:r>
            <a:r>
              <a:rPr lang="ko-KR" altLang="en-US" dirty="0"/>
              <a:t>순위표가 </a:t>
            </a:r>
            <a:r>
              <a:rPr lang="en-US" altLang="ko-KR" dirty="0"/>
              <a:t>70% </a:t>
            </a:r>
            <a:r>
              <a:rPr lang="ko-KR" altLang="en-US" dirty="0"/>
              <a:t>이상 일치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| **Concordance Index** | : </a:t>
            </a:r>
            <a:r>
              <a:rPr lang="ko-KR" altLang="en-US" dirty="0" err="1"/>
              <a:t>약동학</a:t>
            </a:r>
            <a:r>
              <a:rPr lang="ko-KR" altLang="en-US" dirty="0"/>
              <a:t> 순위 정확도</a:t>
            </a:r>
            <a:r>
              <a:rPr lang="en-US" altLang="ko-KR" dirty="0"/>
              <a:t>(</a:t>
            </a:r>
            <a:r>
              <a:rPr lang="ko-KR" altLang="en-US" dirty="0"/>
              <a:t>임의로 약물 쌍을 뽑아 우수한 것 판별 확률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어떤 물질이 더 우수한지 선별하는 정확도</a:t>
            </a:r>
          </a:p>
        </p:txBody>
      </p:sp>
    </p:spTree>
    <p:extLst>
      <p:ext uri="{BB962C8B-B14F-4D97-AF65-F5344CB8AC3E}">
        <p14:creationId xmlns:p14="http://schemas.microsoft.com/office/powerpoint/2010/main" val="501987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2082300" y="2110050"/>
            <a:ext cx="497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dirty="0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감사합니다</a:t>
            </a:r>
            <a:endParaRPr sz="4800" dirty="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790</Words>
  <Application>Microsoft Office PowerPoint</Application>
  <PresentationFormat>화면 슬라이드 쇼(16:9)</PresentationFormat>
  <Paragraphs>113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Nanum Gothic</vt:lpstr>
      <vt:lpstr>NanumGothicExtraBold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jaegwon</dc:creator>
  <cp:lastModifiedBy>이재권</cp:lastModifiedBy>
  <cp:revision>3</cp:revision>
  <dcterms:modified xsi:type="dcterms:W3CDTF">2026-05-26T09:17:16Z</dcterms:modified>
</cp:coreProperties>
</file>