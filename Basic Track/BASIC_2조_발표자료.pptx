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62" r:id="rId6"/>
    <p:sldId id="265" r:id="rId7"/>
    <p:sldId id="271" r:id="rId8"/>
    <p:sldId id="266" r:id="rId9"/>
    <p:sldId id="268" r:id="rId10"/>
    <p:sldId id="269" r:id="rId11"/>
    <p:sldId id="267" r:id="rId12"/>
    <p:sldId id="273" r:id="rId13"/>
    <p:sldId id="272" r:id="rId14"/>
    <p:sldId id="274" r:id="rId15"/>
    <p:sldId id="264" r:id="rId16"/>
    <p:sldId id="260" r:id="rId17"/>
  </p:sldIdLst>
  <p:sldSz cx="9144000" cy="5143500" type="screen16x9"/>
  <p:notesSz cx="6858000" cy="9144000"/>
  <p:embeddedFontLst>
    <p:embeddedFont>
      <p:font typeface="NanumGothicExtraBold" panose="020B0503020000020004" pitchFamily="2" charset="-127"/>
      <p:bold r:id="rId19"/>
    </p:embeddedFont>
    <p:embeddedFont>
      <p:font typeface="Malgun Gothic" panose="020B0503020000020004" pitchFamily="50" charset="-127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4"/>
  </p:normalViewPr>
  <p:slideViewPr>
    <p:cSldViewPr snapToGrid="0">
      <p:cViewPr varScale="1">
        <p:scale>
          <a:sx n="96" d="100"/>
          <a:sy n="96" d="100"/>
        </p:scale>
        <p:origin x="3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accca8d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accca8d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스터디원들을 만나 공부하신 사진을 넣어주시고 만남 인증을 해주세요!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비대면일 경우 화면 캡처를 이용해주시면 됩니다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A14D0F0-F0F3-ACE6-AEA0-E251B732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B52F2F67-C2E2-2C59-0B3D-024ACF495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D69A7847-F5BB-1FB7-0EFB-5E142D89E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368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4886474-70D4-A220-0C31-398AA3B1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6DF14C2D-D848-30F2-7B80-7F194E67A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A52918AE-0445-49BF-F6B3-48021256F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218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3DF0413-2046-89CB-F72B-9F6C014B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6397D2CB-F1A3-BF03-0AB6-CA616B347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DF6A8D59-F629-7CC6-DCF8-82F04A1EE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59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A41339A-4293-543E-BF83-BAEDDA6F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D400EFD8-0764-3EE5-AA30-D5A3E00C4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EFFD96BC-CA94-0FE0-ECDE-87533307D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377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3FE8A80-6E3D-660A-D689-716E8C81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7F09C7B8-040C-97CD-8FEB-FE5CF095B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E9D17EC7-627B-4837-184F-7F3CFD861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4348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052E97E-D23F-1182-BE0F-0CB406626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EE437AC6-30B1-3937-3FB1-0E322E3CAE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C37B53EF-3322-2C99-DF8D-D7BCD8B85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058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6DE52B7-9B0B-8724-A3F5-483DB9E2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095AA5FE-991F-4054-8FB8-0A54CDF31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35300A0B-6673-3BED-CE8B-6AA8A62C9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269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2DBC67D-CB76-7A71-AF13-EA70FFEA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39C2C2D0-E4DC-E64E-41FD-A4AFBE490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BC9AB532-96A5-B999-D827-743D4D005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9955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705914-9952-B57F-C8C5-5FFFE262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9595270B-6F34-0B37-6AF6-3E3C0B85B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8ABCAFC2-3144-F2AA-DB30-D0C2CB3E8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2693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34B9CC-6A7F-E3B5-8175-0169E7CF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51FCEE42-2A72-2831-C85B-ADB7C634B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1F5ECB9F-21B9-6C62-A68D-5FE9F731E8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7380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68053E4-901D-8340-F3AA-7DB91B9B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50E9CBBA-A526-3085-C229-63930D1A6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94821362-21EB-68E3-817B-B3807A5D2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960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A03B6C3-EB89-9A63-949F-9E8DB748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53FAAD4F-7C86-879D-0CD9-DF2EA85C9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04A05D27-7ABF-33D3-BF18-33FDC1546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263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  <a:latin typeface="+mn-ea"/>
                <a:ea typeface="+mn-ea"/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  <a:latin typeface="+mn-ea"/>
                <a:ea typeface="+mn-ea"/>
              </a:rPr>
              <a:t>2</a:t>
            </a:r>
            <a:r>
              <a:rPr lang="ko" sz="2500" b="1" dirty="0">
                <a:solidFill>
                  <a:srgbClr val="19264B"/>
                </a:solidFill>
                <a:latin typeface="+mn-ea"/>
                <a:ea typeface="+mn-ea"/>
              </a:rPr>
              <a:t>팀</a:t>
            </a:r>
            <a:endParaRPr sz="2500" b="1" dirty="0">
              <a:solidFill>
                <a:srgbClr val="19264B"/>
              </a:solidFill>
              <a:latin typeface="+mn-ea"/>
              <a:ea typeface="+mn-e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  <a:latin typeface="+mn-ea"/>
                <a:ea typeface="+mn-ea"/>
              </a:rPr>
              <a:t>2025.0</a:t>
            </a:r>
            <a:r>
              <a:rPr lang="en-US" altLang="ko-KR" dirty="0">
                <a:solidFill>
                  <a:srgbClr val="19264B"/>
                </a:solidFill>
                <a:latin typeface="+mn-ea"/>
                <a:ea typeface="+mn-ea"/>
              </a:rPr>
              <a:t>5</a:t>
            </a:r>
            <a:r>
              <a:rPr lang="en-US" altLang="ko" dirty="0">
                <a:solidFill>
                  <a:srgbClr val="19264B"/>
                </a:solidFill>
                <a:latin typeface="+mn-ea"/>
                <a:ea typeface="+mn-ea"/>
              </a:rPr>
              <a:t>. 2</a:t>
            </a:r>
            <a:r>
              <a:rPr lang="en-US" altLang="ko-KR" dirty="0">
                <a:solidFill>
                  <a:srgbClr val="19264B"/>
                </a:solidFill>
                <a:latin typeface="+mn-ea"/>
                <a:ea typeface="+mn-ea"/>
              </a:rPr>
              <a:t>6</a:t>
            </a:r>
            <a:endParaRPr dirty="0">
              <a:solidFill>
                <a:srgbClr val="19264B"/>
              </a:solidFill>
              <a:latin typeface="+mn-ea"/>
              <a:ea typeface="+mn-e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+mn-ea"/>
              <a:ea typeface="+mn-e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+mn-ea"/>
              <a:ea typeface="+mn-e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  <a:latin typeface="+mn-ea"/>
                <a:ea typeface="+mn-ea"/>
              </a:rPr>
              <a:t>발표자 : </a:t>
            </a:r>
            <a:r>
              <a:rPr lang="ko-KR" altLang="en-US" sz="1100" dirty="0" err="1">
                <a:solidFill>
                  <a:srgbClr val="19264B"/>
                </a:solidFill>
                <a:latin typeface="+mn-ea"/>
                <a:ea typeface="+mn-ea"/>
              </a:rPr>
              <a:t>서용훈</a:t>
            </a:r>
            <a:endParaRPr sz="1100" dirty="0">
              <a:solidFill>
                <a:srgbClr val="19264B"/>
              </a:solidFill>
              <a:latin typeface="+mn-ea"/>
              <a:ea typeface="+mn-ea"/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2106306" y="1262100"/>
            <a:ext cx="2465694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활동 사진이 있다면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(카카오톡 대화 화면 캡쳐 이용 가능)</a:t>
            </a:r>
            <a:endParaRPr sz="1200" dirty="0"/>
          </a:p>
        </p:txBody>
      </p:sp>
      <p:sp>
        <p:nvSpPr>
          <p:cNvPr id="75" name="Google Shape;75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+mn-ea"/>
                <a:ea typeface="+mn-ea"/>
                <a:cs typeface="NanumGothicExtraBold"/>
                <a:sym typeface="NanumGothic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+mn-ea"/>
              <a:ea typeface="+mn-ea"/>
              <a:cs typeface="NanumGothicExtraBold"/>
              <a:sym typeface="NanumGothic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755594" y="2142962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김</a:t>
            </a:r>
            <a:r>
              <a:rPr lang="ko-KR" altLang="en-US" dirty="0"/>
              <a:t>동인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 err="1"/>
              <a:t>서용훈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/>
              <a:t>최윤서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D28580-21EC-CC69-BC1A-9C77B56E9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25" y="1306404"/>
            <a:ext cx="2233655" cy="33259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anumGothicExtraBold"/>
                <a:sym typeface="NanumGothicExtraBold"/>
              </a:rPr>
              <a:t>목차</a:t>
            </a:r>
            <a:endParaRPr sz="2000" b="1" dirty="0">
              <a:solidFill>
                <a:srgbClr val="19264B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702CB7B8-0960-FC18-D670-FB302FF83877}"/>
              </a:ext>
            </a:extLst>
          </p:cNvPr>
          <p:cNvSpPr txBox="1"/>
          <p:nvPr/>
        </p:nvSpPr>
        <p:spPr>
          <a:xfrm>
            <a:off x="1408975" y="845454"/>
            <a:ext cx="4979400" cy="443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latin typeface="+mn-ea"/>
                <a:ea typeface="+mn-ea"/>
              </a:rPr>
              <a:t>1.</a:t>
            </a:r>
            <a:r>
              <a:rPr lang="ko-KR" altLang="en-US" sz="2000" b="1" dirty="0">
                <a:latin typeface="+mn-ea"/>
                <a:ea typeface="+mn-ea"/>
              </a:rPr>
              <a:t> 주제 소개</a:t>
            </a:r>
            <a:r>
              <a:rPr lang="en-US" altLang="ko-KR" sz="2000" b="1" dirty="0">
                <a:solidFill>
                  <a:srgbClr val="19264B"/>
                </a:solidFill>
                <a:latin typeface="+mn-ea"/>
                <a:ea typeface="+mn-ea"/>
              </a:rPr>
              <a:t> </a:t>
            </a: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+mn-ea"/>
              <a:ea typeface="+mn-ea"/>
            </a:endParaRPr>
          </a:p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+mn-ea"/>
                <a:ea typeface="+mn-ea"/>
                <a:sym typeface="NanumGothicExtraBold"/>
              </a:rPr>
              <a:t>2.</a:t>
            </a:r>
            <a:r>
              <a:rPr lang="ko-KR" altLang="en-US" sz="2000" b="1" dirty="0">
                <a:solidFill>
                  <a:srgbClr val="19264B"/>
                </a:solidFill>
                <a:latin typeface="+mn-ea"/>
                <a:ea typeface="+mn-ea"/>
                <a:sym typeface="NanumGothicExtraBold"/>
              </a:rPr>
              <a:t> </a:t>
            </a:r>
            <a:r>
              <a:rPr lang="ko-KR" altLang="en-US" sz="2000" b="1" dirty="0">
                <a:latin typeface="+mn-ea"/>
              </a:rPr>
              <a:t>데이터셋 분석</a:t>
            </a:r>
            <a:endParaRPr lang="ko-KR" altLang="en-US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endParaRPr lang="ko-KR" altLang="en-US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r>
              <a:rPr lang="ko-KR" altLang="en-US" sz="2000" b="1" dirty="0">
                <a:latin typeface="+mn-ea"/>
                <a:ea typeface="+mn-ea"/>
              </a:rPr>
              <a:t>3. </a:t>
            </a:r>
            <a:r>
              <a:rPr lang="ko-KR" altLang="en-US" sz="2000" b="1" dirty="0" err="1">
                <a:latin typeface="+mn-ea"/>
                <a:ea typeface="+mn-ea"/>
              </a:rPr>
              <a:t>피쳐</a:t>
            </a:r>
            <a:r>
              <a:rPr lang="ko-KR" altLang="en-US" sz="2000" b="1" dirty="0">
                <a:latin typeface="+mn-ea"/>
                <a:ea typeface="+mn-ea"/>
              </a:rPr>
              <a:t> 엔지니어링 및 </a:t>
            </a:r>
            <a:r>
              <a:rPr lang="ko-KR" altLang="en-US" sz="2000" b="1" dirty="0" err="1">
                <a:latin typeface="+mn-ea"/>
                <a:ea typeface="+mn-ea"/>
              </a:rPr>
              <a:t>전처리</a:t>
            </a:r>
            <a:endParaRPr lang="en-US" altLang="ko-KR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endParaRPr lang="en-US" altLang="ko-KR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r>
              <a:rPr lang="en-US" altLang="ko-KR" sz="2000" b="1" dirty="0">
                <a:latin typeface="+mn-ea"/>
                <a:ea typeface="+mn-ea"/>
              </a:rPr>
              <a:t>4.</a:t>
            </a:r>
            <a:r>
              <a:rPr lang="ko-KR" altLang="en-US" sz="2000" b="1" dirty="0">
                <a:latin typeface="+mn-ea"/>
                <a:ea typeface="+mn-ea"/>
              </a:rPr>
              <a:t> </a:t>
            </a:r>
            <a:r>
              <a:rPr lang="ko-KR" altLang="en-US" sz="2000" b="1" dirty="0" err="1">
                <a:latin typeface="+mn-ea"/>
                <a:ea typeface="+mn-ea"/>
              </a:rPr>
              <a:t>하이퍼파라미터</a:t>
            </a:r>
            <a:r>
              <a:rPr lang="ko-KR" altLang="en-US" sz="2000" b="1" dirty="0">
                <a:latin typeface="+mn-ea"/>
                <a:ea typeface="+mn-ea"/>
              </a:rPr>
              <a:t> 튜닝</a:t>
            </a:r>
            <a:endParaRPr lang="en-US" altLang="ko-KR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endParaRPr lang="en-US" altLang="ko-KR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r>
              <a:rPr lang="en-US" altLang="ko-KR" sz="2000" b="1" dirty="0">
                <a:latin typeface="+mn-ea"/>
                <a:ea typeface="+mn-ea"/>
              </a:rPr>
              <a:t>5.</a:t>
            </a:r>
            <a:r>
              <a:rPr lang="ko-KR" altLang="en-US" sz="2000" b="1" dirty="0">
                <a:latin typeface="+mn-ea"/>
                <a:ea typeface="+mn-ea"/>
              </a:rPr>
              <a:t> </a:t>
            </a:r>
            <a:r>
              <a:rPr lang="en-US" altLang="ko-KR" sz="2000" b="1" dirty="0">
                <a:latin typeface="+mn-ea"/>
                <a:ea typeface="+mn-ea"/>
              </a:rPr>
              <a:t>Stacking </a:t>
            </a:r>
            <a:r>
              <a:rPr lang="ko-KR" altLang="en-US" sz="2000" b="1" dirty="0">
                <a:latin typeface="+mn-ea"/>
                <a:ea typeface="+mn-ea"/>
              </a:rPr>
              <a:t>앙상블</a:t>
            </a:r>
            <a:endParaRPr lang="en-US" altLang="ko-KR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endParaRPr lang="en-US" altLang="ko-KR" sz="2000" b="1" dirty="0">
              <a:latin typeface="+mn-ea"/>
              <a:ea typeface="+mn-ea"/>
            </a:endParaRPr>
          </a:p>
          <a:p>
            <a:pPr>
              <a:lnSpc>
                <a:spcPct val="114999"/>
              </a:lnSpc>
            </a:pPr>
            <a:r>
              <a:rPr lang="en-US" altLang="ko-KR" sz="2000" b="1" dirty="0">
                <a:latin typeface="+mn-ea"/>
                <a:ea typeface="+mn-ea"/>
              </a:rPr>
              <a:t>6.</a:t>
            </a:r>
            <a:r>
              <a:rPr lang="ko-KR" altLang="en-US" sz="2000" b="1" dirty="0">
                <a:latin typeface="+mn-ea"/>
                <a:ea typeface="+mn-ea"/>
              </a:rPr>
              <a:t> 결과 및 개선방향</a:t>
            </a:r>
          </a:p>
          <a:p>
            <a:pPr>
              <a:lnSpc>
                <a:spcPct val="114999"/>
              </a:lnSpc>
            </a:pPr>
            <a:endParaRPr lang="ko-KR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E62D9648-61B3-ABA1-3D7E-EAA91BE8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9220CE08-82C4-6FFE-355D-7FC6DEC5AFA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4E7DC293-DD78-2FF5-BA96-662FD4EF650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0DDD14E8-B503-AE7F-00A9-3C21E77C70D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CDE5A06-509A-1278-9C8C-49B024C5AD7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주제 소개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9351520E-E896-E7FC-ED1F-1C924B326E58}"/>
              </a:ext>
            </a:extLst>
          </p:cNvPr>
          <p:cNvSpPr txBox="1"/>
          <p:nvPr/>
        </p:nvSpPr>
        <p:spPr>
          <a:xfrm>
            <a:off x="1408975" y="2790857"/>
            <a:ext cx="6518003" cy="106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ko-KR" sz="1500" dirty="0" err="1">
                <a:latin typeface="Arial" panose="020B0604020202020204" pitchFamily="34" charset="0"/>
                <a:ea typeface="-webkit-standard"/>
              </a:rPr>
              <a:t>Kaggle의</a:t>
            </a:r>
            <a:r>
              <a:rPr lang="ko-KR" altLang="ko-KR" sz="1500" dirty="0">
                <a:latin typeface="Arial" panose="020B0604020202020204" pitchFamily="34" charset="0"/>
                <a:ea typeface="-webkit-standard"/>
              </a:rPr>
              <a:t> 심장질환 데이터셋을 활용하여 환자의 심장병 발병 가능성을 예측</a:t>
            </a:r>
            <a:r>
              <a:rPr lang="ko-KR" altLang="en-US" sz="1500" dirty="0">
                <a:latin typeface="Arial" panose="020B0604020202020204" pitchFamily="34" charset="0"/>
                <a:ea typeface="-webkit-standard"/>
              </a:rPr>
              <a:t> 모델 개발</a:t>
            </a:r>
            <a:endParaRPr lang="ko-KR" altLang="ko-KR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577434-9BC3-10AF-163A-64CA840F0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867968"/>
            <a:ext cx="7772400" cy="16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86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41AAEF58-7D5A-3CC5-7185-97747637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2DC2D31-A076-D80A-2A23-73D6070294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6E0E6408-6117-2474-6C13-D1DF1EC6881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49FD2B7D-6025-ED21-B34C-FE52694816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B856D6C-0CE6-1C6B-787B-44B26E10C71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데이터셋 소개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A4DA68-92EC-3078-64C5-79A9F8F00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68" b="5512"/>
          <a:stretch>
            <a:fillRect/>
          </a:stretch>
        </p:blipFill>
        <p:spPr>
          <a:xfrm>
            <a:off x="1408975" y="1055550"/>
            <a:ext cx="4807110" cy="362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7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3585A4B6-232F-ACEA-89B9-3C7197E8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0C44C604-318C-5064-B000-E2DDBC5EE54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0450F437-EDE2-71D6-C992-C2615743C0E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31E7AFCE-5879-A767-992E-67097AEB6F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5885A291-E3ED-940D-0C19-C852C0FBED6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EDA 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및 시각화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1C9B9C-C9DB-683B-0BB5-CB509A3DA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4" y="868056"/>
            <a:ext cx="5750830" cy="414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4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B0E262E-8331-5BC9-C872-DD79645EC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F3AAC324-10CF-3AFC-188F-89D20585458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F73A818A-6F65-4DE7-C95B-CB416AB6446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0C3E5805-419B-C991-4AC6-E6E87E7D7A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BB345BC6-D8D7-8F16-0454-566EBA9CB42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 간 상관관계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94F463-6D7E-ADD8-FD3B-6981D67E6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526" y="797766"/>
            <a:ext cx="4722298" cy="438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0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5A690C2-7666-7B09-D279-FC2A667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48B32913-BAF6-EC99-971D-173CA454324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EBEB59F-7FBB-7B55-0497-375310BF85F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E5771516-E00C-20E5-56D1-30E0FB3659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0EBC7562-322B-451C-0FCB-12F87AD8F88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 엔지니어링 및 </a:t>
            </a: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전처리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B611A-BF74-1317-8C3B-1097E5950FF6}"/>
              </a:ext>
            </a:extLst>
          </p:cNvPr>
          <p:cNvSpPr txBox="1"/>
          <p:nvPr/>
        </p:nvSpPr>
        <p:spPr>
          <a:xfrm>
            <a:off x="1353962" y="859635"/>
            <a:ext cx="641381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파생 피처 소개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1.</a:t>
            </a:r>
            <a:r>
              <a:rPr kumimoji="1" lang="ko-KR" altLang="en-US" dirty="0"/>
              <a:t>나이 대비 최대 심박수 비율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Age_MaxHR_ratio</a:t>
            </a:r>
            <a:r>
              <a:rPr kumimoji="1" lang="en-US" altLang="ko-KR" dirty="0"/>
              <a:t>)-&gt;</a:t>
            </a:r>
            <a:r>
              <a:rPr kumimoji="1" lang="ko-KR" altLang="en-US" dirty="0"/>
              <a:t> 나이</a:t>
            </a:r>
            <a:r>
              <a:rPr kumimoji="1" lang="en-US" altLang="ko-KR" dirty="0"/>
              <a:t>/</a:t>
            </a:r>
            <a:r>
              <a:rPr kumimoji="1" lang="ko-KR" altLang="en-US" dirty="0"/>
              <a:t>최대 심박수</a:t>
            </a:r>
            <a:r>
              <a:rPr kumimoji="1" lang="en-US" altLang="ko-KR" dirty="0"/>
              <a:t>+1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2.ST_vessels_inter-&gt;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ST_depression</a:t>
            </a:r>
            <a:r>
              <a:rPr kumimoji="1" lang="en-US" altLang="ko-KR" dirty="0"/>
              <a:t>* Number of vessels </a:t>
            </a:r>
            <a:r>
              <a:rPr kumimoji="1" lang="en-US" altLang="ko-KR" dirty="0" err="1"/>
              <a:t>fluro</a:t>
            </a:r>
            <a:r>
              <a:rPr kumimoji="1" lang="en-US" altLang="ko-KR" dirty="0"/>
              <a:t>(</a:t>
            </a:r>
            <a:r>
              <a:rPr kumimoji="1" lang="ko-KR" altLang="en-US" dirty="0"/>
              <a:t>막힌 </a:t>
            </a:r>
            <a:r>
              <a:rPr kumimoji="1" lang="ko-KR" altLang="en-US" dirty="0" err="1"/>
              <a:t>혈관수</a:t>
            </a:r>
            <a:r>
              <a:rPr kumimoji="1" lang="en-US" altLang="ko-KR" dirty="0"/>
              <a:t>)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3.</a:t>
            </a:r>
            <a:r>
              <a:rPr lang="ko-KR" altLang="ko-KR" dirty="0"/>
              <a:t> </a:t>
            </a:r>
            <a:r>
              <a:rPr lang="en-US" altLang="ko-KR" dirty="0" err="1"/>
              <a:t>High_risk_flag</a:t>
            </a:r>
            <a:r>
              <a:rPr lang="en-US" altLang="ko-KR" dirty="0"/>
              <a:t>-&gt;</a:t>
            </a:r>
            <a:r>
              <a:rPr lang="ko-KR" altLang="en-US" dirty="0"/>
              <a:t> 숨겨진 고위험군 환자 파악</a:t>
            </a:r>
            <a:endParaRPr lang="en-US" altLang="ko-KR" dirty="0"/>
          </a:p>
          <a:p>
            <a:endParaRPr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4.</a:t>
            </a:r>
            <a:r>
              <a:rPr kumimoji="1" lang="ko-KR" altLang="en-US" dirty="0"/>
              <a:t>나이 구간화 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Age_bin</a:t>
            </a:r>
            <a:r>
              <a:rPr kumimoji="1" lang="en-US" altLang="ko-KR" dirty="0"/>
              <a:t>)-&gt;</a:t>
            </a:r>
            <a:r>
              <a:rPr kumimoji="1" lang="ko-KR" altLang="en-US" dirty="0"/>
              <a:t> 나이</a:t>
            </a:r>
            <a:r>
              <a:rPr kumimoji="1" lang="en-US" altLang="ko-KR" dirty="0"/>
              <a:t>//10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5.</a:t>
            </a:r>
            <a:r>
              <a:rPr kumimoji="1" lang="ko-KR" altLang="en-US" dirty="0"/>
              <a:t>최대 심박수 구간화</a:t>
            </a:r>
            <a:r>
              <a:rPr kumimoji="1" lang="en-US" altLang="ko-KR" dirty="0"/>
              <a:t>(Max HR)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380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D8CB8C8-CEDE-5098-1B4C-76C8C25B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CF5F518-09E8-4678-2B72-FE268F4E542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E233CDF4-925B-2C78-4B5D-1FB42270300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EDCE4367-E225-093B-E68F-60746D5156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B40D3C-D730-E9D9-58B0-C733CEB3C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945989"/>
              </p:ext>
            </p:extLst>
          </p:nvPr>
        </p:nvGraphicFramePr>
        <p:xfrm>
          <a:off x="1408975" y="1055550"/>
          <a:ext cx="7018930" cy="32327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72554">
                  <a:extLst>
                    <a:ext uri="{9D8B030D-6E8A-4147-A177-3AD203B41FA5}">
                      <a16:colId xmlns:a16="http://schemas.microsoft.com/office/drawing/2014/main" val="2439750122"/>
                    </a:ext>
                  </a:extLst>
                </a:gridCol>
                <a:gridCol w="5046376">
                  <a:extLst>
                    <a:ext uri="{9D8B030D-6E8A-4147-A177-3AD203B41FA5}">
                      <a16:colId xmlns:a16="http://schemas.microsoft.com/office/drawing/2014/main" val="3655513265"/>
                    </a:ext>
                  </a:extLst>
                </a:gridCol>
              </a:tblGrid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Feature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051434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분석에 불필요해서 </a:t>
                      </a:r>
                      <a:r>
                        <a:rPr lang="en-US" altLang="ko-KR" sz="1400" dirty="0"/>
                        <a:t>drop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49252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07447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588291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C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hest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pain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type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One-hot encoding </a:t>
                      </a:r>
                      <a:r>
                        <a:rPr lang="ko-KR" altLang="en-US" sz="1400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86445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550192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C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holesterol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85214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FBS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over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354950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EKG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result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One-hot encoding </a:t>
                      </a:r>
                      <a:r>
                        <a:rPr lang="ko-KR" altLang="en-US" sz="1400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823725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MAX HR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817777"/>
                  </a:ext>
                </a:extLst>
              </a:tr>
            </a:tbl>
          </a:graphicData>
        </a:graphic>
      </p:graphicFrame>
      <p:sp>
        <p:nvSpPr>
          <p:cNvPr id="3" name="Google Shape;92;p16">
            <a:extLst>
              <a:ext uri="{FF2B5EF4-FFF2-40B4-BE49-F238E27FC236}">
                <a16:creationId xmlns:a16="http://schemas.microsoft.com/office/drawing/2014/main" id="{BA16105B-BDE3-E1D6-F42B-D506F382BA4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 엔지니어링 및 </a:t>
            </a: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전처리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8115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D3E0C48-7B89-955E-B9BA-83F67557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A3BB0BF-38B6-7F33-0A92-08740E6597C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8ADD6875-8D69-9F25-6D4E-9057F80055E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7315106F-4C7B-2424-DBF2-A8D15C4489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A420156-BF03-BFD7-BB63-F7A8ABAA2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90677"/>
              </p:ext>
            </p:extLst>
          </p:nvPr>
        </p:nvGraphicFramePr>
        <p:xfrm>
          <a:off x="1408975" y="931185"/>
          <a:ext cx="7018930" cy="4074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72554">
                  <a:extLst>
                    <a:ext uri="{9D8B030D-6E8A-4147-A177-3AD203B41FA5}">
                      <a16:colId xmlns:a16="http://schemas.microsoft.com/office/drawing/2014/main" val="2439750122"/>
                    </a:ext>
                  </a:extLst>
                </a:gridCol>
                <a:gridCol w="5046376">
                  <a:extLst>
                    <a:ext uri="{9D8B030D-6E8A-4147-A177-3AD203B41FA5}">
                      <a16:colId xmlns:a16="http://schemas.microsoft.com/office/drawing/2014/main" val="3655513265"/>
                    </a:ext>
                  </a:extLst>
                </a:gridCol>
              </a:tblGrid>
              <a:tr h="323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Feature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051434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Exercise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angina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49252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depression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07447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Slope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of 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One-hot encoding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588291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Number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of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vessels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fluro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스케일링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86445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Thallium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One-hot encoding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550192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Heart</a:t>
                      </a:r>
                      <a:r>
                        <a:rPr lang="ko-KR" altLang="ko-K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Disease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One-hot encoding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85214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Age_MaxHR_ratio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327258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ST_vessels_inter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255603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High_risk_flag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스케일링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129464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Age_bin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One-hot encoding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021858"/>
                  </a:ext>
                </a:extLst>
              </a:tr>
              <a:tr h="323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MaxHR_bin</a:t>
                      </a:r>
                      <a:endParaRPr lang="ko-KR" altLang="ko-KR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One-hot encoding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330383"/>
                  </a:ext>
                </a:extLst>
              </a:tr>
            </a:tbl>
          </a:graphicData>
        </a:graphic>
      </p:graphicFrame>
      <p:sp>
        <p:nvSpPr>
          <p:cNvPr id="3" name="Google Shape;92;p16">
            <a:extLst>
              <a:ext uri="{FF2B5EF4-FFF2-40B4-BE49-F238E27FC236}">
                <a16:creationId xmlns:a16="http://schemas.microsoft.com/office/drawing/2014/main" id="{85B60663-904B-635C-0A82-E10B46810E9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 엔지니어링 및 </a:t>
            </a: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전처리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4449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51245DBF-614D-ED08-192C-AC614BD4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0DA2F551-28E9-D0BC-EAF2-63DF24C8080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6364AFCF-8F25-F7AC-4EB4-8EAA067A4D7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B3EDEA06-93D1-EFDC-2BBB-A79E071751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A5FB5734-EB4F-32E7-0988-023AFA48A71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하이퍼파라미터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 튜닝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CCB87-4EB8-9E46-F88D-AAC544FC4693}"/>
              </a:ext>
            </a:extLst>
          </p:cNvPr>
          <p:cNvSpPr txBox="1"/>
          <p:nvPr/>
        </p:nvSpPr>
        <p:spPr>
          <a:xfrm>
            <a:off x="1408975" y="986014"/>
            <a:ext cx="5434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 err="1"/>
              <a:t>Optuna</a:t>
            </a:r>
            <a:r>
              <a:rPr kumimoji="1" lang="ko-KR" altLang="en-US" dirty="0"/>
              <a:t> 사용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하이퍼</a:t>
            </a:r>
            <a:r>
              <a:rPr kumimoji="1" lang="ko-KR" altLang="en-US" dirty="0"/>
              <a:t> 파라미터 최적화를 도와주는 프레임워크</a:t>
            </a:r>
            <a:r>
              <a:rPr kumimoji="1"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5-Fold</a:t>
            </a:r>
            <a:r>
              <a:rPr kumimoji="1" lang="ko-KR" altLang="en-US" dirty="0"/>
              <a:t> 교차 검증 사용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1CB34C-E75F-F12C-CD6A-11899C600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649794"/>
            <a:ext cx="6454615" cy="303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9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75D02D56-A222-BA91-4ECD-F2D244F4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EC587D0-50EF-4425-3CBF-6039721DCEA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242EFB0E-45B0-13B0-AC28-DBFFF0C8BE0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C8F938CD-9752-7416-D057-499C53BDF9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F34D1243-2171-E3C0-5411-6C948A4B233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 err="1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하이퍼파라미터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 튜닝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650354-B83A-CB2E-CC20-A6C9969841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92"/>
          <a:stretch>
            <a:fillRect/>
          </a:stretch>
        </p:blipFill>
        <p:spPr>
          <a:xfrm>
            <a:off x="1482436" y="1166387"/>
            <a:ext cx="6765637" cy="325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0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712EEBF5-75B7-61F4-DF7E-1B25CA42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88730758-83B8-2FAC-F9C1-F2A5B07A31A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A98BF64-CFE6-C5CA-22B5-48FEF6DF123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091AC232-3536-45A6-39F1-91AC1FDBC3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63044BAD-D57E-7749-6B15-FC9A8F5AE80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Stacking 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앙상블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6AEB4-A18A-87C0-B050-68B914EE1951}"/>
              </a:ext>
            </a:extLst>
          </p:cNvPr>
          <p:cNvSpPr txBox="1"/>
          <p:nvPr/>
        </p:nvSpPr>
        <p:spPr>
          <a:xfrm>
            <a:off x="1408975" y="969819"/>
            <a:ext cx="7385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 err="1"/>
              <a:t>하이퍼</a:t>
            </a:r>
            <a:r>
              <a:rPr kumimoji="1" lang="ko-KR" altLang="en-US" dirty="0"/>
              <a:t> 파라미터가 고정된 상태에서</a:t>
            </a:r>
            <a:r>
              <a:rPr kumimoji="1" lang="en-US" altLang="ko-KR" dirty="0"/>
              <a:t> 5-Fold </a:t>
            </a:r>
            <a:r>
              <a:rPr kumimoji="1" lang="ko-KR" altLang="en-US" dirty="0"/>
              <a:t>교차검증으로 </a:t>
            </a:r>
            <a:r>
              <a:rPr kumimoji="1" lang="en-US" altLang="ko-KR" dirty="0"/>
              <a:t>OOF(Out of fold)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예측값구함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OOF</a:t>
            </a:r>
            <a:r>
              <a:rPr kumimoji="1" lang="ko-KR" altLang="en-US" dirty="0" err="1"/>
              <a:t>예측값을</a:t>
            </a:r>
            <a:r>
              <a:rPr kumimoji="1" lang="ko-KR" altLang="en-US" dirty="0"/>
              <a:t> 학습데이터로 로지스틱 회귀를 통해 최종 모델 학습</a:t>
            </a:r>
            <a:endParaRPr kumimoji="1"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16DD42-1DD5-5505-8C35-88895D614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563" y="1493039"/>
            <a:ext cx="7038273" cy="31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5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E5758E3F-4B66-0599-1D10-630FEC99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F66DBE2-5771-D10E-CAC0-2A5B1326F7D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799FE469-0CA7-08EA-955F-04C86BBF252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CFEBDB0B-78C2-0A11-BB18-CB24630EA1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6">
            <a:extLst>
              <a:ext uri="{FF2B5EF4-FFF2-40B4-BE49-F238E27FC236}">
                <a16:creationId xmlns:a16="http://schemas.microsoft.com/office/drawing/2014/main" id="{AD3F6385-C286-984A-9E46-B6267DD2B4C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Stacking 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ExtraBold"/>
                <a:sym typeface="NanumGothicExtraBold"/>
              </a:rPr>
              <a:t>앙상블</a:t>
            </a:r>
            <a:endParaRPr lang="en-US" altLang="ko-KR" sz="2000" b="1" dirty="0">
              <a:solidFill>
                <a:srgbClr val="19264B"/>
              </a:solidFill>
              <a:latin typeface="+mj-ea"/>
              <a:ea typeface="+mj-ea"/>
              <a:cs typeface="NanumGothicExtraBold"/>
              <a:sym typeface="NanumGothic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5188C4-BA31-792E-873D-BCBC755FC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193800"/>
            <a:ext cx="5773714" cy="26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10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156821A6-40B6-0048-19CB-67F39847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E862787B-9429-1BE4-6D2D-858D376579C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A2F1B92F-CFC5-853E-90B3-DF9DAED3EED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CADF8F40-DAAC-3FD0-3335-35CDF7C761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854CEAE-AA8B-56D8-8748-3922B9B31C0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결과 및 개선방향</a:t>
            </a:r>
            <a:endParaRPr lang="ko-KR" altLang="en-US"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01EE6878-0E56-8712-2D1B-C9447DA2DFB1}"/>
              </a:ext>
            </a:extLst>
          </p:cNvPr>
          <p:cNvSpPr txBox="1"/>
          <p:nvPr/>
        </p:nvSpPr>
        <p:spPr>
          <a:xfrm>
            <a:off x="1353963" y="1212921"/>
            <a:ext cx="6518003" cy="266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ko-KR" sz="2000" dirty="0">
                <a:highlight>
                  <a:srgbClr val="FFFFFF"/>
                </a:highlight>
              </a:rPr>
              <a:t>Public </a:t>
            </a:r>
            <a:r>
              <a:rPr lang="ko-KR" sz="2000" dirty="0" err="1">
                <a:highlight>
                  <a:srgbClr val="FFFFFF"/>
                </a:highlight>
              </a:rPr>
              <a:t>Score</a:t>
            </a:r>
            <a:r>
              <a:rPr lang="ko-KR" sz="2000" dirty="0">
                <a:highlight>
                  <a:srgbClr val="FFFFFF"/>
                </a:highlight>
              </a:rPr>
              <a:t>:  0.95349</a:t>
            </a:r>
          </a:p>
          <a:p>
            <a:pPr marL="342900" indent="-342900"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ko-KR" sz="2000" dirty="0" err="1">
                <a:highlight>
                  <a:srgbClr val="FFFFFF"/>
                </a:highlight>
              </a:rPr>
              <a:t>Private</a:t>
            </a:r>
            <a:r>
              <a:rPr lang="ko-KR" sz="2000" dirty="0">
                <a:highlight>
                  <a:srgbClr val="FFFFFF"/>
                </a:highlight>
              </a:rPr>
              <a:t> </a:t>
            </a:r>
            <a:r>
              <a:rPr lang="ko-KR" sz="2000" dirty="0" err="1">
                <a:highlight>
                  <a:srgbClr val="FFFFFF"/>
                </a:highlight>
              </a:rPr>
              <a:t>Score</a:t>
            </a:r>
            <a:r>
              <a:rPr lang="ko-KR" sz="2000" dirty="0">
                <a:highlight>
                  <a:srgbClr val="FFFFFF"/>
                </a:highlight>
              </a:rPr>
              <a:t>: 0.95498 ↑</a:t>
            </a:r>
            <a:endParaRPr lang="en-US" altLang="ko-KR" sz="2000" dirty="0">
              <a:highlight>
                <a:srgbClr val="FFFFFF"/>
              </a:highlight>
            </a:endParaRPr>
          </a:p>
          <a:p>
            <a:pPr>
              <a:lnSpc>
                <a:spcPct val="114999"/>
              </a:lnSpc>
            </a:pPr>
            <a:endParaRPr lang="ko-KR" sz="2000" dirty="0">
              <a:highlight>
                <a:srgbClr val="FFFFFF"/>
              </a:highlight>
            </a:endParaRPr>
          </a:p>
          <a:p>
            <a:pPr marL="342900" indent="-342900"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highlight>
                  <a:srgbClr val="FFFFFF"/>
                </a:highlight>
              </a:rPr>
              <a:t>개선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방향</a:t>
            </a:r>
            <a:r>
              <a:rPr lang="en-US" altLang="ko-KR" sz="2000" dirty="0">
                <a:highlight>
                  <a:srgbClr val="FFFFFF"/>
                </a:highlight>
              </a:rPr>
              <a:t>: </a:t>
            </a:r>
            <a:r>
              <a:rPr lang="en-US" altLang="ko-KR" sz="2000" dirty="0" err="1">
                <a:highlight>
                  <a:srgbClr val="FFFFFF"/>
                </a:highlight>
              </a:rPr>
              <a:t>범주형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피처를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처리하는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방법이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비슷한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LGBM과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XGBoost은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앙상블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효과가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적음</a:t>
            </a:r>
            <a:r>
              <a:rPr lang="en-US" altLang="ko-KR" sz="2000" dirty="0">
                <a:highlight>
                  <a:srgbClr val="FFFFFF"/>
                </a:highlight>
              </a:rPr>
              <a:t>. </a:t>
            </a:r>
            <a:r>
              <a:rPr lang="en-US" altLang="ko-KR" sz="2000" dirty="0" err="1">
                <a:highlight>
                  <a:srgbClr val="FFFFFF"/>
                </a:highlight>
              </a:rPr>
              <a:t>범주형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피처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처리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방법이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다른</a:t>
            </a:r>
            <a:r>
              <a:rPr lang="en-US" altLang="ko-KR" sz="2000" dirty="0">
                <a:highlight>
                  <a:srgbClr val="FFFFFF"/>
                </a:highlight>
              </a:rPr>
              <a:t> </a:t>
            </a:r>
            <a:r>
              <a:rPr lang="en-US" altLang="ko-KR" sz="2000" dirty="0" err="1">
                <a:highlight>
                  <a:srgbClr val="FFFFFF"/>
                </a:highlight>
              </a:rPr>
              <a:t>CatBoost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앙상블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추가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시 성능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향상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여지</a:t>
            </a:r>
            <a:r>
              <a:rPr lang="en-US" altLang="ko-KR" sz="2000" dirty="0">
                <a:highlight>
                  <a:srgbClr val="FFFFFF"/>
                </a:highlight>
              </a:rPr>
              <a:t> </a:t>
            </a:r>
            <a:r>
              <a:rPr lang="ko-KR" altLang="en-US" sz="2000" dirty="0">
                <a:highlight>
                  <a:srgbClr val="FFFFFF"/>
                </a:highlight>
              </a:rPr>
              <a:t>있음</a:t>
            </a:r>
            <a:endParaRPr lang="ko-KR" sz="20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70200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dirty="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감사합니다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403</Words>
  <Application>Microsoft Office PowerPoint</Application>
  <PresentationFormat>화면 슬라이드 쇼(16:9)</PresentationFormat>
  <Paragraphs>111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NanumGothicExtraBold</vt:lpstr>
      <vt:lpstr>Malgun Gothic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YOON</dc:creator>
  <cp:lastModifiedBy>용훈 서</cp:lastModifiedBy>
  <cp:revision>83</cp:revision>
  <dcterms:modified xsi:type="dcterms:W3CDTF">2026-05-25T08:57:36Z</dcterms:modified>
</cp:coreProperties>
</file>